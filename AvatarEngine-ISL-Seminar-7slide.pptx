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 %</c:v>
                </c:pt>
              </c:strCache>
            </c:strRef>
          </c:tx>
          <c:spPr>
            <a:solidFill>
              <a:srgbClr val="33357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B0671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good night</c:v>
                </c:pt>
                <c:pt idx="1">
                  <c:v>hello</c:v>
                </c:pt>
                <c:pt idx="2">
                  <c:v>thank you</c:v>
                </c:pt>
                <c:pt idx="3">
                  <c:v>you (plural)</c:v>
                </c:pt>
                <c:pt idx="4">
                  <c:v>they</c:v>
                </c:pt>
                <c:pt idx="5">
                  <c:v>pleased</c:v>
                </c:pt>
                <c:pt idx="6">
                  <c:v>alright</c:v>
                </c:pt>
                <c:pt idx="7">
                  <c:v>good afternoon</c:v>
                </c:pt>
                <c:pt idx="8">
                  <c:v>i</c:v>
                </c:pt>
                <c:pt idx="9">
                  <c:v>you</c:v>
                </c:pt>
                <c:pt idx="10">
                  <c:v>how are you</c:v>
                </c:pt>
                <c:pt idx="11">
                  <c:v>we</c:v>
                </c:pt>
                <c:pt idx="12">
                  <c:v>he</c:v>
                </c:pt>
                <c:pt idx="13">
                  <c:v>it</c:v>
                </c:pt>
                <c:pt idx="14">
                  <c:v>good morning</c:v>
                </c:pt>
                <c:pt idx="15">
                  <c:v>she</c:v>
                </c:pt>
                <c:pt idx="16">
                  <c:v>good evening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0.4</c:v>
                </c:pt>
                <c:pt idx="1">
                  <c:v>1.4</c:v>
                </c:pt>
                <c:pt idx="2">
                  <c:v>2.5</c:v>
                </c:pt>
                <c:pt idx="3">
                  <c:v>2.8</c:v>
                </c:pt>
                <c:pt idx="4">
                  <c:v>4</c:v>
                </c:pt>
                <c:pt idx="5">
                  <c:v>4.3</c:v>
                </c:pt>
                <c:pt idx="6">
                  <c:v>4.4000000000000004</c:v>
                </c:pt>
                <c:pt idx="7">
                  <c:v>4.8</c:v>
                </c:pt>
                <c:pt idx="8">
                  <c:v>5.3</c:v>
                </c:pt>
                <c:pt idx="9">
                  <c:v>5.8</c:v>
                </c:pt>
                <c:pt idx="10">
                  <c:v>5.9</c:v>
                </c:pt>
                <c:pt idx="11">
                  <c:v>7.8</c:v>
                </c:pt>
                <c:pt idx="12">
                  <c:v>7.9</c:v>
                </c:pt>
                <c:pt idx="13">
                  <c:v>8.1</c:v>
                </c:pt>
                <c:pt idx="14">
                  <c:v>8.6999999999999993</c:v>
                </c:pt>
                <c:pt idx="15">
                  <c:v>9.6</c:v>
                </c:pt>
                <c:pt idx="16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F6-4130-9183-72067E2805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6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B1D2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851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Intro. This is AvatarEngine-ISL — an engine that takes English (typed, spoken, or inside a lecture video) and makes a 3-D avatar sign it in Indian Sign Language, on web and on a phone. In the next five slides I will cover why it exists and what it does, the five-step journey that built it, the machine-learning result at its core, the recent speech/lecture/mobile work, and where it stands and goes next. The faint lines resolving into one bold line are literally the core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and purpose together. Accessibility usually means captions — but captions are written English, a second language for someone whose first language is ISL. Delivering content in sign is the honest fix, and it does not scale with humans: interpreters are scarce, pre-recorded clips only cover what was filmed. So the purpose: one engine, fed three ways — type, speak, or a lecture video — outputs a 3-D avatar signing ISL, on web and Android, running locally so it is cheap and offline. The 18-million figure is a common estimate; say "estimated".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backbone — escalating problems. Five steps, each because the previous hit a wall. One, hand-animated signs — does not scale, not human. Two, capture real signers with MediaPipe — but one recording is noisy and it is one person. Three, the research heart: record many takes and machine-learn the average into one clean motion. Four, once signing was good, typing was the bottleneck, so speech and a lecture pipeline. Five, it only ran on a laptop, so an Android app. Slides 4 and 5 zoom into steps 3 and 4–5.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honest, technical slide. Do not pick a favourite recording — record many and average. We time-align with Dynamic Time Warping and average frame by frame (DBA, 2011). Be explicit in Q&amp;A: this is NOT a trained neural network — it is unsupervised template estimation, deliberately the right tool at ~330 sequences where a net would just memorise. And a naive average breaks the body, so we average rotations not positions, repair palm-flips, and solve the elbow so the hands do not pass through each other. The chart is the proof: every sign beats its own best single recording. When takes already agree there is little to add; when they disagree, averaging earns its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recent layer that closed the loop to the motivation. One: speak to it — browser speech recognition feeds the same pipeline, and a small local LLM turns English into signs, handling tense/synonyms/word order without being able to hallucinate a sign. Two, the headline: hand it a lecture video (file or URL) — Whisper transcribes with timestamps, YOLO finds the speaker, and the avatar signs along in time. Three: Capacitor wraps the static build into an Android app, the same code on the phone. The stack strip: everything is local, no paid API, GPU only speeds things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and honesty in one. Built: three pipelines end to end, 17 canonical signs plus fingerspelling, a reproducible model with a metrics report, speech + lecture-along + face capture, an Android app and hardened backends. Limits, stated plainly: the vocabulary is only 17 signs — the binding constraint; depth is inferred from one camera; and each sign splits into two clusters that need an ISL reader to interpret. The road ahead, in priority order: grow the library (biggest unlock, scales linearly), a purpose-built avatar, a learned motion model once we have the data for it, and fuller grammar.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arc, then take questions. We went from hand-animating one sign, to capturing real signers, to machine-averaging many takes into one clean motion, and from a laptop to a phone that can sign a live lecture. Three takeaways: it works, with three ways in; the averaging is a real result that beats the best single recording on every sign; and the discipline — measure, average not fake, correct not hide — is what makes the claims trustworthy. Likely questions: Is it a neural net? No, DBA, right for the data. Why 17 signs? Each is a full capture cycle; volume is the work. Full ISL grammar? Not yet, future work. Offer the live demo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· INDIAN SIGN LANGUAGE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AvatarEngine</a:t>
            </a:r>
            <a:r>
              <a:rPr lang="en-US" sz="5800" b="1" dirty="0">
                <a:solidFill>
                  <a:srgbClr val="E6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5800" b="1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language into sign — by type, by voice, by lecture — on any screen.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engine that renders English text, speech, or a lecture video as a 3-D avatar signing Indian Sign Language — on web and Android.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4937760" cy="1545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623560"/>
            <a:ext cx="1904695" cy="384048"/>
          </a:xfrm>
          <a:prstGeom prst="roundRect">
            <a:avLst>
              <a:gd name="adj" fmla="val 47619"/>
            </a:avLst>
          </a:prstGeom>
          <a:solidFill>
            <a:srgbClr val="2A2C63"/>
          </a:solidFill>
          <a:ln w="12700">
            <a:solidFill>
              <a:srgbClr val="3E418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623560"/>
            <a:ext cx="1904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V. Adarsh Chakravarthy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2023A7PS0089H</a:t>
            </a:r>
          </a:p>
        </p:txBody>
      </p:sp>
      <p:sp>
        <p:nvSpPr>
          <p:cNvPr id="9" name="Shape 6"/>
          <p:cNvSpPr/>
          <p:nvPr/>
        </p:nvSpPr>
        <p:spPr>
          <a:xfrm>
            <a:off x="2617927" y="5623560"/>
            <a:ext cx="1677010" cy="384048"/>
          </a:xfrm>
          <a:prstGeom prst="roundRect">
            <a:avLst>
              <a:gd name="adj" fmla="val 47619"/>
            </a:avLst>
          </a:prstGeom>
          <a:solidFill>
            <a:srgbClr val="2A2C63"/>
          </a:solidFill>
          <a:ln w="12700">
            <a:solidFill>
              <a:srgbClr val="3E41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17927" y="5623560"/>
            <a:ext cx="16770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· WILP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59529" y="5623560"/>
            <a:ext cx="614477" cy="384048"/>
          </a:xfrm>
          <a:prstGeom prst="roundRect">
            <a:avLst>
              <a:gd name="adj" fmla="val 47619"/>
            </a:avLst>
          </a:prstGeom>
          <a:solidFill>
            <a:srgbClr val="2A2C63"/>
          </a:solidFill>
          <a:ln w="12700">
            <a:solidFill>
              <a:srgbClr val="3E41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9529" y="5623560"/>
            <a:ext cx="6144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PURPOSE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/>
              <a:t>Lectures are delivered through speech and text. ISL users need the same content in sign language.</a:t>
            </a:r>
            <a:endParaRPr lang="en-US" sz="3000" b="1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0508"/>
            <a:ext cx="5852160" cy="24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The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/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Most classroom teaching is delivered through speech or written material.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ISL users may need an interpreter or additional support to follow the same lecture.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Pre-recorded sign-language content cannot cover every lecture or every sentence a lecturer may use.</a:t>
            </a:r>
          </a:p>
          <a:p>
            <a:pPr>
              <a:lnSpc>
                <a:spcPct val="103000"/>
              </a:lnSpc>
              <a:buSzPct val="100000"/>
            </a:pP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29400" y="1783080"/>
            <a:ext cx="5013655" cy="2697480"/>
          </a:xfrm>
          <a:prstGeom prst="roundRect">
            <a:avLst>
              <a:gd name="adj" fmla="val 3051"/>
            </a:avLst>
          </a:prstGeom>
          <a:solidFill>
            <a:srgbClr val="ECEDF6"/>
          </a:solidFill>
          <a:ln/>
          <a:effectLst>
            <a:outerShdw blurRad="114300" dist="38100" dir="5400000" algn="bl" rotWithShape="0">
              <a:srgbClr val="9195AE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48856" y="1965960"/>
            <a:ext cx="45747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48856" y="2240280"/>
            <a:ext cx="4574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b="1" dirty="0"/>
              <a:t>Provide simultaneous ISL access to educational content.</a:t>
            </a:r>
            <a:endParaRPr lang="en-US" sz="1800" b="1" dirty="0"/>
          </a:p>
        </p:txBody>
      </p:sp>
      <p:sp>
        <p:nvSpPr>
          <p:cNvPr id="8" name="Text 6"/>
          <p:cNvSpPr txBox="1"/>
          <p:nvPr/>
        </p:nvSpPr>
        <p:spPr>
          <a:xfrm>
            <a:off x="6848856" y="2752344"/>
            <a:ext cx="457474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/>
              <a:t>The project aims to take </a:t>
            </a:r>
            <a:r>
              <a:rPr lang="en-US" sz="1400" b="1" dirty="0"/>
              <a:t>text, speech, or lecture video</a:t>
            </a:r>
            <a:r>
              <a:rPr lang="en-US" sz="1400" dirty="0"/>
              <a:t> and present the translated content through a </a:t>
            </a:r>
            <a:r>
              <a:rPr lang="en-US" sz="1400" b="1" dirty="0"/>
              <a:t>3-D ISL signing avatar</a:t>
            </a:r>
            <a:r>
              <a:rPr lang="en-US" sz="1400" dirty="0"/>
              <a:t>, within an educational platform.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0009" y="4622409"/>
            <a:ext cx="10983046" cy="125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TARGET</a:t>
            </a:r>
          </a:p>
          <a:p>
            <a:r>
              <a:rPr lang="en-US" sz="1600" dirty="0"/>
              <a:t>Lecturer teaches → system processes the content → student follows in ISL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AvatarEngine · ISL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THE FIVE-STEP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/>
              <a:t>From a basic signing prototype to an educational translation system.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3335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10408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signs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48256"/>
            <a:ext cx="10408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Build the initial vocabulary with manually created avatar animations.</a:t>
            </a:r>
          </a:p>
          <a:p>
            <a:r>
              <a:rPr lang="en-US" sz="1400" dirty="0"/>
              <a:t>→ </a:t>
            </a:r>
            <a:r>
              <a:rPr lang="en-US" sz="1400" b="1" dirty="0"/>
              <a:t>Limited vocabulary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258568"/>
            <a:ext cx="0" cy="475488"/>
          </a:xfrm>
          <a:prstGeom prst="line">
            <a:avLst/>
          </a:prstGeom>
          <a:noFill/>
          <a:ln w="19050">
            <a:solidFill>
              <a:srgbClr val="D8D9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3335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70048"/>
            <a:ext cx="10408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capture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80944"/>
            <a:ext cx="10408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Extract real ISL signing motion from video and transfer it to the avatar.</a:t>
            </a:r>
          </a:p>
          <a:p>
            <a:r>
              <a:rPr lang="en-US" sz="1400" dirty="0"/>
              <a:t>→ </a:t>
            </a:r>
            <a:r>
              <a:rPr lang="en-US" sz="1400" b="1" dirty="0"/>
              <a:t>More natural signing motion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191256"/>
            <a:ext cx="0" cy="475488"/>
          </a:xfrm>
          <a:prstGeom prst="line">
            <a:avLst/>
          </a:prstGeom>
          <a:noFill/>
          <a:ln w="19050">
            <a:solidFill>
              <a:srgbClr val="D8D9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48456"/>
            <a:ext cx="457200" cy="457200"/>
          </a:xfrm>
          <a:prstGeom prst="ellipse">
            <a:avLst/>
          </a:prstGeom>
          <a:solidFill>
            <a:srgbClr val="3335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602736"/>
            <a:ext cx="10408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600" b="1" dirty="0"/>
              <a:t>Motion refinement</a:t>
            </a:r>
            <a:endParaRPr lang="en-US" sz="1550" b="1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13632"/>
            <a:ext cx="10408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Use multiple recordings to produce more consistent signing motion.</a:t>
            </a:r>
          </a:p>
          <a:p>
            <a:r>
              <a:rPr lang="en-US" sz="1400" dirty="0"/>
              <a:t>→ </a:t>
            </a:r>
            <a:r>
              <a:rPr lang="en-US" sz="1400" b="1" dirty="0"/>
              <a:t>More consistent avatar movement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123944"/>
            <a:ext cx="0" cy="475488"/>
          </a:xfrm>
          <a:prstGeom prst="line">
            <a:avLst/>
          </a:prstGeom>
          <a:noFill/>
          <a:ln w="19050">
            <a:solidFill>
              <a:srgbClr val="D8D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81144"/>
            <a:ext cx="457200" cy="457200"/>
          </a:xfrm>
          <a:prstGeom prst="ellipse">
            <a:avLst/>
          </a:prstGeom>
          <a:solidFill>
            <a:srgbClr val="3335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535424"/>
            <a:ext cx="10408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lecture processing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846320"/>
            <a:ext cx="10408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Add speech and lecture-video inputs to the translation system.</a:t>
            </a:r>
          </a:p>
          <a:p>
            <a:r>
              <a:rPr lang="en-US" sz="1400" dirty="0"/>
              <a:t>→ </a:t>
            </a:r>
            <a:r>
              <a:rPr lang="en-US" sz="1400" b="1" dirty="0"/>
              <a:t>Integrated input pipeline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056632"/>
            <a:ext cx="0" cy="475488"/>
          </a:xfrm>
          <a:prstGeom prst="line">
            <a:avLst/>
          </a:prstGeom>
          <a:noFill/>
          <a:ln w="19050">
            <a:solidFill>
              <a:srgbClr val="D8D9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513832"/>
            <a:ext cx="457200" cy="457200"/>
          </a:xfrm>
          <a:prstGeom prst="ellipse">
            <a:avLst/>
          </a:prstGeom>
          <a:solidFill>
            <a:srgbClr val="B0671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468112"/>
            <a:ext cx="10408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implementation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779008"/>
            <a:ext cx="10408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Bring the developed components into the intended classroom application.</a:t>
            </a:r>
          </a:p>
          <a:p>
            <a:r>
              <a:rPr lang="en-US" sz="1400" dirty="0"/>
              <a:t>→ </a:t>
            </a:r>
            <a:r>
              <a:rPr lang="en-US" sz="1400" b="1" dirty="0"/>
              <a:t>Current development stage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AvatarEngine · ISL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1056" y="420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CORE — MOTION REFINEMENT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1056" y="523435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/>
              <a:t>Using multiple recordings to create a consistent signing motion.</a:t>
            </a:r>
            <a:endParaRPr lang="en-US" sz="3000" b="1" dirty="0"/>
          </a:p>
        </p:txBody>
      </p:sp>
      <p:sp>
        <p:nvSpPr>
          <p:cNvPr id="4" name="Text 2"/>
          <p:cNvSpPr txBox="1"/>
          <p:nvPr/>
        </p:nvSpPr>
        <p:spPr>
          <a:xfrm>
            <a:off x="525780" y="1373945"/>
            <a:ext cx="3429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chemeClr val="tx2"/>
                </a:solidFill>
              </a:rPr>
              <a:t>WHY MULTIPLE RECORDINGS?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We collected </a:t>
            </a:r>
            <a:r>
              <a:rPr lang="en-US" sz="1400" b="1" dirty="0"/>
              <a:t>358 recordings of 17 ISL signs</a:t>
            </a:r>
            <a:r>
              <a:rPr lang="en-US" sz="1400" dirty="0"/>
              <a:t> from multiple signers.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 single recording can contain differences in </a:t>
            </a:r>
            <a:r>
              <a:rPr lang="en-US" sz="1400" b="1" dirty="0"/>
              <a:t>timing, hand position and movement</a:t>
            </a:r>
            <a:r>
              <a:rPr lang="en-US" sz="1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Instead of selecting one recording, we combine multiple recordings to obtain a </a:t>
            </a:r>
            <a:r>
              <a:rPr lang="en-US" sz="1400" b="1" dirty="0"/>
              <a:t>representative motion</a:t>
            </a:r>
            <a:r>
              <a:rPr lang="en-US" sz="1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600" b="1" dirty="0">
                <a:solidFill>
                  <a:schemeClr val="tx2"/>
                </a:solidFill>
              </a:rPr>
              <a:t>HOW IT WORKS</a:t>
            </a:r>
          </a:p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1. Align</a:t>
            </a:r>
            <a:br>
              <a:rPr lang="en-US" sz="1400" dirty="0"/>
            </a:br>
            <a:r>
              <a:rPr lang="en-US" sz="1400" dirty="0"/>
              <a:t>Time-align recordings of the same sign using </a:t>
            </a:r>
            <a:r>
              <a:rPr lang="en-US" sz="1400" b="1" dirty="0"/>
              <a:t>Dynamic Time Warping (DTW)</a:t>
            </a:r>
            <a:r>
              <a:rPr lang="en-US" sz="1400" dirty="0"/>
              <a:t>.</a:t>
            </a:r>
          </a:p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2. Average</a:t>
            </a:r>
            <a:br>
              <a:rPr lang="en-US" sz="1400" dirty="0"/>
            </a:br>
            <a:r>
              <a:rPr lang="en-US" sz="1400" dirty="0"/>
              <a:t>Calculate the average motion across the aligned recordings.</a:t>
            </a:r>
          </a:p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3. Refine</a:t>
            </a:r>
            <a:br>
              <a:rPr lang="en-US" sz="1400" dirty="0"/>
            </a:br>
            <a:r>
              <a:rPr lang="en-US" sz="1400" dirty="0"/>
              <a:t>Average rotations and correct the resulting motion to maintain a valid avatar pose.</a:t>
            </a:r>
          </a:p>
          <a:p>
            <a:pPr marL="203200" indent="-203200">
              <a:lnSpc>
                <a:spcPct val="103000"/>
              </a:lnSpc>
              <a:buSzPct val="100000"/>
              <a:buChar char="•"/>
            </a:pP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168140" y="1360111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IMPROVEMENT OVER THE BEST SINGLE RECORDING</a:t>
            </a: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591990499"/>
              </p:ext>
            </p:extLst>
          </p:nvPr>
        </p:nvGraphicFramePr>
        <p:xfrm>
          <a:off x="4023360" y="1570541"/>
          <a:ext cx="7772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168140" y="5935629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RESULT</a:t>
            </a:r>
          </a:p>
          <a:p>
            <a:r>
              <a:rPr lang="en-US" sz="1200" b="1" dirty="0"/>
              <a:t>The averaged motion performed better than the best individual recording across all 17 tested signs.</a:t>
            </a:r>
            <a:endParaRPr lang="en-US" sz="1200" dirty="0"/>
          </a:p>
          <a:p>
            <a:r>
              <a:rPr lang="en-US" sz="1200" b="1" dirty="0"/>
              <a:t>Improvement over the best single recording: 0.4% – 10.7%</a:t>
            </a:r>
            <a:endParaRPr lang="en-US" sz="120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AvatarEngine · ISL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DEVELOPMENTS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/>
              <a:t>Extending the system from text input to actual lecture content.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4298" cy="2788920"/>
          </a:xfrm>
          <a:prstGeom prst="roundRect">
            <a:avLst>
              <a:gd name="adj" fmla="val 2951"/>
            </a:avLst>
          </a:prstGeom>
          <a:solidFill>
            <a:srgbClr val="F2F2F9"/>
          </a:solidFill>
          <a:ln/>
          <a:effectLst>
            <a:outerShdw blurRad="114300" dist="38100" dir="5400000" algn="bl" rotWithShape="0">
              <a:srgbClr val="9195AE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65960"/>
            <a:ext cx="30153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r>
              <a:rPr lang="en-IN" sz="1000" b="1" dirty="0">
                <a:solidFill>
                  <a:schemeClr val="accent1"/>
                </a:solidFill>
              </a:rPr>
              <a:t> → I S L </a:t>
            </a:r>
            <a:endParaRPr lang="en-US" sz="95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68096" y="224028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IN" sz="1600" b="1" dirty="0"/>
              <a:t>Speech recognition + language processing</a:t>
            </a:r>
            <a:endParaRPr lang="en-US" sz="1600" b="1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834640"/>
            <a:ext cx="301538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tx2"/>
                </a:solidFill>
              </a:rPr>
              <a:t>Browser speech recognition converts spoken input to text. </a:t>
            </a:r>
            <a:r>
              <a:rPr lang="en-US" sz="1200" b="1" dirty="0" err="1">
                <a:solidFill>
                  <a:schemeClr val="tx2"/>
                </a:solidFill>
              </a:rPr>
              <a:t>Ollama</a:t>
            </a:r>
            <a:r>
              <a:rPr lang="en-US" sz="1200" dirty="0">
                <a:solidFill>
                  <a:schemeClr val="tx2"/>
                </a:solidFill>
              </a:rPr>
              <a:t> then processes the English into an ISL-compatible gloss, including word order and available sign mappings.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r>
              <a:rPr lang="en-US" sz="1200" b="1" dirty="0">
                <a:solidFill>
                  <a:schemeClr val="tx2"/>
                </a:solidFill>
              </a:rPr>
              <a:t>Output:</a:t>
            </a:r>
            <a:r>
              <a:rPr lang="en-US" sz="1200" dirty="0">
                <a:solidFill>
                  <a:schemeClr val="tx2"/>
                </a:solidFill>
              </a:rPr>
              <a:t> The existing signing pipeline drives the 3-D avatar from the processed speech.</a:t>
            </a:r>
          </a:p>
          <a:p>
            <a:pPr marL="0" indent="0">
              <a:lnSpc>
                <a:spcPct val="102000"/>
              </a:lnSpc>
              <a:buNone/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68698" y="1783080"/>
            <a:ext cx="3454298" cy="2788920"/>
          </a:xfrm>
          <a:prstGeom prst="roundRect">
            <a:avLst>
              <a:gd name="adj" fmla="val 2951"/>
            </a:avLst>
          </a:prstGeom>
          <a:solidFill>
            <a:srgbClr val="F2F2F9"/>
          </a:solidFill>
          <a:ln/>
          <a:effectLst>
            <a:outerShdw blurRad="114300" dist="38100" dir="5400000" algn="bl" rotWithShape="0">
              <a:srgbClr val="9195AE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88154" y="1965960"/>
            <a:ext cx="30153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VIDEO </a:t>
            </a: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 S L</a:t>
            </a:r>
            <a:r>
              <a:rPr lang="en-US" sz="950" b="1" kern="0" spc="14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88154" y="224028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IN" sz="1600" b="1" dirty="0"/>
              <a:t>Transcription + speaker detection + synchronization</a:t>
            </a:r>
          </a:p>
          <a:p>
            <a:pPr marL="0" indent="0">
              <a:lnSpc>
                <a:spcPct val="98000"/>
              </a:lnSpc>
              <a:buNone/>
            </a:pPr>
            <a:endParaRPr lang="en-US" sz="1600" b="1" dirty="0"/>
          </a:p>
        </p:txBody>
      </p:sp>
      <p:sp>
        <p:nvSpPr>
          <p:cNvPr id="11" name="Text 9"/>
          <p:cNvSpPr txBox="1"/>
          <p:nvPr/>
        </p:nvSpPr>
        <p:spPr>
          <a:xfrm>
            <a:off x="4588154" y="2752344"/>
            <a:ext cx="301538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chemeClr val="tx2"/>
                </a:solidFill>
              </a:rPr>
              <a:t>Whisper</a:t>
            </a:r>
            <a:r>
              <a:rPr lang="en-US" sz="1200" dirty="0">
                <a:solidFill>
                  <a:schemeClr val="tx2"/>
                </a:solidFill>
              </a:rPr>
              <a:t> transcribes lecture audio with timestamps, while </a:t>
            </a:r>
            <a:r>
              <a:rPr lang="en-US" sz="1200" b="1" dirty="0">
                <a:solidFill>
                  <a:schemeClr val="tx2"/>
                </a:solidFill>
              </a:rPr>
              <a:t>YOLO</a:t>
            </a:r>
            <a:r>
              <a:rPr lang="en-US" sz="1200" dirty="0">
                <a:solidFill>
                  <a:schemeClr val="tx2"/>
                </a:solidFill>
              </a:rPr>
              <a:t> identifies the active speaker. The resulting segments are passed through the ISL translation pipeline and synchronized with the lecture video.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r>
              <a:rPr lang="en-US" sz="1200" b="1" dirty="0">
                <a:solidFill>
                  <a:schemeClr val="tx2"/>
                </a:solidFill>
              </a:rPr>
              <a:t>Output:</a:t>
            </a:r>
            <a:r>
              <a:rPr lang="en-US" sz="1200" dirty="0">
                <a:solidFill>
                  <a:schemeClr val="tx2"/>
                </a:solidFill>
              </a:rPr>
              <a:t> The avatar signs alongside the lecture rather than producing a separate translation afterward.</a:t>
            </a:r>
          </a:p>
          <a:p>
            <a:pPr marL="0" indent="0">
              <a:lnSpc>
                <a:spcPct val="102000"/>
              </a:lnSpc>
              <a:buNone/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88757" y="1783080"/>
            <a:ext cx="3454298" cy="2788920"/>
          </a:xfrm>
          <a:prstGeom prst="roundRect">
            <a:avLst>
              <a:gd name="adj" fmla="val 2951"/>
            </a:avLst>
          </a:prstGeom>
          <a:solidFill>
            <a:srgbClr val="F2F2F9"/>
          </a:solidFill>
          <a:ln/>
          <a:effectLst>
            <a:outerShdw blurRad="114300" dist="38100" dir="5400000" algn="bl" rotWithShape="0">
              <a:srgbClr val="9195AE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08213" y="1965960"/>
            <a:ext cx="30153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N D R O I D   I M P L E M E N T A T I O N</a:t>
            </a:r>
            <a:endParaRPr lang="en-US" sz="95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408213" y="224028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IN" sz="1600" b="1" dirty="0"/>
              <a:t>Web system → mobile application</a:t>
            </a:r>
            <a:endParaRPr lang="en-US" sz="16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8408213" y="2624328"/>
            <a:ext cx="301538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tx2"/>
                </a:solidFill>
              </a:rPr>
              <a:t>The existing </a:t>
            </a:r>
            <a:r>
              <a:rPr lang="en-US" sz="1200" b="1" dirty="0">
                <a:solidFill>
                  <a:schemeClr val="tx2"/>
                </a:solidFill>
              </a:rPr>
              <a:t>Three.js + VRM avatar</a:t>
            </a:r>
            <a:r>
              <a:rPr lang="en-US" sz="1200" dirty="0">
                <a:solidFill>
                  <a:schemeClr val="tx2"/>
                </a:solidFill>
              </a:rPr>
              <a:t> is being integrated into an Android application using </a:t>
            </a:r>
            <a:r>
              <a:rPr lang="en-US" sz="1200" b="1" dirty="0">
                <a:solidFill>
                  <a:schemeClr val="tx2"/>
                </a:solidFill>
              </a:rPr>
              <a:t>Capacitor</a:t>
            </a:r>
            <a:r>
              <a:rPr lang="en-US" sz="1200" dirty="0">
                <a:solidFill>
                  <a:schemeClr val="tx2"/>
                </a:solidFill>
              </a:rPr>
              <a:t>, allowing the same signing system to be used on mobile devices.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r>
              <a:rPr lang="en-US" sz="1200" b="1" dirty="0">
                <a:solidFill>
                  <a:schemeClr val="tx2"/>
                </a:solidFill>
              </a:rPr>
              <a:t>Current status:</a:t>
            </a:r>
            <a:r>
              <a:rPr lang="en-US" sz="1200" dirty="0">
                <a:solidFill>
                  <a:schemeClr val="tx2"/>
                </a:solidFill>
              </a:rPr>
              <a:t> Core functionality is integrated; the educational application is still under development.</a:t>
            </a:r>
          </a:p>
          <a:p>
            <a:pPr marL="0" indent="0">
              <a:lnSpc>
                <a:spcPct val="102000"/>
              </a:lnSpc>
              <a:buNone/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1" y="4800600"/>
            <a:ext cx="7329268" cy="914400"/>
          </a:xfrm>
          <a:prstGeom prst="roundRect">
            <a:avLst>
              <a:gd name="adj" fmla="val 7000"/>
            </a:avLst>
          </a:prstGeom>
          <a:solidFill>
            <a:srgbClr val="ECED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4800600"/>
            <a:ext cx="106555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>
                <a:solidFill>
                  <a:schemeClr val="accent2"/>
                </a:solidFill>
              </a:rPr>
              <a:t>TECHNICAL FOUNDATION</a:t>
            </a:r>
          </a:p>
          <a:p>
            <a:r>
              <a:rPr lang="en-IN" sz="1200" b="1" dirty="0"/>
              <a:t>Three.js · VRM · React · TypeScript · </a:t>
            </a:r>
            <a:r>
              <a:rPr lang="en-IN" sz="1200" b="1" dirty="0" err="1"/>
              <a:t>FastAPI</a:t>
            </a:r>
            <a:r>
              <a:rPr lang="en-IN" sz="1200" b="1" dirty="0"/>
              <a:t> · </a:t>
            </a:r>
            <a:r>
              <a:rPr lang="en-IN" sz="1200" b="1" dirty="0" err="1"/>
              <a:t>MediaPipe</a:t>
            </a:r>
            <a:r>
              <a:rPr lang="en-IN" sz="1200" b="1" dirty="0"/>
              <a:t> · Whisper · YOLO · </a:t>
            </a:r>
            <a:r>
              <a:rPr lang="en-IN" sz="1200" b="1" dirty="0" err="1"/>
              <a:t>Ollama</a:t>
            </a:r>
            <a:r>
              <a:rPr lang="en-IN" sz="1200" b="1" dirty="0"/>
              <a:t> · Capacitor / Android</a:t>
            </a:r>
            <a:endParaRPr lang="en-IN" sz="12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AvatarEngine · ISL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8000"/>
              </a:lnSpc>
            </a:pPr>
            <a:r>
              <a:rPr lang="en-US" sz="2400" b="1" dirty="0">
                <a:solidFill>
                  <a:schemeClr val="tx2"/>
                </a:solidFill>
              </a:rPr>
              <a:t>What is working now, and what remains to be developed.</a:t>
            </a:r>
          </a:p>
          <a:p>
            <a:pPr marL="0" indent="0">
              <a:lnSpc>
                <a:spcPct val="98000"/>
              </a:lnSpc>
              <a:buNone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7647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DEVELOPED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rgbClr val="2F7D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20208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400" b="1" dirty="0"/>
              <a:t>Core translation pipeline</a:t>
            </a:r>
            <a:endParaRPr lang="en-US" sz="1300" b="1" dirty="0">
              <a:solidFill>
                <a:srgbClr val="1B1D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292608" cy="292608"/>
          </a:xfrm>
          <a:prstGeom prst="ellipse">
            <a:avLst/>
          </a:prstGeom>
          <a:solidFill>
            <a:srgbClr val="2F7D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60702" y="252737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400" b="1" dirty="0"/>
              <a:t>17 canonical ISL signs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292608" cy="292608"/>
          </a:xfrm>
          <a:prstGeom prst="ellipse">
            <a:avLst/>
          </a:prstGeom>
          <a:solidFill>
            <a:srgbClr val="2F7D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31546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400" b="1" dirty="0"/>
              <a:t>Motion refinement</a:t>
            </a:r>
            <a:endParaRPr lang="en-US" sz="1300" b="1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292608" cy="292608"/>
          </a:xfrm>
          <a:prstGeom prst="ellipse">
            <a:avLst/>
          </a:prstGeom>
          <a:solidFill>
            <a:srgbClr val="2F7D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36850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400" b="1" dirty="0"/>
              <a:t>Lecture processing</a:t>
            </a:r>
            <a:endParaRPr lang="en-US" sz="1300" b="1" dirty="0"/>
          </a:p>
        </p:txBody>
      </p:sp>
      <p:sp>
        <p:nvSpPr>
          <p:cNvPr id="17" name="Shape 15"/>
          <p:cNvSpPr/>
          <p:nvPr/>
        </p:nvSpPr>
        <p:spPr>
          <a:xfrm>
            <a:off x="548640" y="4325112"/>
            <a:ext cx="292608" cy="292608"/>
          </a:xfrm>
          <a:prstGeom prst="ellipse">
            <a:avLst/>
          </a:prstGeom>
          <a:solidFill>
            <a:srgbClr val="2F7D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434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42885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400" b="1" dirty="0"/>
              <a:t>Android implementation</a:t>
            </a:r>
            <a:endParaRPr lang="en-US" sz="1300" b="1" dirty="0"/>
          </a:p>
        </p:txBody>
      </p:sp>
      <p:sp>
        <p:nvSpPr>
          <p:cNvPr id="20" name="Shape 18"/>
          <p:cNvSpPr/>
          <p:nvPr/>
        </p:nvSpPr>
        <p:spPr>
          <a:xfrm>
            <a:off x="4595446" y="1700784"/>
            <a:ext cx="7047609" cy="1965960"/>
          </a:xfrm>
          <a:prstGeom prst="roundRect">
            <a:avLst>
              <a:gd name="adj" fmla="val 4186"/>
            </a:avLst>
          </a:prstGeom>
          <a:solidFill>
            <a:srgbClr val="ECEDF6"/>
          </a:solidFill>
          <a:ln/>
          <a:effectLst>
            <a:outerShdw blurRad="114300" dist="38100" dir="5400000" algn="bl" rotWithShape="0">
              <a:srgbClr val="9195AE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958862" y="1783080"/>
            <a:ext cx="4894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B06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958862" y="1976628"/>
            <a:ext cx="6464735" cy="1525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/>
              <a:t>Limited vocabulary</a:t>
            </a:r>
            <a:br>
              <a:rPr lang="en-US" sz="1200" dirty="0"/>
            </a:br>
            <a:r>
              <a:rPr lang="en-US" sz="1200" dirty="0"/>
              <a:t>The current motion library covers only a small set of signs, so many words still require fingerspelling.</a:t>
            </a:r>
          </a:p>
          <a:p>
            <a:r>
              <a:rPr lang="en-US" sz="1200" b="1" dirty="0"/>
              <a:t>Motion quality</a:t>
            </a:r>
            <a:br>
              <a:rPr lang="en-US" sz="1200" dirty="0"/>
            </a:br>
            <a:r>
              <a:rPr lang="en-US" sz="1200" dirty="0"/>
              <a:t>Single-camera capture provides limited depth information and can introduce variation in the avatar's movement.</a:t>
            </a:r>
          </a:p>
          <a:p>
            <a:r>
              <a:rPr lang="en-US" sz="1200" b="1" dirty="0"/>
              <a:t>ISL language structure</a:t>
            </a:r>
            <a:br>
              <a:rPr lang="en-US" sz="1200" dirty="0"/>
            </a:br>
            <a:r>
              <a:rPr lang="en-US" sz="1200" dirty="0"/>
              <a:t>The current translation approach does not yet capture the full grammatical structure and context of ISL.</a:t>
            </a:r>
          </a:p>
          <a:p>
            <a:pPr marL="0" indent="0">
              <a:lnSpc>
                <a:spcPct val="10200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5446" y="3794760"/>
            <a:ext cx="7047609" cy="1179576"/>
          </a:xfrm>
          <a:prstGeom prst="roundRect">
            <a:avLst>
              <a:gd name="adj" fmla="val 4615"/>
            </a:avLst>
          </a:prstGeom>
          <a:solidFill>
            <a:srgbClr val="F2F2F9"/>
          </a:solidFill>
          <a:ln/>
          <a:effectLst>
            <a:outerShdw blurRad="114300" dist="38100" dir="5400000" algn="bl" rotWithShape="0">
              <a:srgbClr val="9195AE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958861" y="3920549"/>
            <a:ext cx="4894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958862" y="4203309"/>
            <a:ext cx="6532731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Expand the sign vocabulary → Improve motion quality → Improve ISL grammar and sentence-level translation → Validate with ISL users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AvatarEngine · ISL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A working foundation for ISL access in education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3000"/>
              </a:lnSpc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An integrated translation system </a:t>
            </a:r>
            <a:r>
              <a:rPr lang="en-US" sz="1500" dirty="0">
                <a:solidFill>
                  <a:schemeClr val="bg1"/>
                </a:solidFill>
              </a:rPr>
              <a:t>— text, speech and lecture video can be processed through the same ISL signing pipeline.</a:t>
            </a:r>
          </a:p>
          <a:p>
            <a:pPr marL="203200" indent="-203200">
              <a:lnSpc>
                <a:spcPct val="103000"/>
              </a:lnSpc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A motion-generation approach based on real signing </a:t>
            </a:r>
            <a:r>
              <a:rPr lang="en-US" sz="1500" dirty="0">
                <a:solidFill>
                  <a:schemeClr val="bg1"/>
                </a:solidFill>
              </a:rPr>
              <a:t>— motion is extracted from recordings and refined using multiple takes rather than relying only on manual animation.</a:t>
            </a:r>
          </a:p>
          <a:p>
            <a:pPr marL="203200" indent="-203200">
              <a:lnSpc>
                <a:spcPct val="103000"/>
              </a:lnSpc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A functional 3-D avatar interface </a:t>
            </a:r>
            <a:r>
              <a:rPr lang="en-US" sz="1500" dirty="0">
                <a:solidFill>
                  <a:schemeClr val="bg1"/>
                </a:solidFill>
              </a:rPr>
              <a:t>— the processed signs are presented through a consistent avatar for educational content.</a:t>
            </a:r>
          </a:p>
          <a:p>
            <a:pPr marL="203200" indent="-203200">
              <a:lnSpc>
                <a:spcPct val="103000"/>
              </a:lnSpc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Still under development </a:t>
            </a:r>
            <a:r>
              <a:rPr lang="en-US" sz="1500" dirty="0">
                <a:solidFill>
                  <a:schemeClr val="bg1"/>
                </a:solidFill>
              </a:rPr>
              <a:t>— the current vocabulary, motion quality and ISL language processing need further development before the system can support broader classroom use.</a:t>
            </a:r>
          </a:p>
        </p:txBody>
      </p:sp>
      <p:sp>
        <p:nvSpPr>
          <p:cNvPr id="5" name="Shape 3"/>
          <p:cNvSpPr/>
          <p:nvPr/>
        </p:nvSpPr>
        <p:spPr>
          <a:xfrm>
            <a:off x="7452360" y="1874520"/>
            <a:ext cx="4190695" cy="2286000"/>
          </a:xfrm>
          <a:prstGeom prst="roundRect">
            <a:avLst>
              <a:gd name="adj" fmla="val 3600"/>
            </a:avLst>
          </a:prstGeom>
          <a:solidFill>
            <a:srgbClr val="2A2C63"/>
          </a:solidFill>
          <a:ln/>
          <a:effectLst>
            <a:outerShdw blurRad="114300" dist="38100" dir="5400000" algn="bl" rotWithShape="0">
              <a:srgbClr val="9195AE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0" y="2103120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6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514600"/>
            <a:ext cx="37334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a foundation that works today. </a:t>
            </a:r>
            <a:r>
              <a:rPr lang="en-US" sz="16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is the road — and it’s walkable.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440680"/>
            <a:ext cx="1276502" cy="384048"/>
          </a:xfrm>
          <a:prstGeom prst="roundRect">
            <a:avLst>
              <a:gd name="adj" fmla="val 50000"/>
            </a:avLst>
          </a:prstGeom>
          <a:solidFill>
            <a:srgbClr val="2A2C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544068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Authored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9734" y="5440680"/>
            <a:ext cx="1196035" cy="384048"/>
          </a:xfrm>
          <a:prstGeom prst="roundRect">
            <a:avLst>
              <a:gd name="adj" fmla="val 50000"/>
            </a:avLst>
          </a:prstGeom>
          <a:solidFill>
            <a:srgbClr val="2A2C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89734" y="5440680"/>
            <a:ext cx="11960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Capture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0362" y="5440680"/>
            <a:ext cx="1598371" cy="384048"/>
          </a:xfrm>
          <a:prstGeom prst="roundRect">
            <a:avLst>
              <a:gd name="adj" fmla="val 50000"/>
            </a:avLst>
          </a:prstGeom>
          <a:solidFill>
            <a:srgbClr val="2A2C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50362" y="5440680"/>
            <a:ext cx="15983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ML averaging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13325" y="54406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2A2C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13325" y="5440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Speech &amp; lecture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98157" y="544068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2A2C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98157" y="54406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Mobile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7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AvatarEngine · ISL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1806</Words>
  <Application>Microsoft Office PowerPoint</Application>
  <PresentationFormat>Widescreen</PresentationFormat>
  <Paragraphs>134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AvatarEngine-ISL</dc:creator>
  <cp:lastModifiedBy>DELL</cp:lastModifiedBy>
  <cp:revision>10</cp:revision>
  <dcterms:created xsi:type="dcterms:W3CDTF">2026-09-16T05:27:41Z</dcterms:created>
  <dcterms:modified xsi:type="dcterms:W3CDTF">2026-09-16T09:55:38Z</dcterms:modified>
</cp:coreProperties>
</file>