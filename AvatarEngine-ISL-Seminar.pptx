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109" d="100"/>
          <a:sy n="109" d="100"/>
        </p:scale>
        <p:origin x="52"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Gain %</c:v>
                </c:pt>
              </c:strCache>
            </c:strRef>
          </c:tx>
          <c:spPr>
            <a:solidFill>
              <a:srgbClr val="33357A"/>
            </a:solidFill>
            <a:effectLst/>
          </c:spPr>
          <c:invertIfNegative val="0"/>
          <c:dLbls>
            <c:numFmt formatCode="0.0&quot;%&quot;" sourceLinked="0"/>
            <c:spPr>
              <a:noFill/>
              <a:ln>
                <a:noFill/>
              </a:ln>
              <a:effectLst/>
            </c:spPr>
            <c:txPr>
              <a:bodyPr/>
              <a:lstStyle/>
              <a:p>
                <a:pPr>
                  <a:defRPr sz="800" b="0" i="0" u="none" strike="noStrike">
                    <a:solidFill>
                      <a:srgbClr val="B06712"/>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Sheet1!$A$2:$A$18</c:f>
              <c:strCache>
                <c:ptCount val="17"/>
                <c:pt idx="0">
                  <c:v>good night</c:v>
                </c:pt>
                <c:pt idx="1">
                  <c:v>hello</c:v>
                </c:pt>
                <c:pt idx="2">
                  <c:v>thank you</c:v>
                </c:pt>
                <c:pt idx="3">
                  <c:v>you (plural)</c:v>
                </c:pt>
                <c:pt idx="4">
                  <c:v>they</c:v>
                </c:pt>
                <c:pt idx="5">
                  <c:v>pleased</c:v>
                </c:pt>
                <c:pt idx="6">
                  <c:v>alright</c:v>
                </c:pt>
                <c:pt idx="7">
                  <c:v>good afternoon</c:v>
                </c:pt>
                <c:pt idx="8">
                  <c:v>i</c:v>
                </c:pt>
                <c:pt idx="9">
                  <c:v>you</c:v>
                </c:pt>
                <c:pt idx="10">
                  <c:v>how are you</c:v>
                </c:pt>
                <c:pt idx="11">
                  <c:v>we</c:v>
                </c:pt>
                <c:pt idx="12">
                  <c:v>he</c:v>
                </c:pt>
                <c:pt idx="13">
                  <c:v>it</c:v>
                </c:pt>
                <c:pt idx="14">
                  <c:v>good morning</c:v>
                </c:pt>
                <c:pt idx="15">
                  <c:v>she</c:v>
                </c:pt>
                <c:pt idx="16">
                  <c:v>good evening</c:v>
                </c:pt>
              </c:strCache>
            </c:strRef>
          </c:cat>
          <c:val>
            <c:numRef>
              <c:f>Sheet1!$B$2:$B$18</c:f>
              <c:numCache>
                <c:formatCode>General</c:formatCode>
                <c:ptCount val="17"/>
                <c:pt idx="0">
                  <c:v>0.4</c:v>
                </c:pt>
                <c:pt idx="1">
                  <c:v>1.4</c:v>
                </c:pt>
                <c:pt idx="2">
                  <c:v>2.5</c:v>
                </c:pt>
                <c:pt idx="3">
                  <c:v>2.8</c:v>
                </c:pt>
                <c:pt idx="4">
                  <c:v>4</c:v>
                </c:pt>
                <c:pt idx="5">
                  <c:v>4.3</c:v>
                </c:pt>
                <c:pt idx="6">
                  <c:v>4.4000000000000004</c:v>
                </c:pt>
                <c:pt idx="7">
                  <c:v>4.8</c:v>
                </c:pt>
                <c:pt idx="8">
                  <c:v>5.3</c:v>
                </c:pt>
                <c:pt idx="9">
                  <c:v>5.8</c:v>
                </c:pt>
                <c:pt idx="10">
                  <c:v>5.9</c:v>
                </c:pt>
                <c:pt idx="11">
                  <c:v>7.8</c:v>
                </c:pt>
                <c:pt idx="12">
                  <c:v>7.9</c:v>
                </c:pt>
                <c:pt idx="13">
                  <c:v>8.1</c:v>
                </c:pt>
                <c:pt idx="14">
                  <c:v>8.6999999999999993</c:v>
                </c:pt>
                <c:pt idx="15">
                  <c:v>9.6</c:v>
                </c:pt>
                <c:pt idx="16">
                  <c:v>10.7</c:v>
                </c:pt>
              </c:numCache>
            </c:numRef>
          </c:val>
          <c:extLst>
            <c:ext xmlns:c16="http://schemas.microsoft.com/office/drawing/2014/chart" uri="{C3380CC4-5D6E-409C-BE32-E72D297353CC}">
              <c16:uniqueId val="{00000000-D0A5-4879-B2DA-44CE05163675}"/>
            </c:ext>
          </c:extLst>
        </c:ser>
        <c:dLbls>
          <c:showLegendKey val="0"/>
          <c:showVal val="1"/>
          <c:showCatName val="0"/>
          <c:showSerName val="0"/>
          <c:showPercent val="0"/>
          <c:showBubbleSize val="0"/>
        </c:dLbls>
        <c:gapWidth val="38"/>
        <c:axId val="2094734554"/>
        <c:axId val="2094734552"/>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850" b="0" i="0" u="none" strike="noStrike">
                <a:solidFill>
                  <a:srgbClr val="1B1D29"/>
                </a:solidFill>
                <a:latin typeface="Calibri"/>
              </a:defRPr>
            </a:pPr>
            <a:endParaRPr lang="en-US"/>
          </a:p>
        </c:txPr>
        <c:crossAx val="2094734552"/>
        <c:crosses val="autoZero"/>
        <c:auto val="1"/>
        <c:lblAlgn val="ctr"/>
        <c:lblOffset val="100"/>
        <c:noMultiLvlLbl val="1"/>
      </c:catAx>
      <c:valAx>
        <c:axId val="2094734552"/>
        <c:scaling>
          <c:orientation val="minMax"/>
          <c:max val="12"/>
          <c:min val="0"/>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511820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here. This is AvatarEngine-ISL — a system that takes English, whether typed, spoken, or inside a lecture video, and makes a 3D avatar sign it in Indian Sign Language. Over this talk I will walk the whole journey: the problem, what we are building toward, and the five steps that got us here — from hand-animating signs one at a time, to capturing real signers, to a machine-learning stage that averages many recordings into one clean motion, to signing whole lectures, and finally to a phone app. The faint lines resolving into one bold line are, literally, the core idea of the project.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gap. Accessibility usually means captions — but captions are written English, and for someone whose first language is ISL, English is already a second language. The honest fix is to deliver content in sign. The trouble is supply: interpreters are rare and expensive, and pre-recorded clips only cover whatever someone thought to film. Nothing today takes a fresh, arbitrary sentence — or a two-hour lecture — and signs it automatically. The 18-million and interpreter figures are widely-cited estimates; present them as "by common estimates" so you are not pinned to an exact number in Q&amp;A.</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it human. Two reasons this matters enough to spend months on. One, access to information in your own language is a legal right here — the RPwD Act says so, and ISLRTC even standardised the dictionary, so there is a canonical target. Two, concretely: a deaf student in an ordinary lecture hall almost never has a live interpreter; the lecture just happens around them. If a machine can watch that lecture and sign it on a phone they already own, that is life-changing — and the same engine works for any text or video. The constraint I kept front of mind: cheap and offline, because the people who need it most cannot rely on a paid cloud API.</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target crisply so the audience can judge everything against it. One engine, fed three ways — type, speak, or hand it a lecture video — and out comes a 3-D avatar signing ISL. It runs in the browser and ships as an Android app from the same code, and it costs nothing per use because everything runs locally. Be honest up front: this is a working prototype and a fairly deep research result on the motion, not a shipping product — and I will be equally clear later about where it falls short.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them the map before the detail. Three pipelines sharing one avatar. Pipeline 1 is the original: you type, a backend translates, the avatar plays clips we animated by hand. Pipeline 3 is the motion-capture lab — give it a video of a real signer and it extracts the motion. Pipeline 2 is the payoff: same typing interface, but every sign is captured real motion — Pipeline 3 produces Pipeline 2’s signs. On top we later added a voice path and a whole lecture pipeline. Everything renders through a single three.js avatar, which is also what let us ship a phone app.</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backbone — tell it as escalating problems. Five steps, each existing because the previous one hit a wall. One, we animated signs by hand — but that does not scale and never looks human. Two, we captured real signers instead — but one recording is noisy and it is one person’s version. Three, the research heart: record many takes and use a machine-learning method to average them into one clean, representative motion. Four, once signing was good, typing was the bottleneck, so we added speech and a lecture pipeline. Five, it only ran on a laptop, so we packaged it as a phone app. Now I take each in turn.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it light — the classic part. Step one is text-to-sign. You type; the backend runs four stages — recognise the words, map each to a sign ID we call a gloss, resolve anything unknown, replay in order. The nice detail is the fallback: an unknown word is not dropped, it is fingerspelled letter by letter with the caption highlighting each letter. The avatar is a standard VRM model and each sign is a hand-authored clip. This worked, but the ceiling was obvious: hand-animating every sign does not scale, and hand-keyed motion never looks like a real person signing. That pushed us to motion capture.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two: instead of animating, we capture. Ordinary video of a real signer, run through MediaPipe, gives body joints and 21 points per hand on every frame. We normalise — centre on the hips, scale by height — so a tall signer far away and a short one up close line up. Then we retarget: copy those angles onto our avatar and it signs what the video showed. We later added face capture because in sign language the face is grammar — a raised eyebrow turns a statement into a yes/no question. One caveat to plant firmly: this is 2.5-D. From a single camera, depth is guessed, not measured — the weakest channel, and it comes back. The wall we hit: one recording is noisy and it is one signer’s take.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the idea before naming the algorithm. The research core. The insight is simple: do not pick a favourite recording — that ships one person’s quirks and one tracker’s noise. Instead record the same sign many times, different signers, rooms, days, and let the data tell you the motion they all agree on — the canonical motion. Our dataset is the ISL Greetings and Pronouns sets: 17 signs (it started at 9), 358 recorded takes, 329 surviving a quality screen — about 20 takes per sign from at least three signers. The grey-into-bold picture is exactly what we compute.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intellectually honest slide — lean into it. How do we average motion when everyone signs at a different speed? Dynamic Time Warping stretches takes so the same moments line up, then we average — the published algorithm is DTW Barycenter Averaging, DBA, 2011. The honest part, do not skip it in Q&amp;A: this is NOT a trained neural network. No accuracy percentage because nothing is being classified — it is unsupervised template estimation, and that is deliberately the RIGHT choice at ~330 sequences, where a net would memorise. The chart is the proof: every sign comes out closer to the whole set of recordings than that sign’s own best single take — from a fraction of a percent up to about eleven. When takes agree there is little to gain; when they disagree, averaging earns its keep. And I wrote down when we would switch to a neural model: thousands of signs, not 17.</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the engineering depth shows — pick two examples, do not read all four. A naïve average produces a body that cannot exist. Two examples. First: average the positions of finger joints and you get fingers curled into a shape no hand can make — so instead we average each bone’s direction, which stays a real hand-shape. Second, my favourite: the avatar’s arms are about a third longer than the signers’, so copying joint angles puts the hands literally inside each other. We fixed that with inverse kinematics — solving the elbow — and a clearance pass that pushes the wrists apart by exactly enough. The bottom numbers are the receipts: worst-case wrist snap from 177 degrees a frame to about 20, zero physically-impossible frames, and the hands stop intersecting. The theme: every decision settled by a measurement, not by eyeballing.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step four the signing was good, so the bottleneck was input — typing. Three things. One: speak to it — the browser’s speech recognition drives the same pipeline. Two: we put a small local language model between English and the signs, because plain word-matching missed "thanked" or "how’s it going" — the model handles tense, synonyms and ISL word order, and crucially cannot hallucinate a sign because the server throws away anything not in our real vocabulary. Three, the headline: the lecture pipeline. Give it a lecture video — a file or a URL — Whisper transcribes it with timestamps, we locate the speaker’s face with YOLO, and the avatar signs along in time as the video plays. All local; faster on a GPU but falls back to CPU and tells you. That is the "point a phone at a lecture" promise, working.</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five closes the loop back to the motivation. The whole thing was meant for a cheap Android phone and only ran on a laptop. The fix is Capacitor: it wraps our built website into an Android app that runs the page in an embedded browser. The key decision: our app is a fully static build, no server process — that is what makes a phone app possible at all; a framework needing a Node server would have nowhere to run inside an APK. So the exact same three.js avatar and motion pipelines run on the phone, unchanged. We even built a phone shell for demos so it projects as a real handset — if there is time, that is what I will demo live.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read the table aloud — point and hit the shape. The frontend is TypeScript with three.js drawing the avatar; three separate Python backends, one per pipeline, each self-contained so they cannot entangle; the vision-and-ML row is where the recognisable names live — MediaPipe, Whisper, YOLO, a local LLM; and the offline model is just NumPy, no GPU. Requirements are modest — Node, Python, an optional GPU that only speeds things up — and the point to land: no paid API anywhere, which is what keeps it free and offline for the people who need it.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confidence beat — the "we actually did it" slide. All three pipelines work end to end. Seventeen signs captured and averaged into canonical motion, plus the full fingerspelling alphabet as a safety net. The motion model is documented and reproducible — every number I showed is emitted by a script into a report, not hand-picked. Speech works, the lecture pipeline works and signs in time, face capture works, it is a real Android app, and we hardened the backends with health checks, validation, config and Docker. Two things are in flight now — a bigger library and a better avatar — which lead into limitations and future work.</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Owning the limits builds credibility — say so plainly. The big one: the vocabulary is only 17 signs — the binding constraint, since a real sentence is mostly words we cannot sign yet, and we skip them. Second, the depth problem from step two is permanent to single-camera capture: we can delete the impossible errors but cannot recover depth the camera never measured. Third, a measured bias where captured arms come out a bit low. Fourth, an interesting one: every sign’s recordings split into two groups, and telling whether that is a camera artefact or a genuine regional variant needs a person who reads ISL — a distance metric cannot decide it. None are fatal; they are the honest edges of a prototype, and they set up what comes next.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two fronts you were asked to foreground. A clear priority order. First and biggest: the library. Seventeen signs has to become hundreds and then thousands. The good news is the method scales in a straight line — every new sign is one more video through the same pipeline — the hard news is that is a lot of recording and screening, and it is the single biggest thing between a prototype and something usable. Second, in progress now: a better avatar, purpose-built with the right proportions, so motion is correct at the source rather than patched at playback. Third, only once we have the data: a proper learned motion model — decided on evidence, not fashion. Fourth, richer language: real ISL grammar and word order, the face as grammar, and the engineering tail of tests and deployment.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the arc, then hand off to questions. We travelled from hand-animating a single sign, to capturing real signers, to a machine-learning stage that averages many performances into one clean motion — then from a laptop all the way to a phone that can sign a live lecture. Three things to remember: it is a working engine with three ways in; the averaging is a real result — it beats the best single recording on every sign; and the way we worked — measure everything, average rather than fake, correct rather than hide — is what makes those claims trustworthy. The engine works today; the vocabulary is the road ahead, and it is a road we know how to walk. Thank you — I would love your questions.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Likely questions and crisp answers. Is it a neural network? No — unsupervised averaging (DBA); the right tool for ~330 sequences, and I wrote down when we would switch. Why only 17 signs? Each sign is a full capture-and-screen cycle; the method scales linearly, volume is the work. How accurate is the sign? No single accuracy number; the claim is that the average represents the recordings better than any one recording — shown per sign. Does it handle full ISL grammar? Not yet; word order and non-manual markers are future work. Why not pre-recorded human videos? They do not scale to arbitrary text or unfilmed lectures. Offer the live handset demo if the room allows.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02250"/>
        </a:solidFill>
        <a:effectLst/>
      </p:bgPr>
    </p:bg>
    <p:spTree>
      <p:nvGrpSpPr>
        <p:cNvPr id="1" name=""/>
        <p:cNvGrpSpPr/>
        <p:nvPr/>
      </p:nvGrpSpPr>
      <p:grpSpPr>
        <a:xfrm>
          <a:off x="0" y="0"/>
          <a:ext cx="0" cy="0"/>
          <a:chOff x="0" y="0"/>
          <a:chExt cx="0" cy="0"/>
        </a:xfrm>
      </p:grpSpPr>
      <p:sp>
        <p:nvSpPr>
          <p:cNvPr id="2" name="Text 0"/>
          <p:cNvSpPr txBox="1"/>
          <p:nvPr/>
        </p:nvSpPr>
        <p:spPr>
          <a:xfrm>
            <a:off x="548640" y="822960"/>
            <a:ext cx="11094415" cy="274320"/>
          </a:xfrm>
          <a:prstGeom prst="rect">
            <a:avLst/>
          </a:prstGeom>
          <a:noFill/>
          <a:ln/>
        </p:spPr>
        <p:txBody>
          <a:bodyPr wrap="square" lIns="0" tIns="0" rIns="0" bIns="0" rtlCol="0" anchor="ctr"/>
          <a:lstStyle/>
          <a:p>
            <a:pPr marL="0" indent="0">
              <a:buNone/>
            </a:pPr>
            <a:r>
              <a:rPr lang="en-US" sz="1300" b="1" kern="0" spc="300" dirty="0">
                <a:solidFill>
                  <a:srgbClr val="E6A64A"/>
                </a:solidFill>
                <a:latin typeface="Calibri" pitchFamily="34" charset="0"/>
                <a:ea typeface="Calibri" pitchFamily="34" charset="-122"/>
                <a:cs typeface="Calibri" pitchFamily="34" charset="-120"/>
              </a:rPr>
              <a:t>SEMINAR · INDIAN SIGN LANGUAGE</a:t>
            </a:r>
            <a:endParaRPr lang="en-US" sz="1300" dirty="0"/>
          </a:p>
        </p:txBody>
      </p:sp>
      <p:sp>
        <p:nvSpPr>
          <p:cNvPr id="3" name="Text 1"/>
          <p:cNvSpPr txBox="1"/>
          <p:nvPr/>
        </p:nvSpPr>
        <p:spPr>
          <a:xfrm>
            <a:off x="548640" y="1234440"/>
            <a:ext cx="11094415" cy="1280160"/>
          </a:xfrm>
          <a:prstGeom prst="rect">
            <a:avLst/>
          </a:prstGeom>
          <a:noFill/>
          <a:ln/>
        </p:spPr>
        <p:txBody>
          <a:bodyPr wrap="square" lIns="0" tIns="0" rIns="0" bIns="0" rtlCol="0" anchor="ctr"/>
          <a:lstStyle/>
          <a:p>
            <a:pPr marL="0" indent="0">
              <a:buNone/>
            </a:pPr>
            <a:r>
              <a:rPr lang="en-US" sz="6000" b="1" dirty="0">
                <a:solidFill>
                  <a:srgbClr val="FFFFFF"/>
                </a:solidFill>
                <a:latin typeface="Calibri" pitchFamily="34" charset="0"/>
                <a:ea typeface="Calibri" pitchFamily="34" charset="-122"/>
                <a:cs typeface="Calibri" pitchFamily="34" charset="-120"/>
              </a:rPr>
              <a:t>AvatarEngine</a:t>
            </a:r>
            <a:r>
              <a:rPr lang="en-US" sz="6000" b="1" dirty="0">
                <a:solidFill>
                  <a:srgbClr val="E6A64A"/>
                </a:solidFill>
                <a:latin typeface="Calibri" pitchFamily="34" charset="0"/>
                <a:ea typeface="Calibri" pitchFamily="34" charset="-122"/>
                <a:cs typeface="Calibri" pitchFamily="34" charset="-120"/>
              </a:rPr>
              <a:t> · </a:t>
            </a:r>
            <a:r>
              <a:rPr lang="en-US" sz="6000" b="1" dirty="0">
                <a:solidFill>
                  <a:srgbClr val="CBD3F2"/>
                </a:solidFill>
                <a:latin typeface="Calibri" pitchFamily="34" charset="0"/>
                <a:ea typeface="Calibri" pitchFamily="34" charset="-122"/>
                <a:cs typeface="Calibri" pitchFamily="34" charset="-120"/>
              </a:rPr>
              <a:t>ISL</a:t>
            </a:r>
            <a:endParaRPr lang="en-US" sz="6000" dirty="0"/>
          </a:p>
        </p:txBody>
      </p:sp>
      <p:sp>
        <p:nvSpPr>
          <p:cNvPr id="4" name="Text 2"/>
          <p:cNvSpPr txBox="1"/>
          <p:nvPr/>
        </p:nvSpPr>
        <p:spPr>
          <a:xfrm>
            <a:off x="548640" y="2514600"/>
            <a:ext cx="8778240" cy="822960"/>
          </a:xfrm>
          <a:prstGeom prst="rect">
            <a:avLst/>
          </a:prstGeom>
          <a:noFill/>
          <a:ln/>
        </p:spPr>
        <p:txBody>
          <a:bodyPr wrap="square" lIns="0" tIns="0" rIns="0" bIns="0" rtlCol="0" anchor="ctr"/>
          <a:lstStyle/>
          <a:p>
            <a:pPr marL="0" indent="0">
              <a:lnSpc>
                <a:spcPct val="105000"/>
              </a:lnSpc>
              <a:buNone/>
            </a:pPr>
            <a:r>
              <a:rPr lang="en-US" sz="2100" dirty="0">
                <a:solidFill>
                  <a:srgbClr val="CBD3F2"/>
                </a:solidFill>
                <a:latin typeface="Calibri" pitchFamily="34" charset="0"/>
                <a:ea typeface="Calibri" pitchFamily="34" charset="-122"/>
                <a:cs typeface="Calibri" pitchFamily="34" charset="-120"/>
              </a:rPr>
              <a:t>Turning language into sign — by type, by voice, by lecture — on any screen.</a:t>
            </a:r>
            <a:endParaRPr lang="en-US" sz="2100" dirty="0"/>
          </a:p>
        </p:txBody>
      </p:sp>
      <p:pic>
        <p:nvPicPr>
          <p:cNvPr id="5" name="Image 0" descr="preencoded.png"/>
          <p:cNvPicPr>
            <a:picLocks noChangeAspect="1"/>
          </p:cNvPicPr>
          <p:nvPr/>
        </p:nvPicPr>
        <p:blipFill>
          <a:blip r:embed="rId3"/>
          <a:stretch>
            <a:fillRect/>
          </a:stretch>
        </p:blipFill>
        <p:spPr>
          <a:xfrm>
            <a:off x="548640" y="3520440"/>
            <a:ext cx="5120640" cy="1600200"/>
          </a:xfrm>
          <a:prstGeom prst="rect">
            <a:avLst/>
          </a:prstGeom>
        </p:spPr>
      </p:pic>
      <p:sp>
        <p:nvSpPr>
          <p:cNvPr id="6" name="Shape 3"/>
          <p:cNvSpPr/>
          <p:nvPr/>
        </p:nvSpPr>
        <p:spPr>
          <a:xfrm>
            <a:off x="548640" y="5440680"/>
            <a:ext cx="1904695" cy="384048"/>
          </a:xfrm>
          <a:prstGeom prst="roundRect">
            <a:avLst>
              <a:gd name="adj" fmla="val 47619"/>
            </a:avLst>
          </a:prstGeom>
          <a:solidFill>
            <a:srgbClr val="2A2C63"/>
          </a:solidFill>
          <a:ln w="12700">
            <a:solidFill>
              <a:srgbClr val="3E4180"/>
            </a:solidFill>
            <a:prstDash val="solid"/>
          </a:ln>
        </p:spPr>
      </p:sp>
      <p:sp>
        <p:nvSpPr>
          <p:cNvPr id="7" name="Text 4"/>
          <p:cNvSpPr txBox="1"/>
          <p:nvPr/>
        </p:nvSpPr>
        <p:spPr>
          <a:xfrm>
            <a:off x="548640" y="5440680"/>
            <a:ext cx="1904695" cy="384048"/>
          </a:xfrm>
          <a:prstGeom prst="rect">
            <a:avLst/>
          </a:prstGeom>
          <a:noFill/>
          <a:ln/>
        </p:spPr>
        <p:txBody>
          <a:bodyPr wrap="square" lIns="0" tIns="0" rIns="0" bIns="0" rtlCol="0" anchor="ctr"/>
          <a:lstStyle/>
          <a:p>
            <a:pPr marL="0" indent="0" algn="ctr">
              <a:buNone/>
            </a:pPr>
            <a:r>
              <a:rPr lang="en-US" sz="1100" dirty="0">
                <a:solidFill>
                  <a:srgbClr val="CBD3F2"/>
                </a:solidFill>
                <a:latin typeface="Calibri" pitchFamily="34" charset="0"/>
                <a:ea typeface="Calibri" pitchFamily="34" charset="-122"/>
                <a:cs typeface="Calibri" pitchFamily="34" charset="-120"/>
              </a:rPr>
              <a:t>Presenter · your name</a:t>
            </a:r>
            <a:endParaRPr lang="en-US" sz="1100" dirty="0"/>
          </a:p>
        </p:txBody>
      </p:sp>
      <p:sp>
        <p:nvSpPr>
          <p:cNvPr id="8" name="Shape 5"/>
          <p:cNvSpPr/>
          <p:nvPr/>
        </p:nvSpPr>
        <p:spPr>
          <a:xfrm>
            <a:off x="2617927" y="5440680"/>
            <a:ext cx="1677010" cy="384048"/>
          </a:xfrm>
          <a:prstGeom prst="roundRect">
            <a:avLst>
              <a:gd name="adj" fmla="val 47619"/>
            </a:avLst>
          </a:prstGeom>
          <a:solidFill>
            <a:srgbClr val="2A2C63"/>
          </a:solidFill>
          <a:ln w="12700">
            <a:solidFill>
              <a:srgbClr val="3E4180"/>
            </a:solidFill>
            <a:prstDash val="solid"/>
          </a:ln>
        </p:spPr>
      </p:sp>
      <p:sp>
        <p:nvSpPr>
          <p:cNvPr id="9" name="Text 6"/>
          <p:cNvSpPr txBox="1"/>
          <p:nvPr/>
        </p:nvSpPr>
        <p:spPr>
          <a:xfrm>
            <a:off x="2617927" y="5440680"/>
            <a:ext cx="1677010" cy="384048"/>
          </a:xfrm>
          <a:prstGeom prst="rect">
            <a:avLst/>
          </a:prstGeom>
          <a:noFill/>
          <a:ln/>
        </p:spPr>
        <p:txBody>
          <a:bodyPr wrap="square" lIns="0" tIns="0" rIns="0" bIns="0" rtlCol="0" anchor="ctr"/>
          <a:lstStyle/>
          <a:p>
            <a:pPr marL="0" indent="0" algn="ctr">
              <a:buNone/>
            </a:pPr>
            <a:r>
              <a:rPr lang="en-US" sz="1100" dirty="0">
                <a:solidFill>
                  <a:srgbClr val="CBD3F2"/>
                </a:solidFill>
                <a:latin typeface="Calibri" pitchFamily="34" charset="0"/>
                <a:ea typeface="Calibri" pitchFamily="34" charset="-122"/>
                <a:cs typeface="Calibri" pitchFamily="34" charset="-120"/>
              </a:rPr>
              <a:t>BITS Pilani · WILP</a:t>
            </a:r>
            <a:endParaRPr lang="en-US" sz="1100" dirty="0"/>
          </a:p>
        </p:txBody>
      </p:sp>
      <p:sp>
        <p:nvSpPr>
          <p:cNvPr id="10" name="Shape 7"/>
          <p:cNvSpPr/>
          <p:nvPr/>
        </p:nvSpPr>
        <p:spPr>
          <a:xfrm>
            <a:off x="4459529" y="5440680"/>
            <a:ext cx="614477" cy="384048"/>
          </a:xfrm>
          <a:prstGeom prst="roundRect">
            <a:avLst>
              <a:gd name="adj" fmla="val 47619"/>
            </a:avLst>
          </a:prstGeom>
          <a:solidFill>
            <a:srgbClr val="2A2C63"/>
          </a:solidFill>
          <a:ln w="12700">
            <a:solidFill>
              <a:srgbClr val="3E4180"/>
            </a:solidFill>
            <a:prstDash val="solid"/>
          </a:ln>
        </p:spPr>
      </p:sp>
      <p:sp>
        <p:nvSpPr>
          <p:cNvPr id="11" name="Text 8"/>
          <p:cNvSpPr txBox="1"/>
          <p:nvPr/>
        </p:nvSpPr>
        <p:spPr>
          <a:xfrm>
            <a:off x="4459529" y="5440680"/>
            <a:ext cx="614477" cy="384048"/>
          </a:xfrm>
          <a:prstGeom prst="rect">
            <a:avLst/>
          </a:prstGeom>
          <a:noFill/>
          <a:ln/>
        </p:spPr>
        <p:txBody>
          <a:bodyPr wrap="square" lIns="0" tIns="0" rIns="0" bIns="0" rtlCol="0" anchor="ctr"/>
          <a:lstStyle/>
          <a:p>
            <a:pPr marL="0" indent="0" algn="ctr">
              <a:buNone/>
            </a:pPr>
            <a:r>
              <a:rPr lang="en-US" sz="1100" dirty="0">
                <a:solidFill>
                  <a:srgbClr val="CBD3F2"/>
                </a:solidFill>
                <a:latin typeface="Calibri" pitchFamily="34" charset="0"/>
                <a:ea typeface="Calibri" pitchFamily="34" charset="-122"/>
                <a:cs typeface="Calibri" pitchFamily="34" charset="-120"/>
              </a:rPr>
              <a:t>2026</a:t>
            </a:r>
            <a:endParaRPr lang="en-US" sz="1100" dirty="0"/>
          </a:p>
        </p:txBody>
      </p:sp>
      <p:sp>
        <p:nvSpPr>
          <p:cNvPr id="12" name="Shape 9"/>
          <p:cNvSpPr/>
          <p:nvPr/>
        </p:nvSpPr>
        <p:spPr>
          <a:xfrm>
            <a:off x="5238598" y="5440680"/>
            <a:ext cx="3498494" cy="384048"/>
          </a:xfrm>
          <a:prstGeom prst="roundRect">
            <a:avLst>
              <a:gd name="adj" fmla="val 47619"/>
            </a:avLst>
          </a:prstGeom>
          <a:solidFill>
            <a:srgbClr val="2A2C63"/>
          </a:solidFill>
          <a:ln w="12700">
            <a:solidFill>
              <a:srgbClr val="3E4180"/>
            </a:solidFill>
            <a:prstDash val="solid"/>
          </a:ln>
        </p:spPr>
      </p:sp>
      <p:sp>
        <p:nvSpPr>
          <p:cNvPr id="13" name="Text 10"/>
          <p:cNvSpPr txBox="1"/>
          <p:nvPr/>
        </p:nvSpPr>
        <p:spPr>
          <a:xfrm>
            <a:off x="5238598" y="5440680"/>
            <a:ext cx="3498494" cy="384048"/>
          </a:xfrm>
          <a:prstGeom prst="rect">
            <a:avLst/>
          </a:prstGeom>
          <a:noFill/>
          <a:ln/>
        </p:spPr>
        <p:txBody>
          <a:bodyPr wrap="square" lIns="0" tIns="0" rIns="0" bIns="0" rtlCol="0" anchor="ctr"/>
          <a:lstStyle/>
          <a:p>
            <a:pPr marL="0" indent="0" algn="ctr">
              <a:buNone/>
            </a:pPr>
            <a:r>
              <a:rPr lang="en-US" sz="1100" dirty="0">
                <a:solidFill>
                  <a:srgbClr val="E6A64A"/>
                </a:solidFill>
                <a:latin typeface="Calibri" pitchFamily="34" charset="0"/>
                <a:ea typeface="Calibri" pitchFamily="34" charset="-122"/>
                <a:cs typeface="Calibri" pitchFamily="34" charset="-120"/>
              </a:rPr>
              <a:t>three.js · MediaPipe · Whisper · Capacitor</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15816" y="402336"/>
            <a:ext cx="11127240" cy="274320"/>
          </a:xfrm>
          <a:prstGeom prst="rect">
            <a:avLst/>
          </a:prstGeom>
          <a:noFill/>
          <a:ln/>
        </p:spPr>
        <p:txBody>
          <a:bodyPr wrap="square" lIns="0" tIns="0" rIns="0" bIns="0" rtlCol="0" anchor="ctr"/>
          <a:lstStyle/>
          <a:p>
            <a:pPr marL="0" indent="0">
              <a:buNone/>
            </a:pPr>
            <a:r>
              <a:rPr lang="en-US" sz="1150" b="1" kern="0" spc="200" dirty="0">
                <a:solidFill>
                  <a:srgbClr val="B06712"/>
                </a:solidFill>
                <a:latin typeface="Calibri" pitchFamily="34" charset="0"/>
                <a:ea typeface="Calibri" pitchFamily="34" charset="-122"/>
                <a:cs typeface="Calibri" pitchFamily="34" charset="-120"/>
              </a:rPr>
              <a:t>THE PROBLEM</a:t>
            </a:r>
            <a:endParaRPr lang="en-US" sz="1150" dirty="0"/>
          </a:p>
        </p:txBody>
      </p:sp>
      <p:sp>
        <p:nvSpPr>
          <p:cNvPr id="3" name="Text 1"/>
          <p:cNvSpPr txBox="1"/>
          <p:nvPr/>
        </p:nvSpPr>
        <p:spPr>
          <a:xfrm>
            <a:off x="548640" y="694944"/>
            <a:ext cx="11094415" cy="914400"/>
          </a:xfrm>
          <a:prstGeom prst="rect">
            <a:avLst/>
          </a:prstGeom>
          <a:noFill/>
          <a:ln/>
        </p:spPr>
        <p:txBody>
          <a:bodyPr wrap="square" lIns="0" tIns="0" rIns="0" bIns="0" rtlCol="0" anchor="ctr"/>
          <a:lstStyle/>
          <a:p>
            <a:pPr marL="0" indent="0">
              <a:lnSpc>
                <a:spcPct val="98000"/>
              </a:lnSpc>
              <a:buNone/>
            </a:pPr>
            <a:r>
              <a:rPr lang="en-US" sz="3200" dirty="0"/>
              <a:t>Most digital communication is built around speech and text.</a:t>
            </a:r>
            <a:br>
              <a:rPr lang="en-US" sz="3200" dirty="0"/>
            </a:br>
            <a:r>
              <a:rPr lang="en-US" sz="3200" dirty="0"/>
              <a:t>For an ISL user, that creates a gap.</a:t>
            </a:r>
            <a:endParaRPr lang="en-US" sz="2900" dirty="0"/>
          </a:p>
        </p:txBody>
      </p:sp>
      <p:sp>
        <p:nvSpPr>
          <p:cNvPr id="4" name="Shape 2"/>
          <p:cNvSpPr/>
          <p:nvPr/>
        </p:nvSpPr>
        <p:spPr>
          <a:xfrm>
            <a:off x="548640" y="1828800"/>
            <a:ext cx="3478682" cy="2468880"/>
          </a:xfrm>
          <a:prstGeom prst="roundRect">
            <a:avLst>
              <a:gd name="adj" fmla="val 3333"/>
            </a:avLst>
          </a:prstGeom>
          <a:solidFill>
            <a:srgbClr val="F2F2F9"/>
          </a:solidFill>
          <a:ln/>
          <a:effectLst>
            <a:outerShdw blurRad="114300" dist="38100" dir="5400000" algn="bl" rotWithShape="0">
              <a:srgbClr val="9195AE">
                <a:alpha val="30000"/>
              </a:srgbClr>
            </a:outerShdw>
          </a:effectLst>
        </p:spPr>
      </p:sp>
      <p:sp>
        <p:nvSpPr>
          <p:cNvPr id="5" name="Text 3"/>
          <p:cNvSpPr txBox="1"/>
          <p:nvPr/>
        </p:nvSpPr>
        <p:spPr>
          <a:xfrm>
            <a:off x="768096" y="2011680"/>
            <a:ext cx="3039770" cy="329184"/>
          </a:xfrm>
          <a:prstGeom prst="rect">
            <a:avLst/>
          </a:prstGeom>
          <a:noFill/>
          <a:ln/>
        </p:spPr>
        <p:txBody>
          <a:bodyPr wrap="square" lIns="0" tIns="0" rIns="0" bIns="0" rtlCol="0" anchor="ctr"/>
          <a:lstStyle/>
          <a:p>
            <a:r>
              <a:rPr lang="en-IN" sz="1000" b="1" dirty="0">
                <a:solidFill>
                  <a:schemeClr val="accent1"/>
                </a:solidFill>
              </a:rPr>
              <a:t>COMMUNICATION GAP</a:t>
            </a:r>
            <a:endParaRPr lang="en-US" sz="1000" b="1" dirty="0">
              <a:solidFill>
                <a:schemeClr val="accent1"/>
              </a:solidFill>
            </a:endParaRPr>
          </a:p>
          <a:p>
            <a:pPr marL="0" indent="0">
              <a:buNone/>
            </a:pPr>
            <a:endParaRPr lang="en-US" sz="1000" b="1" dirty="0">
              <a:solidFill>
                <a:schemeClr val="accent1"/>
              </a:solidFill>
              <a:latin typeface="Calibri" panose="020F0502020204030204" pitchFamily="34" charset="0"/>
              <a:ea typeface="Calibri" panose="020F0502020204030204" pitchFamily="34" charset="0"/>
              <a:cs typeface="Calibri" panose="020F0502020204030204" pitchFamily="34" charset="0"/>
            </a:endParaRPr>
          </a:p>
        </p:txBody>
      </p:sp>
      <p:sp>
        <p:nvSpPr>
          <p:cNvPr id="6" name="Text 4"/>
          <p:cNvSpPr txBox="1"/>
          <p:nvPr/>
        </p:nvSpPr>
        <p:spPr>
          <a:xfrm>
            <a:off x="768096" y="2340864"/>
            <a:ext cx="3039770" cy="572320"/>
          </a:xfrm>
          <a:prstGeom prst="rect">
            <a:avLst/>
          </a:prstGeom>
          <a:noFill/>
          <a:ln/>
        </p:spPr>
        <p:txBody>
          <a:bodyPr wrap="square" lIns="0" tIns="0" rIns="0" bIns="0" rtlCol="0" anchor="t"/>
          <a:lstStyle/>
          <a:p>
            <a:pPr marL="0" indent="0">
              <a:lnSpc>
                <a:spcPct val="98000"/>
              </a:lnSpc>
              <a:buNone/>
            </a:pPr>
            <a:r>
              <a:rPr lang="en-IN" sz="2000" b="1" dirty="0"/>
              <a:t>Speech &amp; text dominate</a:t>
            </a:r>
            <a:endParaRPr lang="en-US" sz="1900" b="1" dirty="0"/>
          </a:p>
        </p:txBody>
      </p:sp>
      <p:sp>
        <p:nvSpPr>
          <p:cNvPr id="7" name="Text 5"/>
          <p:cNvSpPr txBox="1"/>
          <p:nvPr/>
        </p:nvSpPr>
        <p:spPr>
          <a:xfrm>
            <a:off x="768096" y="2962656"/>
            <a:ext cx="3039770" cy="1170432"/>
          </a:xfrm>
          <a:prstGeom prst="rect">
            <a:avLst/>
          </a:prstGeom>
          <a:noFill/>
          <a:ln/>
        </p:spPr>
        <p:txBody>
          <a:bodyPr wrap="square" lIns="0" tIns="0" rIns="0" bIns="0" rtlCol="0" anchor="t"/>
          <a:lstStyle/>
          <a:p>
            <a:pPr marL="0" indent="0">
              <a:lnSpc>
                <a:spcPct val="102000"/>
              </a:lnSpc>
              <a:buNone/>
            </a:pPr>
            <a:r>
              <a:rPr lang="en-US" sz="1400" dirty="0"/>
              <a:t>Lectures, instructions and digital content are usually delivered through spoken English or written text — not ISL.</a:t>
            </a:r>
            <a:endParaRPr lang="en-US" sz="1250" dirty="0"/>
          </a:p>
        </p:txBody>
      </p:sp>
      <p:sp>
        <p:nvSpPr>
          <p:cNvPr id="8" name="Shape 6"/>
          <p:cNvSpPr/>
          <p:nvPr/>
        </p:nvSpPr>
        <p:spPr>
          <a:xfrm>
            <a:off x="4246778" y="1828800"/>
            <a:ext cx="3478682" cy="2468880"/>
          </a:xfrm>
          <a:prstGeom prst="roundRect">
            <a:avLst>
              <a:gd name="adj" fmla="val 3333"/>
            </a:avLst>
          </a:prstGeom>
          <a:solidFill>
            <a:srgbClr val="F2F2F9"/>
          </a:solidFill>
          <a:ln/>
          <a:effectLst>
            <a:outerShdw blurRad="114300" dist="38100" dir="5400000" algn="bl" rotWithShape="0">
              <a:srgbClr val="9195AE">
                <a:alpha val="30000"/>
              </a:srgbClr>
            </a:outerShdw>
          </a:effectLst>
        </p:spPr>
      </p:sp>
      <p:sp>
        <p:nvSpPr>
          <p:cNvPr id="9" name="Text 7"/>
          <p:cNvSpPr txBox="1"/>
          <p:nvPr/>
        </p:nvSpPr>
        <p:spPr>
          <a:xfrm>
            <a:off x="4466234" y="2011680"/>
            <a:ext cx="3039770" cy="219456"/>
          </a:xfrm>
          <a:prstGeom prst="rect">
            <a:avLst/>
          </a:prstGeom>
          <a:noFill/>
          <a:ln/>
        </p:spPr>
        <p:txBody>
          <a:bodyPr wrap="square" lIns="0" tIns="0" rIns="0" bIns="0" rtlCol="0" anchor="ctr"/>
          <a:lstStyle/>
          <a:p>
            <a:pPr marL="0" indent="0">
              <a:buNone/>
            </a:pPr>
            <a:r>
              <a:rPr lang="en-IN" sz="900" b="1" dirty="0">
                <a:solidFill>
                  <a:schemeClr val="accent6"/>
                </a:solidFill>
              </a:rPr>
              <a:t>LIMITED ACCESS</a:t>
            </a:r>
            <a:endParaRPr lang="en-US" sz="900" b="1" dirty="0">
              <a:solidFill>
                <a:schemeClr val="accent6"/>
              </a:solidFill>
            </a:endParaRPr>
          </a:p>
        </p:txBody>
      </p:sp>
      <p:sp>
        <p:nvSpPr>
          <p:cNvPr id="10" name="Text 8"/>
          <p:cNvSpPr txBox="1"/>
          <p:nvPr/>
        </p:nvSpPr>
        <p:spPr>
          <a:xfrm>
            <a:off x="4466234" y="2286000"/>
            <a:ext cx="3039770" cy="457200"/>
          </a:xfrm>
          <a:prstGeom prst="rect">
            <a:avLst/>
          </a:prstGeom>
          <a:noFill/>
          <a:ln/>
        </p:spPr>
        <p:txBody>
          <a:bodyPr wrap="square" lIns="0" tIns="0" rIns="0" bIns="0" rtlCol="0" anchor="t"/>
          <a:lstStyle/>
          <a:p>
            <a:pPr marL="0" indent="0">
              <a:lnSpc>
                <a:spcPct val="98000"/>
              </a:lnSpc>
              <a:buNone/>
            </a:pPr>
            <a:r>
              <a:rPr lang="en-US" sz="2000" b="1" dirty="0"/>
              <a:t>A human interpreter is not always available</a:t>
            </a:r>
            <a:endParaRPr lang="en-US" sz="1900" b="1" dirty="0"/>
          </a:p>
        </p:txBody>
      </p:sp>
      <p:sp>
        <p:nvSpPr>
          <p:cNvPr id="11" name="Text 9"/>
          <p:cNvSpPr txBox="1"/>
          <p:nvPr/>
        </p:nvSpPr>
        <p:spPr>
          <a:xfrm>
            <a:off x="4466234" y="2962656"/>
            <a:ext cx="3039770" cy="1170432"/>
          </a:xfrm>
          <a:prstGeom prst="rect">
            <a:avLst/>
          </a:prstGeom>
          <a:noFill/>
          <a:ln/>
        </p:spPr>
        <p:txBody>
          <a:bodyPr wrap="square" lIns="0" tIns="0" rIns="0" bIns="0" rtlCol="0" anchor="t"/>
          <a:lstStyle/>
          <a:p>
            <a:pPr marL="0" indent="0">
              <a:lnSpc>
                <a:spcPct val="102000"/>
              </a:lnSpc>
              <a:buNone/>
            </a:pPr>
            <a:r>
              <a:rPr lang="en-US" sz="1400" dirty="0"/>
              <a:t>An interpreter can bridge the gap, but cannot realistically be present for every lecture, conversation or piece of digital content.</a:t>
            </a:r>
            <a:endParaRPr lang="en-US" sz="1250" dirty="0"/>
          </a:p>
        </p:txBody>
      </p:sp>
      <p:sp>
        <p:nvSpPr>
          <p:cNvPr id="12" name="Shape 10"/>
          <p:cNvSpPr/>
          <p:nvPr/>
        </p:nvSpPr>
        <p:spPr>
          <a:xfrm>
            <a:off x="7944917" y="1828800"/>
            <a:ext cx="3478682" cy="2468880"/>
          </a:xfrm>
          <a:prstGeom prst="roundRect">
            <a:avLst>
              <a:gd name="adj" fmla="val 3333"/>
            </a:avLst>
          </a:prstGeom>
          <a:solidFill>
            <a:srgbClr val="F2F2F9"/>
          </a:solidFill>
          <a:ln/>
          <a:effectLst>
            <a:outerShdw blurRad="114300" dist="38100" dir="5400000" algn="bl" rotWithShape="0">
              <a:srgbClr val="9195AE">
                <a:alpha val="30000"/>
              </a:srgbClr>
            </a:outerShdw>
          </a:effectLst>
        </p:spPr>
      </p:sp>
      <p:sp>
        <p:nvSpPr>
          <p:cNvPr id="13" name="Text 11"/>
          <p:cNvSpPr txBox="1"/>
          <p:nvPr/>
        </p:nvSpPr>
        <p:spPr>
          <a:xfrm>
            <a:off x="8164373" y="2011680"/>
            <a:ext cx="3039770" cy="219456"/>
          </a:xfrm>
          <a:prstGeom prst="rect">
            <a:avLst/>
          </a:prstGeom>
          <a:noFill/>
          <a:ln/>
        </p:spPr>
        <p:txBody>
          <a:bodyPr wrap="square" lIns="0" tIns="0" rIns="0" bIns="0" rtlCol="0" anchor="ctr"/>
          <a:lstStyle/>
          <a:p>
            <a:pPr marL="0" indent="0">
              <a:buNone/>
            </a:pPr>
            <a:r>
              <a:rPr lang="en-IN" sz="900" b="1" dirty="0">
                <a:solidFill>
                  <a:schemeClr val="tx2"/>
                </a:solidFill>
              </a:rPr>
              <a:t>FIXED SOLUTIONS</a:t>
            </a:r>
            <a:endParaRPr lang="en-US" sz="900" b="1" dirty="0">
              <a:solidFill>
                <a:schemeClr val="tx2"/>
              </a:solidFill>
            </a:endParaRPr>
          </a:p>
        </p:txBody>
      </p:sp>
      <p:sp>
        <p:nvSpPr>
          <p:cNvPr id="14" name="Text 12"/>
          <p:cNvSpPr txBox="1"/>
          <p:nvPr/>
        </p:nvSpPr>
        <p:spPr>
          <a:xfrm>
            <a:off x="8164373" y="2286000"/>
            <a:ext cx="3039770" cy="457200"/>
          </a:xfrm>
          <a:prstGeom prst="rect">
            <a:avLst/>
          </a:prstGeom>
          <a:noFill/>
          <a:ln/>
        </p:spPr>
        <p:txBody>
          <a:bodyPr wrap="square" lIns="0" tIns="0" rIns="0" bIns="0" rtlCol="0" anchor="t"/>
          <a:lstStyle/>
          <a:p>
            <a:pPr marL="0" indent="0">
              <a:lnSpc>
                <a:spcPct val="98000"/>
              </a:lnSpc>
              <a:buNone/>
            </a:pPr>
            <a:r>
              <a:rPr lang="en-US" sz="2000" b="1" dirty="0"/>
              <a:t>Pre-recorded signs don't cover everything</a:t>
            </a:r>
            <a:endParaRPr lang="en-US" sz="1900" b="1" dirty="0"/>
          </a:p>
        </p:txBody>
      </p:sp>
      <p:sp>
        <p:nvSpPr>
          <p:cNvPr id="15" name="Text 13"/>
          <p:cNvSpPr txBox="1"/>
          <p:nvPr/>
        </p:nvSpPr>
        <p:spPr>
          <a:xfrm>
            <a:off x="8164373" y="2962656"/>
            <a:ext cx="3039770" cy="1170432"/>
          </a:xfrm>
          <a:prstGeom prst="rect">
            <a:avLst/>
          </a:prstGeom>
          <a:noFill/>
          <a:ln/>
        </p:spPr>
        <p:txBody>
          <a:bodyPr wrap="square" lIns="0" tIns="0" rIns="0" bIns="0" rtlCol="0" anchor="t"/>
          <a:lstStyle/>
          <a:p>
            <a:pPr>
              <a:lnSpc>
                <a:spcPct val="102000"/>
              </a:lnSpc>
            </a:pPr>
            <a:r>
              <a:rPr lang="en-US" sz="1400" dirty="0"/>
              <a:t>A library of recorded signs works for known phrases, but cannot easily handle a new sentence, technical term or spontaneous conversation.</a:t>
            </a:r>
          </a:p>
          <a:p>
            <a:pPr marL="0" indent="0">
              <a:lnSpc>
                <a:spcPct val="102000"/>
              </a:lnSpc>
              <a:buNone/>
            </a:pPr>
            <a:endParaRPr lang="en-US" sz="1250" dirty="0"/>
          </a:p>
        </p:txBody>
      </p:sp>
      <p:sp>
        <p:nvSpPr>
          <p:cNvPr id="16" name="Text 14"/>
          <p:cNvSpPr txBox="1"/>
          <p:nvPr/>
        </p:nvSpPr>
        <p:spPr>
          <a:xfrm>
            <a:off x="548640" y="4617720"/>
            <a:ext cx="11094415" cy="1280160"/>
          </a:xfrm>
          <a:prstGeom prst="rect">
            <a:avLst/>
          </a:prstGeom>
          <a:noFill/>
          <a:ln/>
        </p:spPr>
        <p:txBody>
          <a:bodyPr wrap="square" lIns="0" tIns="0" rIns="0" bIns="0" rtlCol="0" anchor="t"/>
          <a:lstStyle/>
          <a:p>
            <a:pPr marL="0" indent="0">
              <a:lnSpc>
                <a:spcPct val="105000"/>
              </a:lnSpc>
              <a:buNone/>
            </a:pPr>
            <a:r>
              <a:rPr lang="en-US" sz="1500" b="1" dirty="0">
                <a:solidFill>
                  <a:srgbClr val="1B1D29"/>
                </a:solidFill>
                <a:latin typeface="Calibri" pitchFamily="34" charset="0"/>
                <a:ea typeface="Calibri" pitchFamily="34" charset="-122"/>
                <a:cs typeface="Calibri" pitchFamily="34" charset="-120"/>
              </a:rPr>
              <a:t>Problem statement. </a:t>
            </a:r>
            <a:r>
              <a:rPr lang="en-US" sz="1600" dirty="0"/>
              <a:t>How can we make everyday, two-way communication between a lecturer and an ISL user possible without requiring a human interpreter every time?</a:t>
            </a:r>
            <a:endParaRPr lang="en-US" sz="1500" dirty="0"/>
          </a:p>
        </p:txBody>
      </p:sp>
      <p:sp>
        <p:nvSpPr>
          <p:cNvPr id="17" name="Text 15"/>
          <p:cNvSpPr txBox="1"/>
          <p:nvPr/>
        </p:nvSpPr>
        <p:spPr>
          <a:xfrm>
            <a:off x="548640" y="6473952"/>
            <a:ext cx="4572000" cy="274320"/>
          </a:xfrm>
          <a:prstGeom prst="rect">
            <a:avLst/>
          </a:prstGeom>
          <a:noFill/>
          <a:ln/>
        </p:spPr>
        <p:txBody>
          <a:bodyPr wrap="square" lIns="0" tIns="0" rIns="0" bIns="0" rtlCol="0" anchor="ctr"/>
          <a:lstStyle/>
          <a:p>
            <a:pPr marL="0" indent="0">
              <a:buNone/>
            </a:pPr>
            <a:r>
              <a:rPr lang="en-US" sz="900" dirty="0">
                <a:solidFill>
                  <a:srgbClr val="9A9EB2"/>
                </a:solidFill>
                <a:latin typeface="Calibri" pitchFamily="34" charset="0"/>
                <a:ea typeface="Calibri" pitchFamily="34" charset="-122"/>
                <a:cs typeface="Calibri" pitchFamily="34" charset="-120"/>
              </a:rPr>
              <a:t>AvatarEngine · ISL</a:t>
            </a:r>
            <a:endParaRPr lang="en-US" sz="900" dirty="0"/>
          </a:p>
        </p:txBody>
      </p:sp>
      <p:sp>
        <p:nvSpPr>
          <p:cNvPr id="18" name="Text 16"/>
          <p:cNvSpPr txBox="1"/>
          <p:nvPr/>
        </p:nvSpPr>
        <p:spPr>
          <a:xfrm>
            <a:off x="11094415" y="6473952"/>
            <a:ext cx="548640" cy="274320"/>
          </a:xfrm>
          <a:prstGeom prst="rect">
            <a:avLst/>
          </a:prstGeom>
          <a:noFill/>
          <a:ln/>
        </p:spPr>
        <p:txBody>
          <a:bodyPr wrap="square" lIns="0" tIns="0" rIns="0" bIns="0" rtlCol="0" anchor="ctr"/>
          <a:lstStyle/>
          <a:p>
            <a:pPr marL="0" indent="0" algn="r">
              <a:buNone/>
            </a:pPr>
            <a:r>
              <a:rPr lang="en-US" sz="900" dirty="0">
                <a:solidFill>
                  <a:srgbClr val="9A9EB2"/>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02336"/>
            <a:ext cx="11094415" cy="274320"/>
          </a:xfrm>
          <a:prstGeom prst="rect">
            <a:avLst/>
          </a:prstGeom>
          <a:noFill/>
          <a:ln/>
        </p:spPr>
        <p:txBody>
          <a:bodyPr wrap="square" lIns="0" tIns="0" rIns="0" bIns="0" rtlCol="0" anchor="ctr"/>
          <a:lstStyle/>
          <a:p>
            <a:pPr marL="0" indent="0">
              <a:buNone/>
            </a:pPr>
            <a:r>
              <a:rPr lang="en-US" sz="1150" b="1" kern="0" spc="200" dirty="0">
                <a:solidFill>
                  <a:srgbClr val="B06712"/>
                </a:solidFill>
                <a:latin typeface="Calibri" pitchFamily="34" charset="0"/>
                <a:ea typeface="Calibri" pitchFamily="34" charset="-122"/>
                <a:cs typeface="Calibri" pitchFamily="34" charset="-120"/>
              </a:rPr>
              <a:t>MOTIVATION</a:t>
            </a:r>
            <a:endParaRPr lang="en-US" sz="1150" dirty="0"/>
          </a:p>
        </p:txBody>
      </p:sp>
      <p:sp>
        <p:nvSpPr>
          <p:cNvPr id="3" name="Text 1"/>
          <p:cNvSpPr txBox="1"/>
          <p:nvPr/>
        </p:nvSpPr>
        <p:spPr>
          <a:xfrm>
            <a:off x="548640" y="694944"/>
            <a:ext cx="11094415" cy="914400"/>
          </a:xfrm>
          <a:prstGeom prst="rect">
            <a:avLst/>
          </a:prstGeom>
          <a:noFill/>
          <a:ln/>
        </p:spPr>
        <p:txBody>
          <a:bodyPr wrap="square" lIns="0" tIns="0" rIns="0" bIns="0" rtlCol="0" anchor="ctr"/>
          <a:lstStyle/>
          <a:p>
            <a:pPr marL="0" indent="0">
              <a:lnSpc>
                <a:spcPct val="98000"/>
              </a:lnSpc>
              <a:buNone/>
            </a:pPr>
            <a:r>
              <a:rPr lang="en-US" sz="3200" b="1" dirty="0"/>
              <a:t>Making classroom learning more accessible to ISL users.</a:t>
            </a:r>
            <a:endParaRPr lang="en-US" sz="2900" b="1" dirty="0"/>
          </a:p>
        </p:txBody>
      </p:sp>
      <p:sp>
        <p:nvSpPr>
          <p:cNvPr id="4" name="Text 2"/>
          <p:cNvSpPr txBox="1"/>
          <p:nvPr/>
        </p:nvSpPr>
        <p:spPr>
          <a:xfrm>
            <a:off x="563881" y="1828800"/>
            <a:ext cx="6795867" cy="4690871"/>
          </a:xfrm>
          <a:prstGeom prst="rect">
            <a:avLst/>
          </a:prstGeom>
          <a:noFill/>
          <a:ln/>
        </p:spPr>
        <p:txBody>
          <a:bodyPr wrap="square" lIns="0" tIns="0" rIns="0" bIns="0" rtlCol="0" anchor="t"/>
          <a:lstStyle/>
          <a:p>
            <a:r>
              <a:rPr lang="en-IN" sz="1600" b="1" dirty="0">
                <a:solidFill>
                  <a:schemeClr val="accent1"/>
                </a:solidFill>
              </a:rPr>
              <a:t>INDEPENDENT ACCESS</a:t>
            </a:r>
            <a:endParaRPr lang="en-US" sz="1600" b="1" dirty="0">
              <a:solidFill>
                <a:schemeClr val="accent1"/>
              </a:solidFill>
            </a:endParaRPr>
          </a:p>
          <a:p>
            <a:r>
              <a:rPr lang="en-US" sz="2000" b="1" dirty="0"/>
              <a:t>Access the same lecture as the class</a:t>
            </a:r>
          </a:p>
          <a:p>
            <a:r>
              <a:rPr lang="en-US" sz="1400" dirty="0"/>
              <a:t>Students should be able to access lectures, instructions and classroom communication in ISL when an interpreter is not available.</a:t>
            </a:r>
          </a:p>
          <a:p>
            <a:endParaRPr lang="en-US" sz="1400" dirty="0"/>
          </a:p>
          <a:p>
            <a:r>
              <a:rPr lang="en-US" sz="1600" b="1" dirty="0">
                <a:solidFill>
                  <a:schemeClr val="accent6"/>
                </a:solidFill>
              </a:rPr>
              <a:t>PRACTICAL NEED</a:t>
            </a:r>
          </a:p>
          <a:p>
            <a:r>
              <a:rPr lang="en-US" sz="2000" b="1" dirty="0"/>
              <a:t>Education is a clear starting point</a:t>
            </a:r>
            <a:endParaRPr lang="en-US" sz="2000" dirty="0"/>
          </a:p>
          <a:p>
            <a:r>
              <a:rPr lang="en-US" sz="1400" dirty="0"/>
              <a:t>A classroom has a defined setting, repeated interactions and a strong need for two-way communication between students and lecturers.</a:t>
            </a:r>
          </a:p>
          <a:p>
            <a:endParaRPr lang="en-US" sz="1400" dirty="0"/>
          </a:p>
          <a:p>
            <a:r>
              <a:rPr lang="en-US" sz="1600" b="1" dirty="0">
                <a:solidFill>
                  <a:schemeClr val="accent3"/>
                </a:solidFill>
              </a:rPr>
              <a:t>SCALABILITY</a:t>
            </a:r>
          </a:p>
          <a:p>
            <a:r>
              <a:rPr lang="en-US" sz="2000" b="1" dirty="0"/>
              <a:t>One system can support more than one situation</a:t>
            </a:r>
            <a:endParaRPr lang="en-US" sz="2000" dirty="0"/>
          </a:p>
          <a:p>
            <a:r>
              <a:rPr lang="en-US" sz="1400" dirty="0"/>
              <a:t>A system that can translate between speech, text and ISL can eventually be used beyond classrooms — in websites, public services and everyday communication.</a:t>
            </a:r>
          </a:p>
          <a:p>
            <a:pPr>
              <a:lnSpc>
                <a:spcPct val="103000"/>
              </a:lnSpc>
              <a:buSzPct val="100000"/>
            </a:pPr>
            <a:endParaRPr lang="en-US" sz="1500" dirty="0"/>
          </a:p>
        </p:txBody>
      </p:sp>
      <p:sp>
        <p:nvSpPr>
          <p:cNvPr id="5" name="Shape 3"/>
          <p:cNvSpPr/>
          <p:nvPr/>
        </p:nvSpPr>
        <p:spPr>
          <a:xfrm>
            <a:off x="7635240" y="1828800"/>
            <a:ext cx="4007815" cy="3383280"/>
          </a:xfrm>
          <a:prstGeom prst="roundRect">
            <a:avLst>
              <a:gd name="adj" fmla="val 2432"/>
            </a:avLst>
          </a:prstGeom>
          <a:solidFill>
            <a:srgbClr val="ECEDF6"/>
          </a:solidFill>
          <a:ln/>
          <a:effectLst>
            <a:outerShdw blurRad="114300" dist="38100" dir="5400000" algn="bl" rotWithShape="0">
              <a:srgbClr val="9195AE">
                <a:alpha val="30000"/>
              </a:srgbClr>
            </a:outerShdw>
          </a:effectLst>
        </p:spPr>
      </p:sp>
      <p:sp>
        <p:nvSpPr>
          <p:cNvPr id="6" name="Text 4"/>
          <p:cNvSpPr txBox="1"/>
          <p:nvPr/>
        </p:nvSpPr>
        <p:spPr>
          <a:xfrm>
            <a:off x="7854696" y="2011680"/>
            <a:ext cx="3568903" cy="219456"/>
          </a:xfrm>
          <a:prstGeom prst="rect">
            <a:avLst/>
          </a:prstGeom>
          <a:noFill/>
          <a:ln/>
        </p:spPr>
        <p:txBody>
          <a:bodyPr wrap="square" lIns="0" tIns="0" rIns="0" bIns="0" rtlCol="0" anchor="ctr"/>
          <a:lstStyle/>
          <a:p>
            <a:pPr marL="0" indent="0">
              <a:buNone/>
            </a:pPr>
            <a:r>
              <a:rPr lang="en-IN" sz="900" b="1" dirty="0">
                <a:solidFill>
                  <a:schemeClr val="accent6"/>
                </a:solidFill>
              </a:rPr>
              <a:t>THE GOAL</a:t>
            </a:r>
            <a:endParaRPr lang="en-US" sz="900" b="1" dirty="0">
              <a:solidFill>
                <a:schemeClr val="accent6"/>
              </a:solidFill>
            </a:endParaRPr>
          </a:p>
        </p:txBody>
      </p:sp>
      <p:sp>
        <p:nvSpPr>
          <p:cNvPr id="7" name="Text 5"/>
          <p:cNvSpPr txBox="1"/>
          <p:nvPr/>
        </p:nvSpPr>
        <p:spPr>
          <a:xfrm>
            <a:off x="7854696" y="2286000"/>
            <a:ext cx="3568903" cy="457200"/>
          </a:xfrm>
          <a:prstGeom prst="rect">
            <a:avLst/>
          </a:prstGeom>
          <a:noFill/>
          <a:ln/>
        </p:spPr>
        <p:txBody>
          <a:bodyPr wrap="square" lIns="0" tIns="0" rIns="0" bIns="0" rtlCol="0" anchor="t"/>
          <a:lstStyle/>
          <a:p>
            <a:pPr marL="0" indent="0">
              <a:lnSpc>
                <a:spcPct val="98000"/>
              </a:lnSpc>
              <a:buNone/>
            </a:pPr>
            <a:r>
              <a:rPr lang="en-US" sz="1900" b="1" dirty="0">
                <a:solidFill>
                  <a:srgbClr val="1B1D29"/>
                </a:solidFill>
                <a:latin typeface="Calibri" pitchFamily="34" charset="0"/>
                <a:ea typeface="Calibri" pitchFamily="34" charset="-122"/>
                <a:cs typeface="Calibri" pitchFamily="34" charset="-120"/>
              </a:rPr>
              <a:t>Point a phone at a lecture. Watch it signed.</a:t>
            </a:r>
            <a:endParaRPr lang="en-US" sz="1900" dirty="0"/>
          </a:p>
        </p:txBody>
      </p:sp>
      <p:sp>
        <p:nvSpPr>
          <p:cNvPr id="8" name="Text 6"/>
          <p:cNvSpPr txBox="1"/>
          <p:nvPr/>
        </p:nvSpPr>
        <p:spPr>
          <a:xfrm>
            <a:off x="7854696" y="2816352"/>
            <a:ext cx="3568903" cy="2231136"/>
          </a:xfrm>
          <a:prstGeom prst="rect">
            <a:avLst/>
          </a:prstGeom>
          <a:noFill/>
          <a:ln/>
        </p:spPr>
        <p:txBody>
          <a:bodyPr wrap="square" lIns="0" tIns="0" rIns="0" bIns="0" rtlCol="0" anchor="t"/>
          <a:lstStyle/>
          <a:p>
            <a:pPr marL="0" indent="0">
              <a:lnSpc>
                <a:spcPct val="102000"/>
              </a:lnSpc>
              <a:buNone/>
            </a:pPr>
            <a:r>
              <a:rPr lang="en-US" sz="1250" dirty="0">
                <a:solidFill>
                  <a:srgbClr val="5A5E76"/>
                </a:solidFill>
                <a:latin typeface="Calibri" pitchFamily="34" charset="0"/>
                <a:ea typeface="Calibri" pitchFamily="34" charset="-122"/>
                <a:cs typeface="Calibri" pitchFamily="34" charset="-120"/>
              </a:rPr>
              <a:t>A deaf student, a cheap handset, a lecture rendered into ISL with no interpreter booked and no fee paid — the north star every part of the system is aimed at.</a:t>
            </a:r>
            <a:endParaRPr lang="en-US" sz="1250" dirty="0"/>
          </a:p>
        </p:txBody>
      </p:sp>
      <p:sp>
        <p:nvSpPr>
          <p:cNvPr id="9" name="Text 7"/>
          <p:cNvSpPr txBox="1"/>
          <p:nvPr/>
        </p:nvSpPr>
        <p:spPr>
          <a:xfrm>
            <a:off x="548640" y="6473952"/>
            <a:ext cx="4572000" cy="274320"/>
          </a:xfrm>
          <a:prstGeom prst="rect">
            <a:avLst/>
          </a:prstGeom>
          <a:noFill/>
          <a:ln/>
        </p:spPr>
        <p:txBody>
          <a:bodyPr wrap="square" lIns="0" tIns="0" rIns="0" bIns="0" rtlCol="0" anchor="ctr"/>
          <a:lstStyle/>
          <a:p>
            <a:pPr marL="0" indent="0">
              <a:buNone/>
            </a:pPr>
            <a:r>
              <a:rPr lang="en-US" sz="900" dirty="0">
                <a:solidFill>
                  <a:srgbClr val="9A9EB2"/>
                </a:solidFill>
                <a:latin typeface="Calibri" pitchFamily="34" charset="0"/>
                <a:ea typeface="Calibri" pitchFamily="34" charset="-122"/>
                <a:cs typeface="Calibri" pitchFamily="34" charset="-120"/>
              </a:rPr>
              <a:t>AvatarEngine · ISL</a:t>
            </a:r>
            <a:endParaRPr lang="en-US" sz="900" dirty="0"/>
          </a:p>
        </p:txBody>
      </p:sp>
      <p:sp>
        <p:nvSpPr>
          <p:cNvPr id="10" name="Text 8"/>
          <p:cNvSpPr txBox="1"/>
          <p:nvPr/>
        </p:nvSpPr>
        <p:spPr>
          <a:xfrm>
            <a:off x="11094415" y="6473952"/>
            <a:ext cx="548640" cy="274320"/>
          </a:xfrm>
          <a:prstGeom prst="rect">
            <a:avLst/>
          </a:prstGeom>
          <a:noFill/>
          <a:ln/>
        </p:spPr>
        <p:txBody>
          <a:bodyPr wrap="square" lIns="0" tIns="0" rIns="0" bIns="0" rtlCol="0" anchor="ctr"/>
          <a:lstStyle/>
          <a:p>
            <a:pPr marL="0" indent="0" algn="r">
              <a:buNone/>
            </a:pPr>
            <a:r>
              <a:rPr lang="en-US" sz="900" dirty="0">
                <a:solidFill>
                  <a:srgbClr val="9A9EB2"/>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02336"/>
            <a:ext cx="11094415" cy="274320"/>
          </a:xfrm>
          <a:prstGeom prst="rect">
            <a:avLst/>
          </a:prstGeom>
          <a:noFill/>
          <a:ln/>
        </p:spPr>
        <p:txBody>
          <a:bodyPr wrap="square" lIns="0" tIns="0" rIns="0" bIns="0" rtlCol="0" anchor="ctr"/>
          <a:lstStyle/>
          <a:p>
            <a:pPr marL="0" indent="0">
              <a:buNone/>
            </a:pPr>
            <a:r>
              <a:rPr lang="en-US" sz="1150" b="1" kern="0" spc="200" dirty="0">
                <a:solidFill>
                  <a:srgbClr val="B06712"/>
                </a:solidFill>
                <a:latin typeface="Calibri" pitchFamily="34" charset="0"/>
                <a:ea typeface="Calibri" pitchFamily="34" charset="-122"/>
                <a:cs typeface="Calibri" pitchFamily="34" charset="-120"/>
              </a:rPr>
              <a:t>PURPOSE &amp; THE TARGET OUTPUT</a:t>
            </a:r>
            <a:endParaRPr lang="en-US" sz="1150" dirty="0"/>
          </a:p>
        </p:txBody>
      </p:sp>
      <p:sp>
        <p:nvSpPr>
          <p:cNvPr id="3" name="Text 1"/>
          <p:cNvSpPr txBox="1"/>
          <p:nvPr/>
        </p:nvSpPr>
        <p:spPr>
          <a:xfrm>
            <a:off x="548640" y="694944"/>
            <a:ext cx="11094415" cy="914400"/>
          </a:xfrm>
          <a:prstGeom prst="rect">
            <a:avLst/>
          </a:prstGeom>
          <a:noFill/>
          <a:ln/>
        </p:spPr>
        <p:txBody>
          <a:bodyPr wrap="square" lIns="0" tIns="0" rIns="0" bIns="0" rtlCol="0" anchor="ctr"/>
          <a:lstStyle/>
          <a:p>
            <a:pPr marL="0" indent="0">
              <a:lnSpc>
                <a:spcPct val="98000"/>
              </a:lnSpc>
              <a:buNone/>
            </a:pPr>
            <a:r>
              <a:rPr lang="en-US" sz="2900" b="1" dirty="0">
                <a:solidFill>
                  <a:srgbClr val="1B1D29"/>
                </a:solidFill>
                <a:latin typeface="Calibri" pitchFamily="34" charset="0"/>
                <a:ea typeface="Calibri" pitchFamily="34" charset="-122"/>
                <a:cs typeface="Calibri" pitchFamily="34" charset="-120"/>
              </a:rPr>
              <a:t>One engine, three ways in, a signing avatar out.</a:t>
            </a:r>
            <a:endParaRPr lang="en-US" sz="2900" dirty="0"/>
          </a:p>
        </p:txBody>
      </p:sp>
      <p:sp>
        <p:nvSpPr>
          <p:cNvPr id="4" name="Text 2"/>
          <p:cNvSpPr txBox="1"/>
          <p:nvPr/>
        </p:nvSpPr>
        <p:spPr>
          <a:xfrm>
            <a:off x="548640" y="1691640"/>
            <a:ext cx="11094415" cy="822960"/>
          </a:xfrm>
          <a:prstGeom prst="rect">
            <a:avLst/>
          </a:prstGeom>
          <a:noFill/>
          <a:ln/>
        </p:spPr>
        <p:txBody>
          <a:bodyPr wrap="square" lIns="0" tIns="0" rIns="0" bIns="0" rtlCol="0" anchor="t"/>
          <a:lstStyle/>
          <a:p>
            <a:pPr marL="0" indent="0">
              <a:lnSpc>
                <a:spcPct val="106000"/>
              </a:lnSpc>
              <a:buNone/>
            </a:pPr>
            <a:r>
              <a:rPr lang="en-US" sz="1600" dirty="0">
                <a:solidFill>
                  <a:srgbClr val="5A5E76"/>
                </a:solidFill>
                <a:latin typeface="Calibri" pitchFamily="34" charset="0"/>
                <a:ea typeface="Calibri" pitchFamily="34" charset="-122"/>
                <a:cs typeface="Calibri" pitchFamily="34" charset="-120"/>
              </a:rPr>
              <a:t>The goal: a real-time engine where the input is </a:t>
            </a:r>
            <a:r>
              <a:rPr lang="en-US" sz="1600" b="1" dirty="0">
                <a:solidFill>
                  <a:srgbClr val="1B1D29"/>
                </a:solidFill>
                <a:latin typeface="Calibri" pitchFamily="34" charset="0"/>
                <a:ea typeface="Calibri" pitchFamily="34" charset="-122"/>
                <a:cs typeface="Calibri" pitchFamily="34" charset="-120"/>
              </a:rPr>
              <a:t>typed text, speech, or a lecture video</a:t>
            </a:r>
            <a:r>
              <a:rPr lang="en-US" sz="1600" dirty="0">
                <a:solidFill>
                  <a:srgbClr val="5A5E76"/>
                </a:solidFill>
                <a:latin typeface="Calibri" pitchFamily="34" charset="0"/>
                <a:ea typeface="Calibri" pitchFamily="34" charset="-122"/>
                <a:cs typeface="Calibri" pitchFamily="34" charset="-120"/>
              </a:rPr>
              <a:t>, and the output is a 3-D avatar signing faithful ISL — in a browser and as a phone app, with no per-use cost.</a:t>
            </a:r>
            <a:endParaRPr lang="en-US" sz="1600" dirty="0"/>
          </a:p>
        </p:txBody>
      </p:sp>
      <p:sp>
        <p:nvSpPr>
          <p:cNvPr id="5" name="Text 3"/>
          <p:cNvSpPr txBox="1"/>
          <p:nvPr/>
        </p:nvSpPr>
        <p:spPr>
          <a:xfrm>
            <a:off x="548640" y="2834640"/>
            <a:ext cx="2567864" cy="603504"/>
          </a:xfrm>
          <a:prstGeom prst="rect">
            <a:avLst/>
          </a:prstGeom>
          <a:noFill/>
          <a:ln/>
        </p:spPr>
        <p:txBody>
          <a:bodyPr wrap="square" lIns="0" tIns="0" rIns="0" bIns="0" rtlCol="0" anchor="ctr"/>
          <a:lstStyle/>
          <a:p>
            <a:pPr marL="0" indent="0">
              <a:buNone/>
            </a:pPr>
            <a:r>
              <a:rPr lang="en-US" sz="3600" b="1" dirty="0">
                <a:solidFill>
                  <a:srgbClr val="33357A"/>
                </a:solidFill>
                <a:latin typeface="Calibri" pitchFamily="34" charset="0"/>
                <a:ea typeface="Calibri" pitchFamily="34" charset="-122"/>
                <a:cs typeface="Calibri" pitchFamily="34" charset="-120"/>
              </a:rPr>
              <a:t>3</a:t>
            </a:r>
            <a:endParaRPr lang="en-US" sz="3600" dirty="0"/>
          </a:p>
        </p:txBody>
      </p:sp>
      <p:sp>
        <p:nvSpPr>
          <p:cNvPr id="6" name="Text 4"/>
          <p:cNvSpPr txBox="1"/>
          <p:nvPr/>
        </p:nvSpPr>
        <p:spPr>
          <a:xfrm>
            <a:off x="548640" y="3438144"/>
            <a:ext cx="2567864" cy="822960"/>
          </a:xfrm>
          <a:prstGeom prst="rect">
            <a:avLst/>
          </a:prstGeom>
          <a:noFill/>
          <a:ln/>
        </p:spPr>
        <p:txBody>
          <a:bodyPr wrap="square" lIns="0" tIns="0" rIns="0" bIns="0" rtlCol="0" anchor="t"/>
          <a:lstStyle/>
          <a:p>
            <a:pPr marL="0" indent="0">
              <a:lnSpc>
                <a:spcPct val="100000"/>
              </a:lnSpc>
              <a:buNone/>
            </a:pPr>
            <a:r>
              <a:rPr lang="en-US" sz="1100" dirty="0">
                <a:solidFill>
                  <a:srgbClr val="5A5E76"/>
                </a:solidFill>
                <a:latin typeface="Calibri" pitchFamily="34" charset="0"/>
                <a:ea typeface="Calibri" pitchFamily="34" charset="-122"/>
                <a:cs typeface="Calibri" pitchFamily="34" charset="-120"/>
              </a:rPr>
              <a:t>input modes — text, voice, video — into one signing path</a:t>
            </a:r>
            <a:endParaRPr lang="en-US" sz="1100" dirty="0"/>
          </a:p>
        </p:txBody>
      </p:sp>
      <p:sp>
        <p:nvSpPr>
          <p:cNvPr id="7" name="Text 5"/>
          <p:cNvSpPr txBox="1"/>
          <p:nvPr/>
        </p:nvSpPr>
        <p:spPr>
          <a:xfrm>
            <a:off x="3390824" y="2834640"/>
            <a:ext cx="2567864" cy="603504"/>
          </a:xfrm>
          <a:prstGeom prst="rect">
            <a:avLst/>
          </a:prstGeom>
          <a:noFill/>
          <a:ln/>
        </p:spPr>
        <p:txBody>
          <a:bodyPr wrap="square" lIns="0" tIns="0" rIns="0" bIns="0" rtlCol="0" anchor="ctr"/>
          <a:lstStyle/>
          <a:p>
            <a:pPr marL="0" indent="0">
              <a:buNone/>
            </a:pPr>
            <a:r>
              <a:rPr lang="en-US" sz="3600" b="1" dirty="0">
                <a:solidFill>
                  <a:srgbClr val="33357A"/>
                </a:solidFill>
                <a:latin typeface="Calibri" pitchFamily="34" charset="0"/>
                <a:ea typeface="Calibri" pitchFamily="34" charset="-122"/>
                <a:cs typeface="Calibri" pitchFamily="34" charset="-120"/>
              </a:rPr>
              <a:t>3-D</a:t>
            </a:r>
            <a:endParaRPr lang="en-US" sz="3600" dirty="0"/>
          </a:p>
        </p:txBody>
      </p:sp>
      <p:sp>
        <p:nvSpPr>
          <p:cNvPr id="8" name="Text 6"/>
          <p:cNvSpPr txBox="1"/>
          <p:nvPr/>
        </p:nvSpPr>
        <p:spPr>
          <a:xfrm>
            <a:off x="3390824" y="3438144"/>
            <a:ext cx="2567864" cy="822960"/>
          </a:xfrm>
          <a:prstGeom prst="rect">
            <a:avLst/>
          </a:prstGeom>
          <a:noFill/>
          <a:ln/>
        </p:spPr>
        <p:txBody>
          <a:bodyPr wrap="square" lIns="0" tIns="0" rIns="0" bIns="0" rtlCol="0" anchor="t"/>
          <a:lstStyle/>
          <a:p>
            <a:pPr marL="0" indent="0">
              <a:lnSpc>
                <a:spcPct val="100000"/>
              </a:lnSpc>
              <a:buNone/>
            </a:pPr>
            <a:r>
              <a:rPr lang="en-US" sz="1100" dirty="0">
                <a:solidFill>
                  <a:srgbClr val="5A5E76"/>
                </a:solidFill>
                <a:latin typeface="Calibri" pitchFamily="34" charset="0"/>
                <a:ea typeface="Calibri" pitchFamily="34" charset="-122"/>
                <a:cs typeface="Calibri" pitchFamily="34" charset="-120"/>
              </a:rPr>
              <a:t>VRM avatar, orbit-able, driven by real motion</a:t>
            </a:r>
            <a:endParaRPr lang="en-US" sz="1100" dirty="0"/>
          </a:p>
        </p:txBody>
      </p:sp>
      <p:sp>
        <p:nvSpPr>
          <p:cNvPr id="9" name="Text 7"/>
          <p:cNvSpPr txBox="1"/>
          <p:nvPr/>
        </p:nvSpPr>
        <p:spPr>
          <a:xfrm>
            <a:off x="6233008" y="2834640"/>
            <a:ext cx="2567864" cy="603504"/>
          </a:xfrm>
          <a:prstGeom prst="rect">
            <a:avLst/>
          </a:prstGeom>
          <a:noFill/>
          <a:ln/>
        </p:spPr>
        <p:txBody>
          <a:bodyPr wrap="square" lIns="0" tIns="0" rIns="0" bIns="0" rtlCol="0" anchor="ctr"/>
          <a:lstStyle/>
          <a:p>
            <a:pPr marL="0" indent="0">
              <a:buNone/>
            </a:pPr>
            <a:r>
              <a:rPr lang="en-US" sz="3600" b="1" dirty="0">
                <a:solidFill>
                  <a:srgbClr val="33357A"/>
                </a:solidFill>
                <a:latin typeface="Calibri" pitchFamily="34" charset="0"/>
                <a:ea typeface="Calibri" pitchFamily="34" charset="-122"/>
                <a:cs typeface="Calibri" pitchFamily="34" charset="-120"/>
              </a:rPr>
              <a:t>2</a:t>
            </a:r>
            <a:endParaRPr lang="en-US" sz="3600" dirty="0"/>
          </a:p>
        </p:txBody>
      </p:sp>
      <p:sp>
        <p:nvSpPr>
          <p:cNvPr id="10" name="Text 8"/>
          <p:cNvSpPr txBox="1"/>
          <p:nvPr/>
        </p:nvSpPr>
        <p:spPr>
          <a:xfrm>
            <a:off x="6233008" y="3438144"/>
            <a:ext cx="2567864" cy="822960"/>
          </a:xfrm>
          <a:prstGeom prst="rect">
            <a:avLst/>
          </a:prstGeom>
          <a:noFill/>
          <a:ln/>
        </p:spPr>
        <p:txBody>
          <a:bodyPr wrap="square" lIns="0" tIns="0" rIns="0" bIns="0" rtlCol="0" anchor="t"/>
          <a:lstStyle/>
          <a:p>
            <a:pPr marL="0" indent="0">
              <a:lnSpc>
                <a:spcPct val="100000"/>
              </a:lnSpc>
              <a:buNone/>
            </a:pPr>
            <a:r>
              <a:rPr lang="en-US" sz="1100" dirty="0">
                <a:solidFill>
                  <a:srgbClr val="5A5E76"/>
                </a:solidFill>
                <a:latin typeface="Calibri" pitchFamily="34" charset="0"/>
                <a:ea typeface="Calibri" pitchFamily="34" charset="-122"/>
                <a:cs typeface="Calibri" pitchFamily="34" charset="-120"/>
              </a:rPr>
              <a:t>platforms from one codebase — web + Android</a:t>
            </a:r>
            <a:endParaRPr lang="en-US" sz="1100" dirty="0"/>
          </a:p>
        </p:txBody>
      </p:sp>
      <p:sp>
        <p:nvSpPr>
          <p:cNvPr id="11" name="Text 9"/>
          <p:cNvSpPr txBox="1"/>
          <p:nvPr/>
        </p:nvSpPr>
        <p:spPr>
          <a:xfrm>
            <a:off x="9075191" y="2834640"/>
            <a:ext cx="2567864" cy="603504"/>
          </a:xfrm>
          <a:prstGeom prst="rect">
            <a:avLst/>
          </a:prstGeom>
          <a:noFill/>
          <a:ln/>
        </p:spPr>
        <p:txBody>
          <a:bodyPr wrap="square" lIns="0" tIns="0" rIns="0" bIns="0" rtlCol="0" anchor="ctr"/>
          <a:lstStyle/>
          <a:p>
            <a:pPr marL="0" indent="0">
              <a:buNone/>
            </a:pPr>
            <a:r>
              <a:rPr lang="en-US" sz="3600" b="1" dirty="0">
                <a:solidFill>
                  <a:srgbClr val="B06712"/>
                </a:solidFill>
                <a:latin typeface="Calibri" pitchFamily="34" charset="0"/>
                <a:ea typeface="Calibri" pitchFamily="34" charset="-122"/>
                <a:cs typeface="Calibri" pitchFamily="34" charset="-120"/>
              </a:rPr>
              <a:t>₹0</a:t>
            </a:r>
            <a:endParaRPr lang="en-US" sz="3600" dirty="0"/>
          </a:p>
        </p:txBody>
      </p:sp>
      <p:sp>
        <p:nvSpPr>
          <p:cNvPr id="12" name="Text 10"/>
          <p:cNvSpPr txBox="1"/>
          <p:nvPr/>
        </p:nvSpPr>
        <p:spPr>
          <a:xfrm>
            <a:off x="9075191" y="3438144"/>
            <a:ext cx="2567864" cy="822960"/>
          </a:xfrm>
          <a:prstGeom prst="rect">
            <a:avLst/>
          </a:prstGeom>
          <a:noFill/>
          <a:ln/>
        </p:spPr>
        <p:txBody>
          <a:bodyPr wrap="square" lIns="0" tIns="0" rIns="0" bIns="0" rtlCol="0" anchor="t"/>
          <a:lstStyle/>
          <a:p>
            <a:pPr marL="0" indent="0">
              <a:lnSpc>
                <a:spcPct val="100000"/>
              </a:lnSpc>
              <a:buNone/>
            </a:pPr>
            <a:r>
              <a:rPr lang="en-US" sz="1100" dirty="0">
                <a:solidFill>
                  <a:srgbClr val="5A5E76"/>
                </a:solidFill>
                <a:latin typeface="Calibri" pitchFamily="34" charset="0"/>
                <a:ea typeface="Calibri" pitchFamily="34" charset="-122"/>
                <a:cs typeface="Calibri" pitchFamily="34" charset="-120"/>
              </a:rPr>
              <a:t>per-use cost — models run locally, no cloud API</a:t>
            </a:r>
            <a:endParaRPr lang="en-US" sz="1100" dirty="0"/>
          </a:p>
        </p:txBody>
      </p:sp>
      <p:sp>
        <p:nvSpPr>
          <p:cNvPr id="13" name="Text 11"/>
          <p:cNvSpPr txBox="1"/>
          <p:nvPr/>
        </p:nvSpPr>
        <p:spPr>
          <a:xfrm>
            <a:off x="548640" y="4754880"/>
            <a:ext cx="11094415" cy="914400"/>
          </a:xfrm>
          <a:prstGeom prst="rect">
            <a:avLst/>
          </a:prstGeom>
          <a:noFill/>
          <a:ln/>
        </p:spPr>
        <p:txBody>
          <a:bodyPr wrap="square" lIns="0" tIns="0" rIns="0" bIns="0" rtlCol="0" anchor="t"/>
          <a:lstStyle/>
          <a:p>
            <a:pPr marL="0" indent="0">
              <a:lnSpc>
                <a:spcPct val="105000"/>
              </a:lnSpc>
              <a:buNone/>
            </a:pPr>
            <a:r>
              <a:rPr lang="en-US" sz="1400" b="1" dirty="0">
                <a:solidFill>
                  <a:srgbClr val="1B1D29"/>
                </a:solidFill>
                <a:latin typeface="Calibri" pitchFamily="34" charset="0"/>
                <a:ea typeface="Calibri" pitchFamily="34" charset="-122"/>
                <a:cs typeface="Calibri" pitchFamily="34" charset="-120"/>
              </a:rPr>
              <a:t>This talk shows a working prototype</a:t>
            </a:r>
            <a:r>
              <a:rPr lang="en-US" sz="1400" dirty="0">
                <a:solidFill>
                  <a:srgbClr val="5A5E76"/>
                </a:solidFill>
                <a:latin typeface="Calibri" pitchFamily="34" charset="0"/>
                <a:ea typeface="Calibri" pitchFamily="34" charset="-122"/>
                <a:cs typeface="Calibri" pitchFamily="34" charset="-120"/>
              </a:rPr>
              <a:t> of that engine and the research behind its motion — a foundation, not a finished product. The honest scope is in Limitations and Future work.</a:t>
            </a:r>
            <a:endParaRPr lang="en-US" sz="1400" dirty="0"/>
          </a:p>
        </p:txBody>
      </p:sp>
      <p:sp>
        <p:nvSpPr>
          <p:cNvPr id="14" name="Text 12"/>
          <p:cNvSpPr txBox="1"/>
          <p:nvPr/>
        </p:nvSpPr>
        <p:spPr>
          <a:xfrm>
            <a:off x="548640" y="6473952"/>
            <a:ext cx="4572000" cy="274320"/>
          </a:xfrm>
          <a:prstGeom prst="rect">
            <a:avLst/>
          </a:prstGeom>
          <a:noFill/>
          <a:ln/>
        </p:spPr>
        <p:txBody>
          <a:bodyPr wrap="square" lIns="0" tIns="0" rIns="0" bIns="0" rtlCol="0" anchor="ctr"/>
          <a:lstStyle/>
          <a:p>
            <a:pPr marL="0" indent="0">
              <a:buNone/>
            </a:pPr>
            <a:r>
              <a:rPr lang="en-US" sz="900" dirty="0">
                <a:solidFill>
                  <a:srgbClr val="9A9EB2"/>
                </a:solidFill>
                <a:latin typeface="Calibri" pitchFamily="34" charset="0"/>
                <a:ea typeface="Calibri" pitchFamily="34" charset="-122"/>
                <a:cs typeface="Calibri" pitchFamily="34" charset="-120"/>
              </a:rPr>
              <a:t>AvatarEngine · ISL</a:t>
            </a:r>
            <a:endParaRPr lang="en-US" sz="900" dirty="0"/>
          </a:p>
        </p:txBody>
      </p:sp>
      <p:sp>
        <p:nvSpPr>
          <p:cNvPr id="15" name="Text 13"/>
          <p:cNvSpPr txBox="1"/>
          <p:nvPr/>
        </p:nvSpPr>
        <p:spPr>
          <a:xfrm>
            <a:off x="11094415" y="6473952"/>
            <a:ext cx="548640" cy="274320"/>
          </a:xfrm>
          <a:prstGeom prst="rect">
            <a:avLst/>
          </a:prstGeom>
          <a:noFill/>
          <a:ln/>
        </p:spPr>
        <p:txBody>
          <a:bodyPr wrap="square" lIns="0" tIns="0" rIns="0" bIns="0" rtlCol="0" anchor="ctr"/>
          <a:lstStyle/>
          <a:p>
            <a:pPr marL="0" indent="0" algn="r">
              <a:buNone/>
            </a:pPr>
            <a:r>
              <a:rPr lang="en-US" sz="900" dirty="0">
                <a:solidFill>
                  <a:srgbClr val="9A9EB2"/>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02336"/>
            <a:ext cx="11094415" cy="274320"/>
          </a:xfrm>
          <a:prstGeom prst="rect">
            <a:avLst/>
          </a:prstGeom>
          <a:noFill/>
          <a:ln/>
        </p:spPr>
        <p:txBody>
          <a:bodyPr wrap="square" lIns="0" tIns="0" rIns="0" bIns="0" rtlCol="0" anchor="ctr"/>
          <a:lstStyle/>
          <a:p>
            <a:pPr marL="0" indent="0">
              <a:buNone/>
            </a:pPr>
            <a:r>
              <a:rPr lang="en-US" sz="1150" b="1" kern="0" spc="200" dirty="0">
                <a:solidFill>
                  <a:srgbClr val="B06712"/>
                </a:solidFill>
                <a:latin typeface="Calibri" pitchFamily="34" charset="0"/>
                <a:ea typeface="Calibri" pitchFamily="34" charset="-122"/>
                <a:cs typeface="Calibri" pitchFamily="34" charset="-120"/>
              </a:rPr>
              <a:t>ARCHITECTURE AT A GLANCE</a:t>
            </a:r>
            <a:endParaRPr lang="en-US" sz="1150" dirty="0"/>
          </a:p>
        </p:txBody>
      </p:sp>
      <p:sp>
        <p:nvSpPr>
          <p:cNvPr id="3" name="Text 1"/>
          <p:cNvSpPr txBox="1"/>
          <p:nvPr/>
        </p:nvSpPr>
        <p:spPr>
          <a:xfrm>
            <a:off x="548640" y="694944"/>
            <a:ext cx="11094415" cy="914400"/>
          </a:xfrm>
          <a:prstGeom prst="rect">
            <a:avLst/>
          </a:prstGeom>
          <a:noFill/>
          <a:ln/>
        </p:spPr>
        <p:txBody>
          <a:bodyPr wrap="square" lIns="0" tIns="0" rIns="0" bIns="0" rtlCol="0" anchor="ctr"/>
          <a:lstStyle/>
          <a:p>
            <a:pPr marL="0" indent="0">
              <a:lnSpc>
                <a:spcPct val="98000"/>
              </a:lnSpc>
              <a:buNone/>
            </a:pPr>
            <a:r>
              <a:rPr lang="en-US" sz="2900" b="1" dirty="0">
                <a:solidFill>
                  <a:srgbClr val="1B1D29"/>
                </a:solidFill>
                <a:latin typeface="Calibri" pitchFamily="34" charset="0"/>
                <a:ea typeface="Calibri" pitchFamily="34" charset="-122"/>
                <a:cs typeface="Calibri" pitchFamily="34" charset="-120"/>
              </a:rPr>
              <a:t>Three pipelines, one avatar.</a:t>
            </a:r>
            <a:endParaRPr lang="en-US" sz="2900" dirty="0"/>
          </a:p>
        </p:txBody>
      </p:sp>
      <p:sp>
        <p:nvSpPr>
          <p:cNvPr id="4" name="Shape 2"/>
          <p:cNvSpPr/>
          <p:nvPr/>
        </p:nvSpPr>
        <p:spPr>
          <a:xfrm>
            <a:off x="548640" y="1783080"/>
            <a:ext cx="3393338" cy="2286000"/>
          </a:xfrm>
          <a:prstGeom prst="roundRect">
            <a:avLst>
              <a:gd name="adj" fmla="val 3600"/>
            </a:avLst>
          </a:prstGeom>
          <a:solidFill>
            <a:srgbClr val="F2F2F9"/>
          </a:solidFill>
          <a:ln/>
          <a:effectLst>
            <a:outerShdw blurRad="114300" dist="38100" dir="5400000" algn="bl" rotWithShape="0">
              <a:srgbClr val="9195AE">
                <a:alpha val="30000"/>
              </a:srgbClr>
            </a:outerShdw>
          </a:effectLst>
        </p:spPr>
      </p:sp>
      <p:sp>
        <p:nvSpPr>
          <p:cNvPr id="5" name="Text 3"/>
          <p:cNvSpPr txBox="1"/>
          <p:nvPr/>
        </p:nvSpPr>
        <p:spPr>
          <a:xfrm>
            <a:off x="768096" y="1965960"/>
            <a:ext cx="2954426" cy="219456"/>
          </a:xfrm>
          <a:prstGeom prst="rect">
            <a:avLst/>
          </a:prstGeom>
          <a:noFill/>
          <a:ln/>
        </p:spPr>
        <p:txBody>
          <a:bodyPr wrap="square" lIns="0" tIns="0" rIns="0" bIns="0" rtlCol="0" anchor="ctr"/>
          <a:lstStyle/>
          <a:p>
            <a:pPr marL="0" indent="0">
              <a:buNone/>
            </a:pPr>
            <a:r>
              <a:rPr lang="en-US" sz="950" b="1" kern="0" spc="140" dirty="0">
                <a:solidFill>
                  <a:srgbClr val="33357A"/>
                </a:solidFill>
                <a:latin typeface="Calibri" pitchFamily="34" charset="0"/>
                <a:ea typeface="Calibri" pitchFamily="34" charset="-122"/>
                <a:cs typeface="Calibri" pitchFamily="34" charset="-120"/>
              </a:rPr>
              <a:t>PIPELINE 1</a:t>
            </a:r>
            <a:endParaRPr lang="en-US" sz="950" dirty="0"/>
          </a:p>
        </p:txBody>
      </p:sp>
      <p:sp>
        <p:nvSpPr>
          <p:cNvPr id="6" name="Text 4"/>
          <p:cNvSpPr txBox="1"/>
          <p:nvPr/>
        </p:nvSpPr>
        <p:spPr>
          <a:xfrm>
            <a:off x="768096" y="2240280"/>
            <a:ext cx="2954426" cy="457200"/>
          </a:xfrm>
          <a:prstGeom prst="rect">
            <a:avLst/>
          </a:prstGeom>
          <a:noFill/>
          <a:ln/>
        </p:spPr>
        <p:txBody>
          <a:bodyPr wrap="square" lIns="0" tIns="0" rIns="0" bIns="0" rtlCol="0" anchor="t"/>
          <a:lstStyle/>
          <a:p>
            <a:pPr marL="0" indent="0">
              <a:lnSpc>
                <a:spcPct val="98000"/>
              </a:lnSpc>
              <a:buNone/>
            </a:pPr>
            <a:r>
              <a:rPr lang="en-US" sz="1600" b="1" dirty="0">
                <a:solidFill>
                  <a:srgbClr val="1B1D29"/>
                </a:solidFill>
                <a:latin typeface="Calibri" pitchFamily="34" charset="0"/>
                <a:ea typeface="Calibri" pitchFamily="34" charset="-122"/>
                <a:cs typeface="Calibri" pitchFamily="34" charset="-120"/>
              </a:rPr>
              <a:t>Text → sign (authored)</a:t>
            </a:r>
            <a:endParaRPr lang="en-US" sz="1600" dirty="0"/>
          </a:p>
        </p:txBody>
      </p:sp>
      <p:sp>
        <p:nvSpPr>
          <p:cNvPr id="7" name="Text 5"/>
          <p:cNvSpPr txBox="1"/>
          <p:nvPr/>
        </p:nvSpPr>
        <p:spPr>
          <a:xfrm>
            <a:off x="768096" y="2642616"/>
            <a:ext cx="2954426" cy="1261872"/>
          </a:xfrm>
          <a:prstGeom prst="rect">
            <a:avLst/>
          </a:prstGeom>
          <a:noFill/>
          <a:ln/>
        </p:spPr>
        <p:txBody>
          <a:bodyPr wrap="square" lIns="0" tIns="0" rIns="0" bIns="0" rtlCol="0" anchor="t"/>
          <a:lstStyle/>
          <a:p>
            <a:pPr marL="0" indent="0">
              <a:lnSpc>
                <a:spcPct val="102000"/>
              </a:lnSpc>
              <a:buNone/>
            </a:pPr>
            <a:r>
              <a:rPr lang="en-US" sz="1250" dirty="0">
                <a:solidFill>
                  <a:srgbClr val="5A5E76"/>
                </a:solidFill>
                <a:latin typeface="Calibri" pitchFamily="34" charset="0"/>
                <a:ea typeface="Calibri" pitchFamily="34" charset="-122"/>
                <a:cs typeface="Calibri" pitchFamily="34" charset="-120"/>
              </a:rPr>
              <a:t>Type English; a backend turns it into signs and the avatar plays hand-authored clips, fingerspelling anything unknown.</a:t>
            </a:r>
            <a:endParaRPr lang="en-US" sz="1250" dirty="0"/>
          </a:p>
        </p:txBody>
      </p:sp>
      <p:sp>
        <p:nvSpPr>
          <p:cNvPr id="8" name="Text 6"/>
          <p:cNvSpPr txBox="1"/>
          <p:nvPr/>
        </p:nvSpPr>
        <p:spPr>
          <a:xfrm>
            <a:off x="3996842" y="1783080"/>
            <a:ext cx="347472" cy="2286000"/>
          </a:xfrm>
          <a:prstGeom prst="rect">
            <a:avLst/>
          </a:prstGeom>
          <a:noFill/>
          <a:ln/>
        </p:spPr>
        <p:txBody>
          <a:bodyPr wrap="square" lIns="0" tIns="0" rIns="0" bIns="0" rtlCol="0" anchor="ctr"/>
          <a:lstStyle/>
          <a:p>
            <a:pPr marL="0" indent="0" algn="ctr">
              <a:buNone/>
            </a:pPr>
            <a:r>
              <a:rPr lang="en-US" sz="2600" b="1" dirty="0">
                <a:solidFill>
                  <a:srgbClr val="9A9EB2"/>
                </a:solidFill>
                <a:latin typeface="Calibri" pitchFamily="34" charset="0"/>
                <a:ea typeface="Calibri" pitchFamily="34" charset="-122"/>
                <a:cs typeface="Calibri" pitchFamily="34" charset="-120"/>
              </a:rPr>
              <a:t>→</a:t>
            </a:r>
            <a:endParaRPr lang="en-US" sz="2600" dirty="0"/>
          </a:p>
        </p:txBody>
      </p:sp>
      <p:sp>
        <p:nvSpPr>
          <p:cNvPr id="9" name="Shape 7"/>
          <p:cNvSpPr/>
          <p:nvPr/>
        </p:nvSpPr>
        <p:spPr>
          <a:xfrm>
            <a:off x="4399178" y="1783080"/>
            <a:ext cx="3393338" cy="2286000"/>
          </a:xfrm>
          <a:prstGeom prst="roundRect">
            <a:avLst>
              <a:gd name="adj" fmla="val 3600"/>
            </a:avLst>
          </a:prstGeom>
          <a:solidFill>
            <a:srgbClr val="F2F2F9"/>
          </a:solidFill>
          <a:ln/>
          <a:effectLst>
            <a:outerShdw blurRad="114300" dist="38100" dir="5400000" algn="bl" rotWithShape="0">
              <a:srgbClr val="9195AE">
                <a:alpha val="30000"/>
              </a:srgbClr>
            </a:outerShdw>
          </a:effectLst>
        </p:spPr>
      </p:sp>
      <p:sp>
        <p:nvSpPr>
          <p:cNvPr id="10" name="Text 8"/>
          <p:cNvSpPr txBox="1"/>
          <p:nvPr/>
        </p:nvSpPr>
        <p:spPr>
          <a:xfrm>
            <a:off x="4618634" y="1965960"/>
            <a:ext cx="2954426" cy="219456"/>
          </a:xfrm>
          <a:prstGeom prst="rect">
            <a:avLst/>
          </a:prstGeom>
          <a:noFill/>
          <a:ln/>
        </p:spPr>
        <p:txBody>
          <a:bodyPr wrap="square" lIns="0" tIns="0" rIns="0" bIns="0" rtlCol="0" anchor="ctr"/>
          <a:lstStyle/>
          <a:p>
            <a:pPr marL="0" indent="0">
              <a:buNone/>
            </a:pPr>
            <a:r>
              <a:rPr lang="en-US" sz="950" b="1" kern="0" spc="140" dirty="0">
                <a:solidFill>
                  <a:srgbClr val="2F7D6B"/>
                </a:solidFill>
                <a:latin typeface="Calibri" pitchFamily="34" charset="0"/>
                <a:ea typeface="Calibri" pitchFamily="34" charset="-122"/>
                <a:cs typeface="Calibri" pitchFamily="34" charset="-120"/>
              </a:rPr>
              <a:t>PIPELINE 3</a:t>
            </a:r>
            <a:endParaRPr lang="en-US" sz="950" dirty="0"/>
          </a:p>
        </p:txBody>
      </p:sp>
      <p:sp>
        <p:nvSpPr>
          <p:cNvPr id="11" name="Text 9"/>
          <p:cNvSpPr txBox="1"/>
          <p:nvPr/>
        </p:nvSpPr>
        <p:spPr>
          <a:xfrm>
            <a:off x="4618634" y="2240280"/>
            <a:ext cx="2954426" cy="457200"/>
          </a:xfrm>
          <a:prstGeom prst="rect">
            <a:avLst/>
          </a:prstGeom>
          <a:noFill/>
          <a:ln/>
        </p:spPr>
        <p:txBody>
          <a:bodyPr wrap="square" lIns="0" tIns="0" rIns="0" bIns="0" rtlCol="0" anchor="t"/>
          <a:lstStyle/>
          <a:p>
            <a:pPr marL="0" indent="0">
              <a:lnSpc>
                <a:spcPct val="98000"/>
              </a:lnSpc>
              <a:buNone/>
            </a:pPr>
            <a:r>
              <a:rPr lang="en-US" sz="1600" b="1" dirty="0">
                <a:solidFill>
                  <a:srgbClr val="1B1D29"/>
                </a:solidFill>
                <a:latin typeface="Calibri" pitchFamily="34" charset="0"/>
                <a:ea typeface="Calibri" pitchFamily="34" charset="-122"/>
                <a:cs typeface="Calibri" pitchFamily="34" charset="-120"/>
              </a:rPr>
              <a:t>Video → skeleton</a:t>
            </a:r>
            <a:endParaRPr lang="en-US" sz="1600" dirty="0"/>
          </a:p>
        </p:txBody>
      </p:sp>
      <p:sp>
        <p:nvSpPr>
          <p:cNvPr id="12" name="Text 10"/>
          <p:cNvSpPr txBox="1"/>
          <p:nvPr/>
        </p:nvSpPr>
        <p:spPr>
          <a:xfrm>
            <a:off x="4618634" y="2642616"/>
            <a:ext cx="2954426" cy="1261872"/>
          </a:xfrm>
          <a:prstGeom prst="rect">
            <a:avLst/>
          </a:prstGeom>
          <a:noFill/>
          <a:ln/>
        </p:spPr>
        <p:txBody>
          <a:bodyPr wrap="square" lIns="0" tIns="0" rIns="0" bIns="0" rtlCol="0" anchor="t"/>
          <a:lstStyle/>
          <a:p>
            <a:pPr marL="0" indent="0">
              <a:lnSpc>
                <a:spcPct val="102000"/>
              </a:lnSpc>
              <a:buNone/>
            </a:pPr>
            <a:r>
              <a:rPr lang="en-US" sz="1250" dirty="0">
                <a:solidFill>
                  <a:srgbClr val="5A5E76"/>
                </a:solidFill>
                <a:latin typeface="Calibri" pitchFamily="34" charset="0"/>
                <a:ea typeface="Calibri" pitchFamily="34" charset="-122"/>
                <a:cs typeface="Calibri" pitchFamily="34" charset="-120"/>
              </a:rPr>
              <a:t>Drop in an ISL video; MediaPipe extracts the motion and retargets it live onto the avatar. This feeds Pipeline 2.</a:t>
            </a:r>
            <a:endParaRPr lang="en-US" sz="1250" dirty="0"/>
          </a:p>
        </p:txBody>
      </p:sp>
      <p:sp>
        <p:nvSpPr>
          <p:cNvPr id="13" name="Text 11"/>
          <p:cNvSpPr txBox="1"/>
          <p:nvPr/>
        </p:nvSpPr>
        <p:spPr>
          <a:xfrm>
            <a:off x="7847381" y="1783080"/>
            <a:ext cx="347472" cy="2286000"/>
          </a:xfrm>
          <a:prstGeom prst="rect">
            <a:avLst/>
          </a:prstGeom>
          <a:noFill/>
          <a:ln/>
        </p:spPr>
        <p:txBody>
          <a:bodyPr wrap="square" lIns="0" tIns="0" rIns="0" bIns="0" rtlCol="0" anchor="ctr"/>
          <a:lstStyle/>
          <a:p>
            <a:pPr marL="0" indent="0" algn="ctr">
              <a:buNone/>
            </a:pPr>
            <a:r>
              <a:rPr lang="en-US" sz="2600" b="1" dirty="0">
                <a:solidFill>
                  <a:srgbClr val="9A9EB2"/>
                </a:solidFill>
                <a:latin typeface="Calibri" pitchFamily="34" charset="0"/>
                <a:ea typeface="Calibri" pitchFamily="34" charset="-122"/>
                <a:cs typeface="Calibri" pitchFamily="34" charset="-120"/>
              </a:rPr>
              <a:t>→</a:t>
            </a:r>
            <a:endParaRPr lang="en-US" sz="2600" dirty="0"/>
          </a:p>
        </p:txBody>
      </p:sp>
      <p:sp>
        <p:nvSpPr>
          <p:cNvPr id="14" name="Shape 12"/>
          <p:cNvSpPr/>
          <p:nvPr/>
        </p:nvSpPr>
        <p:spPr>
          <a:xfrm>
            <a:off x="8249717" y="1783080"/>
            <a:ext cx="3393338" cy="2286000"/>
          </a:xfrm>
          <a:prstGeom prst="roundRect">
            <a:avLst>
              <a:gd name="adj" fmla="val 3600"/>
            </a:avLst>
          </a:prstGeom>
          <a:solidFill>
            <a:srgbClr val="F2F2F9"/>
          </a:solidFill>
          <a:ln/>
          <a:effectLst>
            <a:outerShdw blurRad="114300" dist="38100" dir="5400000" algn="bl" rotWithShape="0">
              <a:srgbClr val="9195AE">
                <a:alpha val="30000"/>
              </a:srgbClr>
            </a:outerShdw>
          </a:effectLst>
        </p:spPr>
      </p:sp>
      <p:sp>
        <p:nvSpPr>
          <p:cNvPr id="15" name="Text 13"/>
          <p:cNvSpPr txBox="1"/>
          <p:nvPr/>
        </p:nvSpPr>
        <p:spPr>
          <a:xfrm>
            <a:off x="8469173" y="1965960"/>
            <a:ext cx="2954426" cy="219456"/>
          </a:xfrm>
          <a:prstGeom prst="rect">
            <a:avLst/>
          </a:prstGeom>
          <a:noFill/>
          <a:ln/>
        </p:spPr>
        <p:txBody>
          <a:bodyPr wrap="square" lIns="0" tIns="0" rIns="0" bIns="0" rtlCol="0" anchor="ctr"/>
          <a:lstStyle/>
          <a:p>
            <a:pPr marL="0" indent="0">
              <a:buNone/>
            </a:pPr>
            <a:r>
              <a:rPr lang="en-US" sz="950" b="1" kern="0" spc="140" dirty="0">
                <a:solidFill>
                  <a:srgbClr val="B06712"/>
                </a:solidFill>
                <a:latin typeface="Calibri" pitchFamily="34" charset="0"/>
                <a:ea typeface="Calibri" pitchFamily="34" charset="-122"/>
                <a:cs typeface="Calibri" pitchFamily="34" charset="-120"/>
              </a:rPr>
              <a:t>PIPELINE 2</a:t>
            </a:r>
            <a:endParaRPr lang="en-US" sz="950" dirty="0"/>
          </a:p>
        </p:txBody>
      </p:sp>
      <p:sp>
        <p:nvSpPr>
          <p:cNvPr id="16" name="Text 14"/>
          <p:cNvSpPr txBox="1"/>
          <p:nvPr/>
        </p:nvSpPr>
        <p:spPr>
          <a:xfrm>
            <a:off x="8469173" y="2240280"/>
            <a:ext cx="2954426" cy="457200"/>
          </a:xfrm>
          <a:prstGeom prst="rect">
            <a:avLst/>
          </a:prstGeom>
          <a:noFill/>
          <a:ln/>
        </p:spPr>
        <p:txBody>
          <a:bodyPr wrap="square" lIns="0" tIns="0" rIns="0" bIns="0" rtlCol="0" anchor="t"/>
          <a:lstStyle/>
          <a:p>
            <a:pPr marL="0" indent="0">
              <a:lnSpc>
                <a:spcPct val="98000"/>
              </a:lnSpc>
              <a:buNone/>
            </a:pPr>
            <a:r>
              <a:rPr lang="en-US" sz="1600" b="1" dirty="0">
                <a:solidFill>
                  <a:srgbClr val="1B1D29"/>
                </a:solidFill>
                <a:latin typeface="Calibri" pitchFamily="34" charset="0"/>
                <a:ea typeface="Calibri" pitchFamily="34" charset="-122"/>
                <a:cs typeface="Calibri" pitchFamily="34" charset="-120"/>
              </a:rPr>
              <a:t>Text → sign (captured)</a:t>
            </a:r>
            <a:endParaRPr lang="en-US" sz="1600" dirty="0"/>
          </a:p>
        </p:txBody>
      </p:sp>
      <p:sp>
        <p:nvSpPr>
          <p:cNvPr id="17" name="Text 15"/>
          <p:cNvSpPr txBox="1"/>
          <p:nvPr/>
        </p:nvSpPr>
        <p:spPr>
          <a:xfrm>
            <a:off x="8469173" y="2642616"/>
            <a:ext cx="2954426" cy="1261872"/>
          </a:xfrm>
          <a:prstGeom prst="rect">
            <a:avLst/>
          </a:prstGeom>
          <a:noFill/>
          <a:ln/>
        </p:spPr>
        <p:txBody>
          <a:bodyPr wrap="square" lIns="0" tIns="0" rIns="0" bIns="0" rtlCol="0" anchor="t"/>
          <a:lstStyle/>
          <a:p>
            <a:pPr marL="0" indent="0">
              <a:lnSpc>
                <a:spcPct val="102000"/>
              </a:lnSpc>
              <a:buNone/>
            </a:pPr>
            <a:r>
              <a:rPr lang="en-US" sz="1250" dirty="0">
                <a:solidFill>
                  <a:srgbClr val="5A5E76"/>
                </a:solidFill>
                <a:latin typeface="Calibri" pitchFamily="34" charset="0"/>
                <a:ea typeface="Calibri" pitchFamily="34" charset="-122"/>
                <a:cs typeface="Calibri" pitchFamily="34" charset="-120"/>
              </a:rPr>
              <a:t>Same avatar and text bar, but every sign is real motion captured from video — no hand-animation at all.</a:t>
            </a:r>
            <a:endParaRPr lang="en-US" sz="1250" dirty="0"/>
          </a:p>
        </p:txBody>
      </p:sp>
      <p:sp>
        <p:nvSpPr>
          <p:cNvPr id="18" name="Shape 16"/>
          <p:cNvSpPr/>
          <p:nvPr/>
        </p:nvSpPr>
        <p:spPr>
          <a:xfrm>
            <a:off x="548640" y="4297680"/>
            <a:ext cx="5410048" cy="1417320"/>
          </a:xfrm>
          <a:prstGeom prst="roundRect">
            <a:avLst>
              <a:gd name="adj" fmla="val 5806"/>
            </a:avLst>
          </a:prstGeom>
          <a:solidFill>
            <a:srgbClr val="F2F2F9"/>
          </a:solidFill>
          <a:ln/>
          <a:effectLst>
            <a:outerShdw blurRad="114300" dist="38100" dir="5400000" algn="bl" rotWithShape="0">
              <a:srgbClr val="9195AE">
                <a:alpha val="30000"/>
              </a:srgbClr>
            </a:outerShdw>
          </a:effectLst>
        </p:spPr>
      </p:sp>
      <p:sp>
        <p:nvSpPr>
          <p:cNvPr id="19" name="Text 17"/>
          <p:cNvSpPr txBox="1"/>
          <p:nvPr/>
        </p:nvSpPr>
        <p:spPr>
          <a:xfrm>
            <a:off x="768096" y="4480560"/>
            <a:ext cx="4971136" cy="219456"/>
          </a:xfrm>
          <a:prstGeom prst="rect">
            <a:avLst/>
          </a:prstGeom>
          <a:noFill/>
          <a:ln/>
        </p:spPr>
        <p:txBody>
          <a:bodyPr wrap="square" lIns="0" tIns="0" rIns="0" bIns="0" rtlCol="0" anchor="ctr"/>
          <a:lstStyle/>
          <a:p>
            <a:pPr marL="0" indent="0">
              <a:buNone/>
            </a:pPr>
            <a:r>
              <a:rPr lang="en-US" sz="950" b="1" kern="0" spc="140" dirty="0">
                <a:solidFill>
                  <a:srgbClr val="33357A"/>
                </a:solidFill>
                <a:latin typeface="Calibri" pitchFamily="34" charset="0"/>
                <a:ea typeface="Calibri" pitchFamily="34" charset="-122"/>
                <a:cs typeface="Calibri" pitchFamily="34" charset="-120"/>
              </a:rPr>
              <a:t>SHARED FRONTEND</a:t>
            </a:r>
            <a:endParaRPr lang="en-US" sz="950" dirty="0"/>
          </a:p>
        </p:txBody>
      </p:sp>
      <p:sp>
        <p:nvSpPr>
          <p:cNvPr id="20" name="Text 18"/>
          <p:cNvSpPr txBox="1"/>
          <p:nvPr/>
        </p:nvSpPr>
        <p:spPr>
          <a:xfrm>
            <a:off x="768096" y="4754880"/>
            <a:ext cx="4971136" cy="795528"/>
          </a:xfrm>
          <a:prstGeom prst="rect">
            <a:avLst/>
          </a:prstGeom>
          <a:noFill/>
          <a:ln/>
        </p:spPr>
        <p:txBody>
          <a:bodyPr wrap="square" lIns="0" tIns="0" rIns="0" bIns="0" rtlCol="0" anchor="t"/>
          <a:lstStyle/>
          <a:p>
            <a:pPr marL="0" indent="0">
              <a:lnSpc>
                <a:spcPct val="102000"/>
              </a:lnSpc>
              <a:buNone/>
            </a:pPr>
            <a:r>
              <a:rPr lang="en-US" sz="1300" dirty="0">
                <a:solidFill>
                  <a:srgbClr val="5A5E76"/>
                </a:solidFill>
                <a:latin typeface="Calibri" pitchFamily="34" charset="0"/>
                <a:ea typeface="Calibri" pitchFamily="34" charset="-122"/>
                <a:cs typeface="Calibri" pitchFamily="34" charset="-120"/>
              </a:rPr>
              <a:t>One three.js + VRM avatar renderer (TypeScript / React / Vite) serves every page — browser and phone alike.</a:t>
            </a:r>
            <a:endParaRPr lang="en-US" sz="1300" dirty="0"/>
          </a:p>
        </p:txBody>
      </p:sp>
      <p:sp>
        <p:nvSpPr>
          <p:cNvPr id="21" name="Shape 19"/>
          <p:cNvSpPr/>
          <p:nvPr/>
        </p:nvSpPr>
        <p:spPr>
          <a:xfrm>
            <a:off x="6233008" y="4297680"/>
            <a:ext cx="5410048" cy="1417320"/>
          </a:xfrm>
          <a:prstGeom prst="roundRect">
            <a:avLst>
              <a:gd name="adj" fmla="val 5806"/>
            </a:avLst>
          </a:prstGeom>
          <a:solidFill>
            <a:srgbClr val="F2F2F9"/>
          </a:solidFill>
          <a:ln/>
          <a:effectLst>
            <a:outerShdw blurRad="114300" dist="38100" dir="5400000" algn="bl" rotWithShape="0">
              <a:srgbClr val="9195AE">
                <a:alpha val="30000"/>
              </a:srgbClr>
            </a:outerShdw>
          </a:effectLst>
        </p:spPr>
      </p:sp>
      <p:sp>
        <p:nvSpPr>
          <p:cNvPr id="22" name="Text 20"/>
          <p:cNvSpPr txBox="1"/>
          <p:nvPr/>
        </p:nvSpPr>
        <p:spPr>
          <a:xfrm>
            <a:off x="6452464" y="4480560"/>
            <a:ext cx="4971136" cy="219456"/>
          </a:xfrm>
          <a:prstGeom prst="rect">
            <a:avLst/>
          </a:prstGeom>
          <a:noFill/>
          <a:ln/>
        </p:spPr>
        <p:txBody>
          <a:bodyPr wrap="square" lIns="0" tIns="0" rIns="0" bIns="0" rtlCol="0" anchor="ctr"/>
          <a:lstStyle/>
          <a:p>
            <a:pPr marL="0" indent="0">
              <a:buNone/>
            </a:pPr>
            <a:r>
              <a:rPr lang="en-US" sz="950" b="1" kern="0" spc="140" dirty="0">
                <a:solidFill>
                  <a:srgbClr val="B06712"/>
                </a:solidFill>
                <a:latin typeface="Calibri" pitchFamily="34" charset="0"/>
                <a:ea typeface="Calibri" pitchFamily="34" charset="-122"/>
                <a:cs typeface="Calibri" pitchFamily="34" charset="-120"/>
              </a:rPr>
              <a:t>NEWER LAYER ON TOP</a:t>
            </a:r>
            <a:endParaRPr lang="en-US" sz="950" dirty="0"/>
          </a:p>
        </p:txBody>
      </p:sp>
      <p:sp>
        <p:nvSpPr>
          <p:cNvPr id="23" name="Text 21"/>
          <p:cNvSpPr txBox="1"/>
          <p:nvPr/>
        </p:nvSpPr>
        <p:spPr>
          <a:xfrm>
            <a:off x="6452464" y="4754880"/>
            <a:ext cx="4971136" cy="795528"/>
          </a:xfrm>
          <a:prstGeom prst="rect">
            <a:avLst/>
          </a:prstGeom>
          <a:noFill/>
          <a:ln/>
        </p:spPr>
        <p:txBody>
          <a:bodyPr wrap="square" lIns="0" tIns="0" rIns="0" bIns="0" rtlCol="0" anchor="t"/>
          <a:lstStyle/>
          <a:p>
            <a:pPr marL="0" indent="0">
              <a:lnSpc>
                <a:spcPct val="102000"/>
              </a:lnSpc>
              <a:buNone/>
            </a:pPr>
            <a:r>
              <a:rPr lang="en-US" sz="1300" dirty="0">
                <a:solidFill>
                  <a:srgbClr val="5A5E76"/>
                </a:solidFill>
                <a:latin typeface="Calibri" pitchFamily="34" charset="0"/>
                <a:ea typeface="Calibri" pitchFamily="34" charset="-122"/>
                <a:cs typeface="Calibri" pitchFamily="34" charset="-120"/>
              </a:rPr>
              <a:t>A speech path and a lecture pipeline (Whisper + speaker detection) feed the same signing path from voice and video.</a:t>
            </a:r>
            <a:endParaRPr lang="en-US" sz="1300" dirty="0"/>
          </a:p>
        </p:txBody>
      </p:sp>
      <p:sp>
        <p:nvSpPr>
          <p:cNvPr id="24" name="Text 22"/>
          <p:cNvSpPr txBox="1"/>
          <p:nvPr/>
        </p:nvSpPr>
        <p:spPr>
          <a:xfrm>
            <a:off x="548640" y="6473952"/>
            <a:ext cx="4572000" cy="274320"/>
          </a:xfrm>
          <a:prstGeom prst="rect">
            <a:avLst/>
          </a:prstGeom>
          <a:noFill/>
          <a:ln/>
        </p:spPr>
        <p:txBody>
          <a:bodyPr wrap="square" lIns="0" tIns="0" rIns="0" bIns="0" rtlCol="0" anchor="ctr"/>
          <a:lstStyle/>
          <a:p>
            <a:pPr marL="0" indent="0">
              <a:buNone/>
            </a:pPr>
            <a:r>
              <a:rPr lang="en-US" sz="900" dirty="0">
                <a:solidFill>
                  <a:srgbClr val="9A9EB2"/>
                </a:solidFill>
                <a:latin typeface="Calibri" pitchFamily="34" charset="0"/>
                <a:ea typeface="Calibri" pitchFamily="34" charset="-122"/>
                <a:cs typeface="Calibri" pitchFamily="34" charset="-120"/>
              </a:rPr>
              <a:t>AvatarEngine · ISL</a:t>
            </a:r>
            <a:endParaRPr lang="en-US" sz="900" dirty="0"/>
          </a:p>
        </p:txBody>
      </p:sp>
      <p:sp>
        <p:nvSpPr>
          <p:cNvPr id="25" name="Text 23"/>
          <p:cNvSpPr txBox="1"/>
          <p:nvPr/>
        </p:nvSpPr>
        <p:spPr>
          <a:xfrm>
            <a:off x="11094415" y="6473952"/>
            <a:ext cx="548640" cy="274320"/>
          </a:xfrm>
          <a:prstGeom prst="rect">
            <a:avLst/>
          </a:prstGeom>
          <a:noFill/>
          <a:ln/>
        </p:spPr>
        <p:txBody>
          <a:bodyPr wrap="square" lIns="0" tIns="0" rIns="0" bIns="0" rtlCol="0" anchor="ctr"/>
          <a:lstStyle/>
          <a:p>
            <a:pPr marL="0" indent="0" algn="r">
              <a:buNone/>
            </a:pPr>
            <a:r>
              <a:rPr lang="en-US" sz="900" dirty="0">
                <a:solidFill>
                  <a:srgbClr val="9A9EB2"/>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02336"/>
            <a:ext cx="11094415" cy="274320"/>
          </a:xfrm>
          <a:prstGeom prst="rect">
            <a:avLst/>
          </a:prstGeom>
          <a:noFill/>
          <a:ln/>
        </p:spPr>
        <p:txBody>
          <a:bodyPr wrap="square" lIns="0" tIns="0" rIns="0" bIns="0" rtlCol="0" anchor="ctr"/>
          <a:lstStyle/>
          <a:p>
            <a:pPr marL="0" indent="0">
              <a:buNone/>
            </a:pPr>
            <a:r>
              <a:rPr lang="en-US" sz="1150" b="1" kern="0" spc="200" dirty="0">
                <a:solidFill>
                  <a:srgbClr val="B06712"/>
                </a:solidFill>
                <a:latin typeface="Calibri" pitchFamily="34" charset="0"/>
                <a:ea typeface="Calibri" pitchFamily="34" charset="-122"/>
                <a:cs typeface="Calibri" pitchFamily="34" charset="-120"/>
              </a:rPr>
              <a:t>THE EVOLUTION — THE SPINE OF THE PROJECT</a:t>
            </a:r>
            <a:endParaRPr lang="en-US" sz="1150" dirty="0"/>
          </a:p>
        </p:txBody>
      </p:sp>
      <p:sp>
        <p:nvSpPr>
          <p:cNvPr id="3" name="Text 1"/>
          <p:cNvSpPr txBox="1"/>
          <p:nvPr/>
        </p:nvSpPr>
        <p:spPr>
          <a:xfrm>
            <a:off x="548640" y="694944"/>
            <a:ext cx="11094415" cy="914400"/>
          </a:xfrm>
          <a:prstGeom prst="rect">
            <a:avLst/>
          </a:prstGeom>
          <a:noFill/>
          <a:ln/>
        </p:spPr>
        <p:txBody>
          <a:bodyPr wrap="square" lIns="0" tIns="0" rIns="0" bIns="0" rtlCol="0" anchor="ctr"/>
          <a:lstStyle/>
          <a:p>
            <a:pPr marL="0" indent="0">
              <a:lnSpc>
                <a:spcPct val="98000"/>
              </a:lnSpc>
              <a:buNone/>
            </a:pPr>
            <a:r>
              <a:rPr lang="en-US" sz="2900" b="1" dirty="0">
                <a:solidFill>
                  <a:srgbClr val="1B1D29"/>
                </a:solidFill>
                <a:latin typeface="Calibri" pitchFamily="34" charset="0"/>
                <a:ea typeface="Calibri" pitchFamily="34" charset="-122"/>
                <a:cs typeface="Calibri" pitchFamily="34" charset="-120"/>
              </a:rPr>
              <a:t>Each step broke the ceiling of the one before it.</a:t>
            </a:r>
            <a:endParaRPr lang="en-US" sz="2900" dirty="0"/>
          </a:p>
        </p:txBody>
      </p:sp>
      <p:sp>
        <p:nvSpPr>
          <p:cNvPr id="4" name="Shape 2"/>
          <p:cNvSpPr/>
          <p:nvPr/>
        </p:nvSpPr>
        <p:spPr>
          <a:xfrm>
            <a:off x="548640" y="1746504"/>
            <a:ext cx="457200" cy="457200"/>
          </a:xfrm>
          <a:prstGeom prst="ellipse">
            <a:avLst/>
          </a:prstGeom>
          <a:solidFill>
            <a:srgbClr val="33357A"/>
          </a:solidFill>
          <a:ln/>
        </p:spPr>
      </p:sp>
      <p:sp>
        <p:nvSpPr>
          <p:cNvPr id="5" name="Text 3"/>
          <p:cNvSpPr txBox="1"/>
          <p:nvPr/>
        </p:nvSpPr>
        <p:spPr>
          <a:xfrm>
            <a:off x="548640" y="1746504"/>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txBox="1"/>
          <p:nvPr/>
        </p:nvSpPr>
        <p:spPr>
          <a:xfrm>
            <a:off x="1234440" y="1691640"/>
            <a:ext cx="10408615" cy="310896"/>
          </a:xfrm>
          <a:prstGeom prst="rect">
            <a:avLst/>
          </a:prstGeom>
          <a:noFill/>
          <a:ln/>
        </p:spPr>
        <p:txBody>
          <a:bodyPr wrap="square" lIns="0" tIns="0" rIns="0" bIns="0" rtlCol="0" anchor="ctr"/>
          <a:lstStyle/>
          <a:p>
            <a:pPr marL="0" indent="0">
              <a:buNone/>
            </a:pPr>
            <a:r>
              <a:rPr lang="en-US" sz="1550" b="1" dirty="0">
                <a:solidFill>
                  <a:srgbClr val="1B1D29"/>
                </a:solidFill>
                <a:latin typeface="Calibri" pitchFamily="34" charset="0"/>
                <a:ea typeface="Calibri" pitchFamily="34" charset="-122"/>
                <a:cs typeface="Calibri" pitchFamily="34" charset="-120"/>
              </a:rPr>
              <a:t>Hand-authored signs</a:t>
            </a:r>
            <a:endParaRPr lang="en-US" sz="1550" dirty="0"/>
          </a:p>
        </p:txBody>
      </p:sp>
      <p:sp>
        <p:nvSpPr>
          <p:cNvPr id="7" name="Text 5"/>
          <p:cNvSpPr txBox="1"/>
          <p:nvPr/>
        </p:nvSpPr>
        <p:spPr>
          <a:xfrm>
            <a:off x="1234440" y="2002536"/>
            <a:ext cx="10408615" cy="457200"/>
          </a:xfrm>
          <a:prstGeom prst="rect">
            <a:avLst/>
          </a:prstGeom>
          <a:noFill/>
          <a:ln/>
        </p:spPr>
        <p:txBody>
          <a:bodyPr wrap="square" lIns="0" tIns="0" rIns="0" bIns="0" rtlCol="0" anchor="t"/>
          <a:lstStyle/>
          <a:p>
            <a:pPr marL="0" indent="0">
              <a:lnSpc>
                <a:spcPct val="100000"/>
              </a:lnSpc>
              <a:buNone/>
            </a:pPr>
            <a:r>
              <a:rPr lang="en-US" sz="1250" dirty="0">
                <a:solidFill>
                  <a:srgbClr val="5A5E76"/>
                </a:solidFill>
                <a:latin typeface="Calibri" pitchFamily="34" charset="0"/>
                <a:ea typeface="Calibri" pitchFamily="34" charset="-122"/>
                <a:cs typeface="Calibri" pitchFamily="34" charset="-120"/>
              </a:rPr>
              <a:t>Animate each sign by hand; spell unknown words letter by letter.</a:t>
            </a:r>
            <a:r>
              <a:rPr lang="en-US" sz="1250" i="1" dirty="0">
                <a:solidFill>
                  <a:srgbClr val="B06712"/>
                </a:solidFill>
                <a:latin typeface="Calibri" pitchFamily="34" charset="0"/>
                <a:ea typeface="Calibri" pitchFamily="34" charset="-122"/>
                <a:cs typeface="Calibri" pitchFamily="34" charset="-120"/>
              </a:rPr>
              <a:t>   → doesn’t scale, and looks artificial</a:t>
            </a:r>
            <a:endParaRPr lang="en-US" sz="1250" dirty="0"/>
          </a:p>
        </p:txBody>
      </p:sp>
      <p:sp>
        <p:nvSpPr>
          <p:cNvPr id="8" name="Shape 6"/>
          <p:cNvSpPr/>
          <p:nvPr/>
        </p:nvSpPr>
        <p:spPr>
          <a:xfrm>
            <a:off x="777240" y="2221992"/>
            <a:ext cx="0" cy="484632"/>
          </a:xfrm>
          <a:prstGeom prst="line">
            <a:avLst/>
          </a:prstGeom>
          <a:noFill/>
          <a:ln w="19050">
            <a:solidFill>
              <a:srgbClr val="D8D9E6"/>
            </a:solidFill>
            <a:prstDash val="solid"/>
          </a:ln>
        </p:spPr>
      </p:sp>
      <p:sp>
        <p:nvSpPr>
          <p:cNvPr id="9" name="Shape 7"/>
          <p:cNvSpPr/>
          <p:nvPr/>
        </p:nvSpPr>
        <p:spPr>
          <a:xfrm>
            <a:off x="548640" y="2688336"/>
            <a:ext cx="457200" cy="457200"/>
          </a:xfrm>
          <a:prstGeom prst="ellipse">
            <a:avLst/>
          </a:prstGeom>
          <a:solidFill>
            <a:srgbClr val="33357A"/>
          </a:solidFill>
          <a:ln/>
        </p:spPr>
      </p:sp>
      <p:sp>
        <p:nvSpPr>
          <p:cNvPr id="10" name="Text 8"/>
          <p:cNvSpPr txBox="1"/>
          <p:nvPr/>
        </p:nvSpPr>
        <p:spPr>
          <a:xfrm>
            <a:off x="548640" y="2688336"/>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9"/>
          <p:cNvSpPr txBox="1"/>
          <p:nvPr/>
        </p:nvSpPr>
        <p:spPr>
          <a:xfrm>
            <a:off x="1234440" y="2633472"/>
            <a:ext cx="10408615" cy="310896"/>
          </a:xfrm>
          <a:prstGeom prst="rect">
            <a:avLst/>
          </a:prstGeom>
          <a:noFill/>
          <a:ln/>
        </p:spPr>
        <p:txBody>
          <a:bodyPr wrap="square" lIns="0" tIns="0" rIns="0" bIns="0" rtlCol="0" anchor="ctr"/>
          <a:lstStyle/>
          <a:p>
            <a:pPr marL="0" indent="0">
              <a:buNone/>
            </a:pPr>
            <a:r>
              <a:rPr lang="en-US" sz="1550" b="1" dirty="0">
                <a:solidFill>
                  <a:srgbClr val="1B1D29"/>
                </a:solidFill>
                <a:latin typeface="Calibri" pitchFamily="34" charset="0"/>
                <a:ea typeface="Calibri" pitchFamily="34" charset="-122"/>
                <a:cs typeface="Calibri" pitchFamily="34" charset="-120"/>
              </a:rPr>
              <a:t>Motion capture from video</a:t>
            </a:r>
            <a:endParaRPr lang="en-US" sz="1550" dirty="0"/>
          </a:p>
        </p:txBody>
      </p:sp>
      <p:sp>
        <p:nvSpPr>
          <p:cNvPr id="12" name="Text 10"/>
          <p:cNvSpPr txBox="1"/>
          <p:nvPr/>
        </p:nvSpPr>
        <p:spPr>
          <a:xfrm>
            <a:off x="1234440" y="2944368"/>
            <a:ext cx="10408615" cy="457200"/>
          </a:xfrm>
          <a:prstGeom prst="rect">
            <a:avLst/>
          </a:prstGeom>
          <a:noFill/>
          <a:ln/>
        </p:spPr>
        <p:txBody>
          <a:bodyPr wrap="square" lIns="0" tIns="0" rIns="0" bIns="0" rtlCol="0" anchor="t"/>
          <a:lstStyle/>
          <a:p>
            <a:pPr marL="0" indent="0">
              <a:lnSpc>
                <a:spcPct val="100000"/>
              </a:lnSpc>
              <a:buNone/>
            </a:pPr>
            <a:r>
              <a:rPr lang="en-US" sz="1250" dirty="0">
                <a:solidFill>
                  <a:srgbClr val="5A5E76"/>
                </a:solidFill>
                <a:latin typeface="Calibri" pitchFamily="34" charset="0"/>
                <a:ea typeface="Calibri" pitchFamily="34" charset="-122"/>
                <a:cs typeface="Calibri" pitchFamily="34" charset="-120"/>
              </a:rPr>
              <a:t>Extract real signing motion with MediaPipe and retarget it onto the avatar.</a:t>
            </a:r>
            <a:r>
              <a:rPr lang="en-US" sz="1250" i="1" dirty="0">
                <a:solidFill>
                  <a:srgbClr val="B06712"/>
                </a:solidFill>
                <a:latin typeface="Calibri" pitchFamily="34" charset="0"/>
                <a:ea typeface="Calibri" pitchFamily="34" charset="-122"/>
                <a:cs typeface="Calibri" pitchFamily="34" charset="-120"/>
              </a:rPr>
              <a:t>   → one take is noisy, and it’s one signer</a:t>
            </a:r>
            <a:endParaRPr lang="en-US" sz="1250" dirty="0"/>
          </a:p>
        </p:txBody>
      </p:sp>
      <p:sp>
        <p:nvSpPr>
          <p:cNvPr id="13" name="Shape 11"/>
          <p:cNvSpPr/>
          <p:nvPr/>
        </p:nvSpPr>
        <p:spPr>
          <a:xfrm>
            <a:off x="777240" y="3163824"/>
            <a:ext cx="0" cy="484632"/>
          </a:xfrm>
          <a:prstGeom prst="line">
            <a:avLst/>
          </a:prstGeom>
          <a:noFill/>
          <a:ln w="19050">
            <a:solidFill>
              <a:srgbClr val="D8D9E6"/>
            </a:solidFill>
            <a:prstDash val="solid"/>
          </a:ln>
        </p:spPr>
      </p:sp>
      <p:sp>
        <p:nvSpPr>
          <p:cNvPr id="14" name="Shape 12"/>
          <p:cNvSpPr/>
          <p:nvPr/>
        </p:nvSpPr>
        <p:spPr>
          <a:xfrm>
            <a:off x="548640" y="3630168"/>
            <a:ext cx="457200" cy="457200"/>
          </a:xfrm>
          <a:prstGeom prst="ellipse">
            <a:avLst/>
          </a:prstGeom>
          <a:solidFill>
            <a:srgbClr val="33357A"/>
          </a:solidFill>
          <a:ln/>
        </p:spPr>
      </p:sp>
      <p:sp>
        <p:nvSpPr>
          <p:cNvPr id="15" name="Text 13"/>
          <p:cNvSpPr txBox="1"/>
          <p:nvPr/>
        </p:nvSpPr>
        <p:spPr>
          <a:xfrm>
            <a:off x="548640" y="3630168"/>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6" name="Text 14"/>
          <p:cNvSpPr txBox="1"/>
          <p:nvPr/>
        </p:nvSpPr>
        <p:spPr>
          <a:xfrm>
            <a:off x="1234440" y="3575304"/>
            <a:ext cx="10408615" cy="310896"/>
          </a:xfrm>
          <a:prstGeom prst="rect">
            <a:avLst/>
          </a:prstGeom>
          <a:noFill/>
          <a:ln/>
        </p:spPr>
        <p:txBody>
          <a:bodyPr wrap="square" lIns="0" tIns="0" rIns="0" bIns="0" rtlCol="0" anchor="ctr"/>
          <a:lstStyle/>
          <a:p>
            <a:pPr marL="0" indent="0">
              <a:buNone/>
            </a:pPr>
            <a:r>
              <a:rPr lang="en-US" sz="1550" b="1" dirty="0">
                <a:solidFill>
                  <a:srgbClr val="1B1D29"/>
                </a:solidFill>
                <a:latin typeface="Calibri" pitchFamily="34" charset="0"/>
                <a:ea typeface="Calibri" pitchFamily="34" charset="-122"/>
                <a:cs typeface="Calibri" pitchFamily="34" charset="-120"/>
              </a:rPr>
              <a:t>ML averaging — many takes → one canonical motion</a:t>
            </a:r>
            <a:endParaRPr lang="en-US" sz="1550" dirty="0"/>
          </a:p>
        </p:txBody>
      </p:sp>
      <p:sp>
        <p:nvSpPr>
          <p:cNvPr id="17" name="Text 15"/>
          <p:cNvSpPr txBox="1"/>
          <p:nvPr/>
        </p:nvSpPr>
        <p:spPr>
          <a:xfrm>
            <a:off x="1234440" y="3886200"/>
            <a:ext cx="10408615" cy="457200"/>
          </a:xfrm>
          <a:prstGeom prst="rect">
            <a:avLst/>
          </a:prstGeom>
          <a:noFill/>
          <a:ln/>
        </p:spPr>
        <p:txBody>
          <a:bodyPr wrap="square" lIns="0" tIns="0" rIns="0" bIns="0" rtlCol="0" anchor="t"/>
          <a:lstStyle/>
          <a:p>
            <a:pPr marL="0" indent="0">
              <a:lnSpc>
                <a:spcPct val="100000"/>
              </a:lnSpc>
              <a:buNone/>
            </a:pPr>
            <a:r>
              <a:rPr lang="en-US" sz="1250" dirty="0">
                <a:solidFill>
                  <a:srgbClr val="5A5E76"/>
                </a:solidFill>
                <a:latin typeface="Calibri" pitchFamily="34" charset="0"/>
                <a:ea typeface="Calibri" pitchFamily="34" charset="-122"/>
                <a:cs typeface="Calibri" pitchFamily="34" charset="-120"/>
              </a:rPr>
              <a:t>Record many takes and compute the single motion that best represents them all.</a:t>
            </a:r>
            <a:r>
              <a:rPr lang="en-US" sz="1250" i="1" dirty="0">
                <a:solidFill>
                  <a:srgbClr val="B06712"/>
                </a:solidFill>
                <a:latin typeface="Calibri" pitchFamily="34" charset="0"/>
                <a:ea typeface="Calibri" pitchFamily="34" charset="-122"/>
                <a:cs typeface="Calibri" pitchFamily="34" charset="-120"/>
              </a:rPr>
              <a:t>   → but you still type the English yourself</a:t>
            </a:r>
            <a:endParaRPr lang="en-US" sz="1250" dirty="0"/>
          </a:p>
        </p:txBody>
      </p:sp>
      <p:sp>
        <p:nvSpPr>
          <p:cNvPr id="18" name="Shape 16"/>
          <p:cNvSpPr/>
          <p:nvPr/>
        </p:nvSpPr>
        <p:spPr>
          <a:xfrm>
            <a:off x="777240" y="4105656"/>
            <a:ext cx="0" cy="484632"/>
          </a:xfrm>
          <a:prstGeom prst="line">
            <a:avLst/>
          </a:prstGeom>
          <a:noFill/>
          <a:ln w="19050">
            <a:solidFill>
              <a:srgbClr val="D8D9E6"/>
            </a:solidFill>
            <a:prstDash val="solid"/>
          </a:ln>
        </p:spPr>
      </p:sp>
      <p:sp>
        <p:nvSpPr>
          <p:cNvPr id="19" name="Shape 17"/>
          <p:cNvSpPr/>
          <p:nvPr/>
        </p:nvSpPr>
        <p:spPr>
          <a:xfrm>
            <a:off x="548640" y="4572000"/>
            <a:ext cx="457200" cy="457200"/>
          </a:xfrm>
          <a:prstGeom prst="ellipse">
            <a:avLst/>
          </a:prstGeom>
          <a:solidFill>
            <a:srgbClr val="33357A"/>
          </a:solidFill>
          <a:ln/>
        </p:spPr>
      </p:sp>
      <p:sp>
        <p:nvSpPr>
          <p:cNvPr id="20" name="Text 18"/>
          <p:cNvSpPr txBox="1"/>
          <p:nvPr/>
        </p:nvSpPr>
        <p:spPr>
          <a:xfrm>
            <a:off x="548640" y="4572000"/>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1" name="Text 19"/>
          <p:cNvSpPr txBox="1"/>
          <p:nvPr/>
        </p:nvSpPr>
        <p:spPr>
          <a:xfrm>
            <a:off x="1234440" y="4517136"/>
            <a:ext cx="10408615" cy="310896"/>
          </a:xfrm>
          <a:prstGeom prst="rect">
            <a:avLst/>
          </a:prstGeom>
          <a:noFill/>
          <a:ln/>
        </p:spPr>
        <p:txBody>
          <a:bodyPr wrap="square" lIns="0" tIns="0" rIns="0" bIns="0" rtlCol="0" anchor="ctr"/>
          <a:lstStyle/>
          <a:p>
            <a:pPr marL="0" indent="0">
              <a:buNone/>
            </a:pPr>
            <a:r>
              <a:rPr lang="en-US" sz="1550" b="1" dirty="0">
                <a:solidFill>
                  <a:srgbClr val="1B1D29"/>
                </a:solidFill>
                <a:latin typeface="Calibri" pitchFamily="34" charset="0"/>
                <a:ea typeface="Calibri" pitchFamily="34" charset="-122"/>
                <a:cs typeface="Calibri" pitchFamily="34" charset="-120"/>
              </a:rPr>
              <a:t>Speech &amp; lecture extraction</a:t>
            </a:r>
            <a:endParaRPr lang="en-US" sz="1550" dirty="0"/>
          </a:p>
        </p:txBody>
      </p:sp>
      <p:sp>
        <p:nvSpPr>
          <p:cNvPr id="22" name="Text 20"/>
          <p:cNvSpPr txBox="1"/>
          <p:nvPr/>
        </p:nvSpPr>
        <p:spPr>
          <a:xfrm>
            <a:off x="1234440" y="4828032"/>
            <a:ext cx="10408615" cy="457200"/>
          </a:xfrm>
          <a:prstGeom prst="rect">
            <a:avLst/>
          </a:prstGeom>
          <a:noFill/>
          <a:ln/>
        </p:spPr>
        <p:txBody>
          <a:bodyPr wrap="square" lIns="0" tIns="0" rIns="0" bIns="0" rtlCol="0" anchor="t"/>
          <a:lstStyle/>
          <a:p>
            <a:pPr marL="0" indent="0">
              <a:lnSpc>
                <a:spcPct val="100000"/>
              </a:lnSpc>
              <a:buNone/>
            </a:pPr>
            <a:r>
              <a:rPr lang="en-US" sz="1250" dirty="0">
                <a:solidFill>
                  <a:srgbClr val="5A5E76"/>
                </a:solidFill>
                <a:latin typeface="Calibri" pitchFamily="34" charset="0"/>
                <a:ea typeface="Calibri" pitchFamily="34" charset="-122"/>
                <a:cs typeface="Calibri" pitchFamily="34" charset="-120"/>
              </a:rPr>
              <a:t>Speak to sign, or hand it a lecture video and sign along, in time.</a:t>
            </a:r>
            <a:r>
              <a:rPr lang="en-US" sz="1250" i="1" dirty="0">
                <a:solidFill>
                  <a:srgbClr val="B06712"/>
                </a:solidFill>
                <a:latin typeface="Calibri" pitchFamily="34" charset="0"/>
                <a:ea typeface="Calibri" pitchFamily="34" charset="-122"/>
                <a:cs typeface="Calibri" pitchFamily="34" charset="-120"/>
              </a:rPr>
              <a:t>   → still ran only on a laptop</a:t>
            </a:r>
            <a:endParaRPr lang="en-US" sz="1250" dirty="0"/>
          </a:p>
        </p:txBody>
      </p:sp>
      <p:sp>
        <p:nvSpPr>
          <p:cNvPr id="23" name="Shape 21"/>
          <p:cNvSpPr/>
          <p:nvPr/>
        </p:nvSpPr>
        <p:spPr>
          <a:xfrm>
            <a:off x="777240" y="5047488"/>
            <a:ext cx="0" cy="484632"/>
          </a:xfrm>
          <a:prstGeom prst="line">
            <a:avLst/>
          </a:prstGeom>
          <a:noFill/>
          <a:ln w="19050">
            <a:solidFill>
              <a:srgbClr val="D8D9E6"/>
            </a:solidFill>
            <a:prstDash val="solid"/>
          </a:ln>
        </p:spPr>
      </p:sp>
      <p:sp>
        <p:nvSpPr>
          <p:cNvPr id="24" name="Shape 22"/>
          <p:cNvSpPr/>
          <p:nvPr/>
        </p:nvSpPr>
        <p:spPr>
          <a:xfrm>
            <a:off x="548640" y="5513832"/>
            <a:ext cx="457200" cy="457200"/>
          </a:xfrm>
          <a:prstGeom prst="ellipse">
            <a:avLst/>
          </a:prstGeom>
          <a:solidFill>
            <a:srgbClr val="B06712"/>
          </a:solidFill>
          <a:ln/>
        </p:spPr>
      </p:sp>
      <p:sp>
        <p:nvSpPr>
          <p:cNvPr id="25" name="Text 23"/>
          <p:cNvSpPr txBox="1"/>
          <p:nvPr/>
        </p:nvSpPr>
        <p:spPr>
          <a:xfrm>
            <a:off x="548640" y="5513832"/>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6" name="Text 24"/>
          <p:cNvSpPr txBox="1"/>
          <p:nvPr/>
        </p:nvSpPr>
        <p:spPr>
          <a:xfrm>
            <a:off x="1234440" y="5458968"/>
            <a:ext cx="10408615" cy="310896"/>
          </a:xfrm>
          <a:prstGeom prst="rect">
            <a:avLst/>
          </a:prstGeom>
          <a:noFill/>
          <a:ln/>
        </p:spPr>
        <p:txBody>
          <a:bodyPr wrap="square" lIns="0" tIns="0" rIns="0" bIns="0" rtlCol="0" anchor="ctr"/>
          <a:lstStyle/>
          <a:p>
            <a:pPr marL="0" indent="0">
              <a:buNone/>
            </a:pPr>
            <a:r>
              <a:rPr lang="en-US" sz="1550" b="1" dirty="0">
                <a:solidFill>
                  <a:srgbClr val="1B1D29"/>
                </a:solidFill>
                <a:latin typeface="Calibri" pitchFamily="34" charset="0"/>
                <a:ea typeface="Calibri" pitchFamily="34" charset="-122"/>
                <a:cs typeface="Calibri" pitchFamily="34" charset="-120"/>
              </a:rPr>
              <a:t>Mobile implementation</a:t>
            </a:r>
            <a:endParaRPr lang="en-US" sz="1550" dirty="0"/>
          </a:p>
        </p:txBody>
      </p:sp>
      <p:sp>
        <p:nvSpPr>
          <p:cNvPr id="27" name="Text 25"/>
          <p:cNvSpPr txBox="1"/>
          <p:nvPr/>
        </p:nvSpPr>
        <p:spPr>
          <a:xfrm>
            <a:off x="1234440" y="5769864"/>
            <a:ext cx="10408615" cy="457200"/>
          </a:xfrm>
          <a:prstGeom prst="rect">
            <a:avLst/>
          </a:prstGeom>
          <a:noFill/>
          <a:ln/>
        </p:spPr>
        <p:txBody>
          <a:bodyPr wrap="square" lIns="0" tIns="0" rIns="0" bIns="0" rtlCol="0" anchor="t"/>
          <a:lstStyle/>
          <a:p>
            <a:pPr marL="0" indent="0">
              <a:lnSpc>
                <a:spcPct val="100000"/>
              </a:lnSpc>
              <a:buNone/>
            </a:pPr>
            <a:r>
              <a:rPr lang="en-US" sz="1250" dirty="0">
                <a:solidFill>
                  <a:srgbClr val="5A5E76"/>
                </a:solidFill>
                <a:latin typeface="Calibri" pitchFamily="34" charset="0"/>
                <a:ea typeface="Calibri" pitchFamily="34" charset="-122"/>
                <a:cs typeface="Calibri" pitchFamily="34" charset="-120"/>
              </a:rPr>
              <a:t>Wrap the whole thing as an Android app — the cheap phone it was made for.</a:t>
            </a:r>
            <a:endParaRPr lang="en-US" sz="1250" dirty="0"/>
          </a:p>
        </p:txBody>
      </p:sp>
      <p:sp>
        <p:nvSpPr>
          <p:cNvPr id="28" name="Text 26"/>
          <p:cNvSpPr txBox="1"/>
          <p:nvPr/>
        </p:nvSpPr>
        <p:spPr>
          <a:xfrm>
            <a:off x="548640" y="6473952"/>
            <a:ext cx="4572000" cy="274320"/>
          </a:xfrm>
          <a:prstGeom prst="rect">
            <a:avLst/>
          </a:prstGeom>
          <a:noFill/>
          <a:ln/>
        </p:spPr>
        <p:txBody>
          <a:bodyPr wrap="square" lIns="0" tIns="0" rIns="0" bIns="0" rtlCol="0" anchor="ctr"/>
          <a:lstStyle/>
          <a:p>
            <a:pPr marL="0" indent="0">
              <a:buNone/>
            </a:pPr>
            <a:r>
              <a:rPr lang="en-US" sz="900" dirty="0">
                <a:solidFill>
                  <a:srgbClr val="9A9EB2"/>
                </a:solidFill>
                <a:latin typeface="Calibri" pitchFamily="34" charset="0"/>
                <a:ea typeface="Calibri" pitchFamily="34" charset="-122"/>
                <a:cs typeface="Calibri" pitchFamily="34" charset="-120"/>
              </a:rPr>
              <a:t>AvatarEngine · ISL</a:t>
            </a:r>
            <a:endParaRPr lang="en-US" sz="900" dirty="0"/>
          </a:p>
        </p:txBody>
      </p:sp>
      <p:sp>
        <p:nvSpPr>
          <p:cNvPr id="29" name="Text 27"/>
          <p:cNvSpPr txBox="1"/>
          <p:nvPr/>
        </p:nvSpPr>
        <p:spPr>
          <a:xfrm>
            <a:off x="11094415" y="6473952"/>
            <a:ext cx="548640" cy="274320"/>
          </a:xfrm>
          <a:prstGeom prst="rect">
            <a:avLst/>
          </a:prstGeom>
          <a:noFill/>
          <a:ln/>
        </p:spPr>
        <p:txBody>
          <a:bodyPr wrap="square" lIns="0" tIns="0" rIns="0" bIns="0" rtlCol="0" anchor="ctr"/>
          <a:lstStyle/>
          <a:p>
            <a:pPr marL="0" indent="0" algn="r">
              <a:buNone/>
            </a:pPr>
            <a:r>
              <a:rPr lang="en-US" sz="900" dirty="0">
                <a:solidFill>
                  <a:srgbClr val="9A9EB2"/>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02336"/>
            <a:ext cx="11094415" cy="274320"/>
          </a:xfrm>
          <a:prstGeom prst="rect">
            <a:avLst/>
          </a:prstGeom>
          <a:noFill/>
          <a:ln/>
        </p:spPr>
        <p:txBody>
          <a:bodyPr wrap="square" lIns="0" tIns="0" rIns="0" bIns="0" rtlCol="0" anchor="ctr"/>
          <a:lstStyle/>
          <a:p>
            <a:pPr marL="0" indent="0">
              <a:buNone/>
            </a:pPr>
            <a:r>
              <a:rPr lang="en-US" sz="1150" b="1" kern="0" spc="200" dirty="0">
                <a:solidFill>
                  <a:srgbClr val="B06712"/>
                </a:solidFill>
                <a:latin typeface="Calibri" pitchFamily="34" charset="0"/>
                <a:ea typeface="Calibri" pitchFamily="34" charset="-122"/>
                <a:cs typeface="Calibri" pitchFamily="34" charset="-120"/>
              </a:rPr>
              <a:t>STEP 1 / 5 · AUTHORED SIGNS</a:t>
            </a:r>
            <a:endParaRPr lang="en-US" sz="1150" dirty="0"/>
          </a:p>
        </p:txBody>
      </p:sp>
      <p:sp>
        <p:nvSpPr>
          <p:cNvPr id="3" name="Text 1"/>
          <p:cNvSpPr txBox="1"/>
          <p:nvPr/>
        </p:nvSpPr>
        <p:spPr>
          <a:xfrm>
            <a:off x="548640" y="694944"/>
            <a:ext cx="11094415" cy="914400"/>
          </a:xfrm>
          <a:prstGeom prst="rect">
            <a:avLst/>
          </a:prstGeom>
          <a:noFill/>
          <a:ln/>
        </p:spPr>
        <p:txBody>
          <a:bodyPr wrap="square" lIns="0" tIns="0" rIns="0" bIns="0" rtlCol="0" anchor="ctr"/>
          <a:lstStyle/>
          <a:p>
            <a:pPr marL="0" indent="0">
              <a:lnSpc>
                <a:spcPct val="98000"/>
              </a:lnSpc>
              <a:buNone/>
            </a:pPr>
            <a:r>
              <a:rPr lang="en-US" sz="2900" b="1" dirty="0">
                <a:solidFill>
                  <a:srgbClr val="1B1D29"/>
                </a:solidFill>
                <a:latin typeface="Calibri" pitchFamily="34" charset="0"/>
                <a:ea typeface="Calibri" pitchFamily="34" charset="-122"/>
                <a:cs typeface="Calibri" pitchFamily="34" charset="-120"/>
              </a:rPr>
              <a:t>From free English to an ordered list of signs.</a:t>
            </a:r>
            <a:endParaRPr lang="en-US" sz="2900" dirty="0"/>
          </a:p>
        </p:txBody>
      </p:sp>
      <p:sp>
        <p:nvSpPr>
          <p:cNvPr id="4" name="Shape 2"/>
          <p:cNvSpPr/>
          <p:nvPr/>
        </p:nvSpPr>
        <p:spPr>
          <a:xfrm>
            <a:off x="548640" y="1783080"/>
            <a:ext cx="384048" cy="384048"/>
          </a:xfrm>
          <a:prstGeom prst="ellipse">
            <a:avLst/>
          </a:prstGeom>
          <a:solidFill>
            <a:srgbClr val="33357A"/>
          </a:solidFill>
          <a:ln/>
        </p:spPr>
      </p:sp>
      <p:sp>
        <p:nvSpPr>
          <p:cNvPr id="5" name="Text 3"/>
          <p:cNvSpPr txBox="1"/>
          <p:nvPr/>
        </p:nvSpPr>
        <p:spPr>
          <a:xfrm>
            <a:off x="548640" y="178308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txBox="1"/>
          <p:nvPr/>
        </p:nvSpPr>
        <p:spPr>
          <a:xfrm>
            <a:off x="1115568" y="1783080"/>
            <a:ext cx="5760720" cy="731520"/>
          </a:xfrm>
          <a:prstGeom prst="rect">
            <a:avLst/>
          </a:prstGeom>
          <a:noFill/>
          <a:ln/>
        </p:spPr>
        <p:txBody>
          <a:bodyPr wrap="square" lIns="0" tIns="0" rIns="0" bIns="0" rtlCol="0" anchor="ctr"/>
          <a:lstStyle/>
          <a:p>
            <a:pPr marL="0" indent="0">
              <a:lnSpc>
                <a:spcPct val="100000"/>
              </a:lnSpc>
              <a:buNone/>
            </a:pPr>
            <a:r>
              <a:rPr lang="en-US" sz="1400" b="1" dirty="0">
                <a:solidFill>
                  <a:srgbClr val="1B1D29"/>
                </a:solidFill>
                <a:latin typeface="Calibri" pitchFamily="34" charset="0"/>
                <a:ea typeface="Calibri" pitchFamily="34" charset="-122"/>
                <a:cs typeface="Calibri" pitchFamily="34" charset="-120"/>
              </a:rPr>
              <a:t>Recognise   </a:t>
            </a:r>
            <a:r>
              <a:rPr lang="en-US" sz="1250" dirty="0">
                <a:solidFill>
                  <a:srgbClr val="5A5E76"/>
                </a:solidFill>
                <a:latin typeface="Calibri" pitchFamily="34" charset="0"/>
                <a:ea typeface="Calibri" pitchFamily="34" charset="-122"/>
                <a:cs typeface="Calibri" pitchFamily="34" charset="-120"/>
              </a:rPr>
              <a:t>Split raw text into sentences and words, keeping order and duplicates.</a:t>
            </a:r>
            <a:endParaRPr lang="en-US" sz="1400" dirty="0"/>
          </a:p>
        </p:txBody>
      </p:sp>
      <p:sp>
        <p:nvSpPr>
          <p:cNvPr id="7" name="Shape 5"/>
          <p:cNvSpPr/>
          <p:nvPr/>
        </p:nvSpPr>
        <p:spPr>
          <a:xfrm>
            <a:off x="548640" y="2651760"/>
            <a:ext cx="384048" cy="384048"/>
          </a:xfrm>
          <a:prstGeom prst="ellipse">
            <a:avLst/>
          </a:prstGeom>
          <a:solidFill>
            <a:srgbClr val="33357A"/>
          </a:solidFill>
          <a:ln/>
        </p:spPr>
      </p:sp>
      <p:sp>
        <p:nvSpPr>
          <p:cNvPr id="8" name="Text 6"/>
          <p:cNvSpPr txBox="1"/>
          <p:nvPr/>
        </p:nvSpPr>
        <p:spPr>
          <a:xfrm>
            <a:off x="548640" y="265176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9" name="Text 7"/>
          <p:cNvSpPr txBox="1"/>
          <p:nvPr/>
        </p:nvSpPr>
        <p:spPr>
          <a:xfrm>
            <a:off x="1115568" y="2651760"/>
            <a:ext cx="5760720" cy="731520"/>
          </a:xfrm>
          <a:prstGeom prst="rect">
            <a:avLst/>
          </a:prstGeom>
          <a:noFill/>
          <a:ln/>
        </p:spPr>
        <p:txBody>
          <a:bodyPr wrap="square" lIns="0" tIns="0" rIns="0" bIns="0" rtlCol="0" anchor="ctr"/>
          <a:lstStyle/>
          <a:p>
            <a:pPr marL="0" indent="0">
              <a:lnSpc>
                <a:spcPct val="100000"/>
              </a:lnSpc>
              <a:buNone/>
            </a:pPr>
            <a:r>
              <a:rPr lang="en-US" sz="1400" b="1" dirty="0">
                <a:solidFill>
                  <a:srgbClr val="1B1D29"/>
                </a:solidFill>
                <a:latin typeface="Calibri" pitchFamily="34" charset="0"/>
                <a:ea typeface="Calibri" pitchFamily="34" charset="-122"/>
                <a:cs typeface="Calibri" pitchFamily="34" charset="-120"/>
              </a:rPr>
              <a:t>Map   </a:t>
            </a:r>
            <a:r>
              <a:rPr lang="en-US" sz="1250" dirty="0">
                <a:solidFill>
                  <a:srgbClr val="5A5E76"/>
                </a:solidFill>
                <a:latin typeface="Calibri" pitchFamily="34" charset="0"/>
                <a:ea typeface="Calibri" pitchFamily="34" charset="-122"/>
                <a:cs typeface="Calibri" pitchFamily="34" charset="-120"/>
              </a:rPr>
              <a:t>Look each distinct word up → a gloss (a sign ID like HELLO).</a:t>
            </a:r>
            <a:endParaRPr lang="en-US" sz="1400" dirty="0"/>
          </a:p>
        </p:txBody>
      </p:sp>
      <p:sp>
        <p:nvSpPr>
          <p:cNvPr id="10" name="Shape 8"/>
          <p:cNvSpPr/>
          <p:nvPr/>
        </p:nvSpPr>
        <p:spPr>
          <a:xfrm>
            <a:off x="548640" y="3520440"/>
            <a:ext cx="384048" cy="384048"/>
          </a:xfrm>
          <a:prstGeom prst="ellipse">
            <a:avLst/>
          </a:prstGeom>
          <a:solidFill>
            <a:srgbClr val="33357A"/>
          </a:solidFill>
          <a:ln/>
        </p:spPr>
      </p:sp>
      <p:sp>
        <p:nvSpPr>
          <p:cNvPr id="11" name="Text 9"/>
          <p:cNvSpPr txBox="1"/>
          <p:nvPr/>
        </p:nvSpPr>
        <p:spPr>
          <a:xfrm>
            <a:off x="548640" y="352044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2" name="Text 10"/>
          <p:cNvSpPr txBox="1"/>
          <p:nvPr/>
        </p:nvSpPr>
        <p:spPr>
          <a:xfrm>
            <a:off x="1115568" y="3520440"/>
            <a:ext cx="5760720" cy="731520"/>
          </a:xfrm>
          <a:prstGeom prst="rect">
            <a:avLst/>
          </a:prstGeom>
          <a:noFill/>
          <a:ln/>
        </p:spPr>
        <p:txBody>
          <a:bodyPr wrap="square" lIns="0" tIns="0" rIns="0" bIns="0" rtlCol="0" anchor="ctr"/>
          <a:lstStyle/>
          <a:p>
            <a:pPr marL="0" indent="0">
              <a:lnSpc>
                <a:spcPct val="100000"/>
              </a:lnSpc>
              <a:buNone/>
            </a:pPr>
            <a:r>
              <a:rPr lang="en-US" sz="1400" b="1" dirty="0">
                <a:solidFill>
                  <a:srgbClr val="1B1D29"/>
                </a:solidFill>
                <a:latin typeface="Calibri" pitchFamily="34" charset="0"/>
                <a:ea typeface="Calibri" pitchFamily="34" charset="-122"/>
                <a:cs typeface="Calibri" pitchFamily="34" charset="-120"/>
              </a:rPr>
              <a:t>Resolve   </a:t>
            </a:r>
            <a:r>
              <a:rPr lang="en-US" sz="1250" dirty="0">
                <a:solidFill>
                  <a:srgbClr val="5A5E76"/>
                </a:solidFill>
                <a:latin typeface="Calibri" pitchFamily="34" charset="0"/>
                <a:ea typeface="Calibri" pitchFamily="34" charset="-122"/>
                <a:cs typeface="Calibri" pitchFamily="34" charset="-120"/>
              </a:rPr>
              <a:t>Any word with no sign falls back to fingerspelling — spelled A–Z, captioned.</a:t>
            </a:r>
            <a:endParaRPr lang="en-US" sz="1400" dirty="0"/>
          </a:p>
        </p:txBody>
      </p:sp>
      <p:sp>
        <p:nvSpPr>
          <p:cNvPr id="13" name="Shape 11"/>
          <p:cNvSpPr/>
          <p:nvPr/>
        </p:nvSpPr>
        <p:spPr>
          <a:xfrm>
            <a:off x="548640" y="4389120"/>
            <a:ext cx="384048" cy="384048"/>
          </a:xfrm>
          <a:prstGeom prst="ellipse">
            <a:avLst/>
          </a:prstGeom>
          <a:solidFill>
            <a:srgbClr val="33357A"/>
          </a:solidFill>
          <a:ln/>
        </p:spPr>
      </p:sp>
      <p:sp>
        <p:nvSpPr>
          <p:cNvPr id="14" name="Text 12"/>
          <p:cNvSpPr txBox="1"/>
          <p:nvPr/>
        </p:nvSpPr>
        <p:spPr>
          <a:xfrm>
            <a:off x="548640" y="438912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5" name="Text 13"/>
          <p:cNvSpPr txBox="1"/>
          <p:nvPr/>
        </p:nvSpPr>
        <p:spPr>
          <a:xfrm>
            <a:off x="1115568" y="4389120"/>
            <a:ext cx="5760720" cy="731520"/>
          </a:xfrm>
          <a:prstGeom prst="rect">
            <a:avLst/>
          </a:prstGeom>
          <a:noFill/>
          <a:ln/>
        </p:spPr>
        <p:txBody>
          <a:bodyPr wrap="square" lIns="0" tIns="0" rIns="0" bIns="0" rtlCol="0" anchor="ctr"/>
          <a:lstStyle/>
          <a:p>
            <a:pPr marL="0" indent="0">
              <a:lnSpc>
                <a:spcPct val="100000"/>
              </a:lnSpc>
              <a:buNone/>
            </a:pPr>
            <a:r>
              <a:rPr lang="en-US" sz="1400" b="1" dirty="0">
                <a:solidFill>
                  <a:srgbClr val="1B1D29"/>
                </a:solidFill>
                <a:latin typeface="Calibri" pitchFamily="34" charset="0"/>
                <a:ea typeface="Calibri" pitchFamily="34" charset="-122"/>
                <a:cs typeface="Calibri" pitchFamily="34" charset="-120"/>
              </a:rPr>
              <a:t>Replay   </a:t>
            </a:r>
            <a:r>
              <a:rPr lang="en-US" sz="1250" dirty="0">
                <a:solidFill>
                  <a:srgbClr val="5A5E76"/>
                </a:solidFill>
                <a:latin typeface="Calibri" pitchFamily="34" charset="0"/>
                <a:ea typeface="Calibri" pitchFamily="34" charset="-122"/>
                <a:cs typeface="Calibri" pitchFamily="34" charset="-120"/>
              </a:rPr>
              <a:t>Expand back into written order; the avatar plays each clip.</a:t>
            </a:r>
            <a:endParaRPr lang="en-US" sz="1400" dirty="0"/>
          </a:p>
        </p:txBody>
      </p:sp>
      <p:sp>
        <p:nvSpPr>
          <p:cNvPr id="16" name="Text 14"/>
          <p:cNvSpPr txBox="1"/>
          <p:nvPr/>
        </p:nvSpPr>
        <p:spPr>
          <a:xfrm>
            <a:off x="6766560" y="1783080"/>
            <a:ext cx="4876495" cy="2103120"/>
          </a:xfrm>
          <a:prstGeom prst="rect">
            <a:avLst/>
          </a:prstGeom>
          <a:noFill/>
          <a:ln/>
        </p:spPr>
        <p:txBody>
          <a:bodyPr wrap="square" lIns="0" tIns="0" rIns="0" bIns="0" rtlCol="0" anchor="t"/>
          <a:lstStyle/>
          <a:p>
            <a:pPr marL="203200" indent="-203200">
              <a:lnSpc>
                <a:spcPct val="103000"/>
              </a:lnSpc>
              <a:buSzPct val="100000"/>
              <a:buChar char="•"/>
            </a:pPr>
            <a:r>
              <a:rPr lang="en-US" sz="1350" b="1" dirty="0">
                <a:solidFill>
                  <a:srgbClr val="1B1D29"/>
                </a:solidFill>
                <a:latin typeface="Calibri" pitchFamily="34" charset="0"/>
                <a:ea typeface="Calibri" pitchFamily="34" charset="-122"/>
                <a:cs typeface="Calibri" pitchFamily="34" charset="-120"/>
              </a:rPr>
              <a:t>VRM avatar  </a:t>
            </a:r>
            <a:r>
              <a:rPr lang="en-US" sz="1350" dirty="0">
                <a:solidFill>
                  <a:srgbClr val="5A5E76"/>
                </a:solidFill>
                <a:latin typeface="Calibri" pitchFamily="34" charset="0"/>
                <a:ea typeface="Calibri" pitchFamily="34" charset="-122"/>
                <a:cs typeface="Calibri" pitchFamily="34" charset="-120"/>
              </a:rPr>
              <a:t>— a standard 3-D humanoid; three.js renders it.</a:t>
            </a:r>
            <a:endParaRPr lang="en-US" sz="1350" dirty="0"/>
          </a:p>
          <a:p>
            <a:pPr marL="203200" indent="-203200">
              <a:lnSpc>
                <a:spcPct val="103000"/>
              </a:lnSpc>
              <a:buSzPct val="100000"/>
              <a:buChar char="•"/>
            </a:pPr>
            <a:r>
              <a:rPr lang="en-US" sz="1350" b="1" dirty="0">
                <a:solidFill>
                  <a:srgbClr val="1B1D29"/>
                </a:solidFill>
                <a:latin typeface="Calibri" pitchFamily="34" charset="0"/>
                <a:ea typeface="Calibri" pitchFamily="34" charset="-122"/>
                <a:cs typeface="Calibri" pitchFamily="34" charset="-120"/>
              </a:rPr>
              <a:t>VRMA clips  </a:t>
            </a:r>
            <a:r>
              <a:rPr lang="en-US" sz="1350" dirty="0">
                <a:solidFill>
                  <a:srgbClr val="5A5E76"/>
                </a:solidFill>
                <a:latin typeface="Calibri" pitchFamily="34" charset="0"/>
                <a:ea typeface="Calibri" pitchFamily="34" charset="-122"/>
                <a:cs typeface="Calibri" pitchFamily="34" charset="-120"/>
              </a:rPr>
              <a:t>— each sign is a hand-authored animation, plus a full A–Z alphabet.</a:t>
            </a:r>
            <a:endParaRPr lang="en-US" sz="1350" dirty="0"/>
          </a:p>
          <a:p>
            <a:pPr marL="203200" indent="-203200">
              <a:lnSpc>
                <a:spcPct val="103000"/>
              </a:lnSpc>
              <a:buSzPct val="100000"/>
              <a:buChar char="•"/>
            </a:pPr>
            <a:r>
              <a:rPr lang="en-US" sz="1350" b="1" dirty="0">
                <a:solidFill>
                  <a:srgbClr val="1B1D29"/>
                </a:solidFill>
                <a:latin typeface="Calibri" pitchFamily="34" charset="0"/>
                <a:ea typeface="Calibri" pitchFamily="34" charset="-122"/>
                <a:cs typeface="Calibri" pitchFamily="34" charset="-120"/>
              </a:rPr>
              <a:t>Nothing vanishes  </a:t>
            </a:r>
            <a:r>
              <a:rPr lang="en-US" sz="1350" dirty="0">
                <a:solidFill>
                  <a:srgbClr val="5A5E76"/>
                </a:solidFill>
                <a:latin typeface="Calibri" pitchFamily="34" charset="0"/>
                <a:ea typeface="Calibri" pitchFamily="34" charset="-122"/>
                <a:cs typeface="Calibri" pitchFamily="34" charset="-120"/>
              </a:rPr>
              <a:t>— an unknown word degrades to spelling, so a name is still delivered.</a:t>
            </a:r>
            <a:endParaRPr lang="en-US" sz="1350" dirty="0"/>
          </a:p>
        </p:txBody>
      </p:sp>
      <p:sp>
        <p:nvSpPr>
          <p:cNvPr id="17" name="Shape 15"/>
          <p:cNvSpPr/>
          <p:nvPr/>
        </p:nvSpPr>
        <p:spPr>
          <a:xfrm>
            <a:off x="6766560" y="4069080"/>
            <a:ext cx="4876495" cy="1691640"/>
          </a:xfrm>
          <a:prstGeom prst="roundRect">
            <a:avLst>
              <a:gd name="adj" fmla="val 4865"/>
            </a:avLst>
          </a:prstGeom>
          <a:solidFill>
            <a:srgbClr val="ECEDF6"/>
          </a:solidFill>
          <a:ln/>
          <a:effectLst>
            <a:outerShdw blurRad="114300" dist="38100" dir="5400000" algn="bl" rotWithShape="0">
              <a:srgbClr val="9195AE">
                <a:alpha val="30000"/>
              </a:srgbClr>
            </a:outerShdw>
          </a:effectLst>
        </p:spPr>
      </p:sp>
      <p:sp>
        <p:nvSpPr>
          <p:cNvPr id="18" name="Text 16"/>
          <p:cNvSpPr txBox="1"/>
          <p:nvPr/>
        </p:nvSpPr>
        <p:spPr>
          <a:xfrm>
            <a:off x="6986016" y="4251960"/>
            <a:ext cx="4437583" cy="219456"/>
          </a:xfrm>
          <a:prstGeom prst="rect">
            <a:avLst/>
          </a:prstGeom>
          <a:noFill/>
          <a:ln/>
        </p:spPr>
        <p:txBody>
          <a:bodyPr wrap="square" lIns="0" tIns="0" rIns="0" bIns="0" rtlCol="0" anchor="ctr"/>
          <a:lstStyle/>
          <a:p>
            <a:pPr marL="0" indent="0">
              <a:buNone/>
            </a:pPr>
            <a:r>
              <a:rPr lang="en-US" sz="950" b="1" kern="0" spc="140" dirty="0">
                <a:solidFill>
                  <a:srgbClr val="B06712"/>
                </a:solidFill>
                <a:latin typeface="Calibri" pitchFamily="34" charset="0"/>
                <a:ea typeface="Calibri" pitchFamily="34" charset="-122"/>
                <a:cs typeface="Calibri" pitchFamily="34" charset="-120"/>
              </a:rPr>
              <a:t>WHY THIS BECAME STEP 2</a:t>
            </a:r>
            <a:endParaRPr lang="en-US" sz="950" dirty="0"/>
          </a:p>
        </p:txBody>
      </p:sp>
      <p:sp>
        <p:nvSpPr>
          <p:cNvPr id="19" name="Text 17"/>
          <p:cNvSpPr txBox="1"/>
          <p:nvPr/>
        </p:nvSpPr>
        <p:spPr>
          <a:xfrm>
            <a:off x="6986016" y="4526280"/>
            <a:ext cx="4437583" cy="1069848"/>
          </a:xfrm>
          <a:prstGeom prst="rect">
            <a:avLst/>
          </a:prstGeom>
          <a:noFill/>
          <a:ln/>
        </p:spPr>
        <p:txBody>
          <a:bodyPr wrap="square" lIns="0" tIns="0" rIns="0" bIns="0" rtlCol="0" anchor="t"/>
          <a:lstStyle/>
          <a:p>
            <a:pPr marL="0" indent="0">
              <a:lnSpc>
                <a:spcPct val="102000"/>
              </a:lnSpc>
              <a:buNone/>
            </a:pPr>
            <a:r>
              <a:rPr lang="en-US" sz="1300" dirty="0">
                <a:solidFill>
                  <a:srgbClr val="5A5E76"/>
                </a:solidFill>
                <a:latin typeface="Calibri" pitchFamily="34" charset="0"/>
                <a:ea typeface="Calibri" pitchFamily="34" charset="-122"/>
                <a:cs typeface="Calibri" pitchFamily="34" charset="-120"/>
              </a:rPr>
              <a:t>Authoring every sign by hand doesn’t scale, and hand-keyed motion never quite reads as human signing. To grow the vocabulary honestly, we had to capture it.</a:t>
            </a:r>
            <a:endParaRPr lang="en-US" sz="1300" dirty="0"/>
          </a:p>
        </p:txBody>
      </p:sp>
      <p:sp>
        <p:nvSpPr>
          <p:cNvPr id="20" name="Text 18"/>
          <p:cNvSpPr txBox="1"/>
          <p:nvPr/>
        </p:nvSpPr>
        <p:spPr>
          <a:xfrm>
            <a:off x="548640" y="6473952"/>
            <a:ext cx="4572000" cy="274320"/>
          </a:xfrm>
          <a:prstGeom prst="rect">
            <a:avLst/>
          </a:prstGeom>
          <a:noFill/>
          <a:ln/>
        </p:spPr>
        <p:txBody>
          <a:bodyPr wrap="square" lIns="0" tIns="0" rIns="0" bIns="0" rtlCol="0" anchor="ctr"/>
          <a:lstStyle/>
          <a:p>
            <a:pPr marL="0" indent="0">
              <a:buNone/>
            </a:pPr>
            <a:r>
              <a:rPr lang="en-US" sz="900" dirty="0">
                <a:solidFill>
                  <a:srgbClr val="9A9EB2"/>
                </a:solidFill>
                <a:latin typeface="Calibri" pitchFamily="34" charset="0"/>
                <a:ea typeface="Calibri" pitchFamily="34" charset="-122"/>
                <a:cs typeface="Calibri" pitchFamily="34" charset="-120"/>
              </a:rPr>
              <a:t>AvatarEngine · ISL</a:t>
            </a:r>
            <a:endParaRPr lang="en-US" sz="900" dirty="0"/>
          </a:p>
        </p:txBody>
      </p:sp>
      <p:sp>
        <p:nvSpPr>
          <p:cNvPr id="21" name="Text 19"/>
          <p:cNvSpPr txBox="1"/>
          <p:nvPr/>
        </p:nvSpPr>
        <p:spPr>
          <a:xfrm>
            <a:off x="11094415" y="6473952"/>
            <a:ext cx="548640" cy="274320"/>
          </a:xfrm>
          <a:prstGeom prst="rect">
            <a:avLst/>
          </a:prstGeom>
          <a:noFill/>
          <a:ln/>
        </p:spPr>
        <p:txBody>
          <a:bodyPr wrap="square" lIns="0" tIns="0" rIns="0" bIns="0" rtlCol="0" anchor="ctr"/>
          <a:lstStyle/>
          <a:p>
            <a:pPr marL="0" indent="0" algn="r">
              <a:buNone/>
            </a:pPr>
            <a:r>
              <a:rPr lang="en-US" sz="900" dirty="0">
                <a:solidFill>
                  <a:srgbClr val="9A9EB2"/>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02336"/>
            <a:ext cx="11094415" cy="274320"/>
          </a:xfrm>
          <a:prstGeom prst="rect">
            <a:avLst/>
          </a:prstGeom>
          <a:noFill/>
          <a:ln/>
        </p:spPr>
        <p:txBody>
          <a:bodyPr wrap="square" lIns="0" tIns="0" rIns="0" bIns="0" rtlCol="0" anchor="ctr"/>
          <a:lstStyle/>
          <a:p>
            <a:pPr marL="0" indent="0">
              <a:buNone/>
            </a:pPr>
            <a:r>
              <a:rPr lang="en-US" sz="1150" b="1" kern="0" spc="200" dirty="0">
                <a:solidFill>
                  <a:srgbClr val="B06712"/>
                </a:solidFill>
                <a:latin typeface="Calibri" pitchFamily="34" charset="0"/>
                <a:ea typeface="Calibri" pitchFamily="34" charset="-122"/>
                <a:cs typeface="Calibri" pitchFamily="34" charset="-120"/>
              </a:rPr>
              <a:t>STEP 2 / 5 · MOTION CAPTURE — VIDEO → SKELETON</a:t>
            </a:r>
            <a:endParaRPr lang="en-US" sz="1150" dirty="0"/>
          </a:p>
        </p:txBody>
      </p:sp>
      <p:sp>
        <p:nvSpPr>
          <p:cNvPr id="3" name="Text 1"/>
          <p:cNvSpPr txBox="1"/>
          <p:nvPr/>
        </p:nvSpPr>
        <p:spPr>
          <a:xfrm>
            <a:off x="548640" y="694944"/>
            <a:ext cx="11094415" cy="914400"/>
          </a:xfrm>
          <a:prstGeom prst="rect">
            <a:avLst/>
          </a:prstGeom>
          <a:noFill/>
          <a:ln/>
        </p:spPr>
        <p:txBody>
          <a:bodyPr wrap="square" lIns="0" tIns="0" rIns="0" bIns="0" rtlCol="0" anchor="ctr"/>
          <a:lstStyle/>
          <a:p>
            <a:pPr marL="0" indent="0">
              <a:lnSpc>
                <a:spcPct val="98000"/>
              </a:lnSpc>
              <a:buNone/>
            </a:pPr>
            <a:r>
              <a:rPr lang="en-US" sz="2900" b="1" dirty="0">
                <a:solidFill>
                  <a:srgbClr val="1B1D29"/>
                </a:solidFill>
                <a:latin typeface="Calibri" pitchFamily="34" charset="0"/>
                <a:ea typeface="Calibri" pitchFamily="34" charset="-122"/>
                <a:cs typeface="Calibri" pitchFamily="34" charset="-120"/>
              </a:rPr>
              <a:t>Stop animating. Capture a real signer instead.</a:t>
            </a:r>
            <a:endParaRPr lang="en-US" sz="2900" dirty="0"/>
          </a:p>
        </p:txBody>
      </p:sp>
      <p:sp>
        <p:nvSpPr>
          <p:cNvPr id="4" name="Text 2"/>
          <p:cNvSpPr txBox="1"/>
          <p:nvPr/>
        </p:nvSpPr>
        <p:spPr>
          <a:xfrm>
            <a:off x="548640" y="1783080"/>
            <a:ext cx="6583680" cy="3931920"/>
          </a:xfrm>
          <a:prstGeom prst="rect">
            <a:avLst/>
          </a:prstGeom>
          <a:noFill/>
          <a:ln/>
        </p:spPr>
        <p:txBody>
          <a:bodyPr wrap="square" lIns="0" tIns="0" rIns="0" bIns="0" rtlCol="0" anchor="t"/>
          <a:lstStyle/>
          <a:p>
            <a:pPr marL="203200" indent="-203200">
              <a:lnSpc>
                <a:spcPct val="103000"/>
              </a:lnSpc>
              <a:buSzPct val="100000"/>
              <a:buChar char="•"/>
            </a:pPr>
            <a:r>
              <a:rPr lang="en-US" sz="1400" b="1" dirty="0">
                <a:solidFill>
                  <a:srgbClr val="1B1D29"/>
                </a:solidFill>
                <a:latin typeface="Calibri" pitchFamily="34" charset="0"/>
                <a:ea typeface="Calibri" pitchFamily="34" charset="-122"/>
                <a:cs typeface="Calibri" pitchFamily="34" charset="-120"/>
              </a:rPr>
              <a:t>MediaPipe extracts the pose  </a:t>
            </a:r>
            <a:r>
              <a:rPr lang="en-US" sz="1400" dirty="0">
                <a:solidFill>
                  <a:srgbClr val="5A5E76"/>
                </a:solidFill>
                <a:latin typeface="Calibri" pitchFamily="34" charset="0"/>
                <a:ea typeface="Calibri" pitchFamily="34" charset="-122"/>
                <a:cs typeface="Calibri" pitchFamily="34" charset="-120"/>
              </a:rPr>
              <a:t>— body joints plus 21 landmarks per hand, every frame, from ordinary video.</a:t>
            </a:r>
            <a:endParaRPr lang="en-US" sz="1400" dirty="0"/>
          </a:p>
          <a:p>
            <a:pPr marL="203200" indent="-203200">
              <a:lnSpc>
                <a:spcPct val="103000"/>
              </a:lnSpc>
              <a:buSzPct val="100000"/>
              <a:buChar char="•"/>
            </a:pPr>
            <a:r>
              <a:rPr lang="en-US" sz="1400" b="1" dirty="0">
                <a:solidFill>
                  <a:srgbClr val="1B1D29"/>
                </a:solidFill>
                <a:latin typeface="Calibri" pitchFamily="34" charset="0"/>
                <a:ea typeface="Calibri" pitchFamily="34" charset="-122"/>
                <a:cs typeface="Calibri" pitchFamily="34" charset="-120"/>
              </a:rPr>
              <a:t>Normalise  </a:t>
            </a:r>
            <a:r>
              <a:rPr lang="en-US" sz="1400" dirty="0">
                <a:solidFill>
                  <a:srgbClr val="5A5E76"/>
                </a:solidFill>
                <a:latin typeface="Calibri" pitchFamily="34" charset="0"/>
                <a:ea typeface="Calibri" pitchFamily="34" charset="-122"/>
                <a:cs typeface="Calibri" pitchFamily="34" charset="-120"/>
              </a:rPr>
              <a:t>— re-centre on the hips and scale by height, so different signers become comparable.</a:t>
            </a:r>
            <a:endParaRPr lang="en-US" sz="1400" dirty="0"/>
          </a:p>
          <a:p>
            <a:pPr marL="203200" indent="-203200">
              <a:lnSpc>
                <a:spcPct val="103000"/>
              </a:lnSpc>
              <a:buSzPct val="100000"/>
              <a:buChar char="•"/>
            </a:pPr>
            <a:r>
              <a:rPr lang="en-US" sz="1400" b="1" dirty="0">
                <a:solidFill>
                  <a:srgbClr val="1B1D29"/>
                </a:solidFill>
                <a:latin typeface="Calibri" pitchFamily="34" charset="0"/>
                <a:ea typeface="Calibri" pitchFamily="34" charset="-122"/>
                <a:cs typeface="Calibri" pitchFamily="34" charset="-120"/>
              </a:rPr>
              <a:t>Retarget  </a:t>
            </a:r>
            <a:r>
              <a:rPr lang="en-US" sz="1400" dirty="0">
                <a:solidFill>
                  <a:srgbClr val="5A5E76"/>
                </a:solidFill>
                <a:latin typeface="Calibri" pitchFamily="34" charset="0"/>
                <a:ea typeface="Calibri" pitchFamily="34" charset="-122"/>
                <a:cs typeface="Calibri" pitchFamily="34" charset="-120"/>
              </a:rPr>
              <a:t>— copy that motion onto the VRM skeleton live; output is a skeleton.v1 JSON clip.</a:t>
            </a:r>
            <a:endParaRPr lang="en-US" sz="1400" dirty="0"/>
          </a:p>
          <a:p>
            <a:pPr marL="203200" indent="-203200">
              <a:lnSpc>
                <a:spcPct val="103000"/>
              </a:lnSpc>
              <a:buSzPct val="100000"/>
              <a:buChar char="•"/>
            </a:pPr>
            <a:r>
              <a:rPr lang="en-US" sz="1400" b="1" dirty="0">
                <a:solidFill>
                  <a:srgbClr val="1B1D29"/>
                </a:solidFill>
                <a:latin typeface="Calibri" pitchFamily="34" charset="0"/>
                <a:ea typeface="Calibri" pitchFamily="34" charset="-122"/>
                <a:cs typeface="Calibri" pitchFamily="34" charset="-120"/>
              </a:rPr>
              <a:t>Faces too  </a:t>
            </a:r>
            <a:r>
              <a:rPr lang="en-US" sz="1400" dirty="0">
                <a:solidFill>
                  <a:srgbClr val="5A5E76"/>
                </a:solidFill>
                <a:latin typeface="Calibri" pitchFamily="34" charset="0"/>
                <a:ea typeface="Calibri" pitchFamily="34" charset="-122"/>
                <a:cs typeface="Calibri" pitchFamily="34" charset="-120"/>
              </a:rPr>
              <a:t>— a later addition captures brow-raise and smile: in ISL the face is grammar.</a:t>
            </a:r>
            <a:endParaRPr lang="en-US" sz="1400" dirty="0"/>
          </a:p>
        </p:txBody>
      </p:sp>
      <p:sp>
        <p:nvSpPr>
          <p:cNvPr id="5" name="Shape 3"/>
          <p:cNvSpPr/>
          <p:nvPr/>
        </p:nvSpPr>
        <p:spPr>
          <a:xfrm>
            <a:off x="7406640" y="1783080"/>
            <a:ext cx="4236415" cy="1920240"/>
          </a:xfrm>
          <a:prstGeom prst="roundRect">
            <a:avLst>
              <a:gd name="adj" fmla="val 4286"/>
            </a:avLst>
          </a:prstGeom>
          <a:solidFill>
            <a:srgbClr val="F2F2F9"/>
          </a:solidFill>
          <a:ln/>
          <a:effectLst>
            <a:outerShdw blurRad="114300" dist="38100" dir="5400000" algn="bl" rotWithShape="0">
              <a:srgbClr val="9195AE">
                <a:alpha val="30000"/>
              </a:srgbClr>
            </a:outerShdw>
          </a:effectLst>
        </p:spPr>
      </p:sp>
      <p:sp>
        <p:nvSpPr>
          <p:cNvPr id="6" name="Text 4"/>
          <p:cNvSpPr txBox="1"/>
          <p:nvPr/>
        </p:nvSpPr>
        <p:spPr>
          <a:xfrm>
            <a:off x="7626096" y="1965960"/>
            <a:ext cx="3797503" cy="219456"/>
          </a:xfrm>
          <a:prstGeom prst="rect">
            <a:avLst/>
          </a:prstGeom>
          <a:noFill/>
          <a:ln/>
        </p:spPr>
        <p:txBody>
          <a:bodyPr wrap="square" lIns="0" tIns="0" rIns="0" bIns="0" rtlCol="0" anchor="ctr"/>
          <a:lstStyle/>
          <a:p>
            <a:pPr marL="0" indent="0">
              <a:buNone/>
            </a:pPr>
            <a:r>
              <a:rPr lang="en-US" sz="950" b="1" kern="0" spc="140" dirty="0">
                <a:solidFill>
                  <a:srgbClr val="B06712"/>
                </a:solidFill>
                <a:latin typeface="Calibri" pitchFamily="34" charset="0"/>
                <a:ea typeface="Calibri" pitchFamily="34" charset="-122"/>
                <a:cs typeface="Calibri" pitchFamily="34" charset="-120"/>
              </a:rPr>
              <a:t>THE CAVEAT THAT SHAPES EVERYTHING AFTER</a:t>
            </a:r>
            <a:endParaRPr lang="en-US" sz="950" dirty="0"/>
          </a:p>
        </p:txBody>
      </p:sp>
      <p:sp>
        <p:nvSpPr>
          <p:cNvPr id="7" name="Text 5"/>
          <p:cNvSpPr txBox="1"/>
          <p:nvPr/>
        </p:nvSpPr>
        <p:spPr>
          <a:xfrm>
            <a:off x="7626096" y="2240280"/>
            <a:ext cx="3797503" cy="457200"/>
          </a:xfrm>
          <a:prstGeom prst="rect">
            <a:avLst/>
          </a:prstGeom>
          <a:noFill/>
          <a:ln/>
        </p:spPr>
        <p:txBody>
          <a:bodyPr wrap="square" lIns="0" tIns="0" rIns="0" bIns="0" rtlCol="0" anchor="t"/>
          <a:lstStyle/>
          <a:p>
            <a:pPr marL="0" indent="0">
              <a:lnSpc>
                <a:spcPct val="98000"/>
              </a:lnSpc>
              <a:buNone/>
            </a:pPr>
            <a:r>
              <a:rPr lang="en-US" sz="1800" b="1" dirty="0">
                <a:solidFill>
                  <a:srgbClr val="1B1D29"/>
                </a:solidFill>
                <a:latin typeface="Calibri" pitchFamily="34" charset="0"/>
                <a:ea typeface="Calibri" pitchFamily="34" charset="-122"/>
                <a:cs typeface="Calibri" pitchFamily="34" charset="-120"/>
              </a:rPr>
              <a:t>It’s 2.5-D</a:t>
            </a:r>
            <a:endParaRPr lang="en-US" sz="1800" dirty="0"/>
          </a:p>
        </p:txBody>
      </p:sp>
      <p:sp>
        <p:nvSpPr>
          <p:cNvPr id="8" name="Text 6"/>
          <p:cNvSpPr txBox="1"/>
          <p:nvPr/>
        </p:nvSpPr>
        <p:spPr>
          <a:xfrm>
            <a:off x="7626096" y="2770632"/>
            <a:ext cx="3797503" cy="768096"/>
          </a:xfrm>
          <a:prstGeom prst="rect">
            <a:avLst/>
          </a:prstGeom>
          <a:noFill/>
          <a:ln/>
        </p:spPr>
        <p:txBody>
          <a:bodyPr wrap="square" lIns="0" tIns="0" rIns="0" bIns="0" rtlCol="0" anchor="t"/>
          <a:lstStyle/>
          <a:p>
            <a:pPr marL="0" indent="0">
              <a:lnSpc>
                <a:spcPct val="102000"/>
              </a:lnSpc>
              <a:buNone/>
            </a:pPr>
            <a:r>
              <a:rPr lang="en-US" sz="1250" dirty="0">
                <a:solidFill>
                  <a:srgbClr val="5A5E76"/>
                </a:solidFill>
                <a:latin typeface="Calibri" pitchFamily="34" charset="0"/>
                <a:ea typeface="Calibri" pitchFamily="34" charset="-122"/>
                <a:cs typeface="Calibri" pitchFamily="34" charset="-120"/>
              </a:rPr>
              <a:t>From one camera, left–right and up–down are reliable; depth is inferred and is the weakest signal in the system. Remember this for step 3.</a:t>
            </a:r>
            <a:endParaRPr lang="en-US" sz="1250" dirty="0"/>
          </a:p>
        </p:txBody>
      </p:sp>
      <p:sp>
        <p:nvSpPr>
          <p:cNvPr id="9" name="Shape 7"/>
          <p:cNvSpPr/>
          <p:nvPr/>
        </p:nvSpPr>
        <p:spPr>
          <a:xfrm>
            <a:off x="7406640" y="3886200"/>
            <a:ext cx="4236415" cy="1828800"/>
          </a:xfrm>
          <a:prstGeom prst="roundRect">
            <a:avLst>
              <a:gd name="adj" fmla="val 4500"/>
            </a:avLst>
          </a:prstGeom>
          <a:solidFill>
            <a:srgbClr val="ECEDF6"/>
          </a:solidFill>
          <a:ln/>
          <a:effectLst>
            <a:outerShdw blurRad="114300" dist="38100" dir="5400000" algn="bl" rotWithShape="0">
              <a:srgbClr val="9195AE">
                <a:alpha val="30000"/>
              </a:srgbClr>
            </a:outerShdw>
          </a:effectLst>
        </p:spPr>
      </p:sp>
      <p:sp>
        <p:nvSpPr>
          <p:cNvPr id="10" name="Text 8"/>
          <p:cNvSpPr txBox="1"/>
          <p:nvPr/>
        </p:nvSpPr>
        <p:spPr>
          <a:xfrm>
            <a:off x="7626096" y="4069080"/>
            <a:ext cx="3797503" cy="219456"/>
          </a:xfrm>
          <a:prstGeom prst="rect">
            <a:avLst/>
          </a:prstGeom>
          <a:noFill/>
          <a:ln/>
        </p:spPr>
        <p:txBody>
          <a:bodyPr wrap="square" lIns="0" tIns="0" rIns="0" bIns="0" rtlCol="0" anchor="ctr"/>
          <a:lstStyle/>
          <a:p>
            <a:pPr marL="0" indent="0">
              <a:buNone/>
            </a:pPr>
            <a:r>
              <a:rPr lang="en-US" sz="950" b="1" kern="0" spc="140" dirty="0">
                <a:solidFill>
                  <a:srgbClr val="B06712"/>
                </a:solidFill>
                <a:latin typeface="Calibri" pitchFamily="34" charset="0"/>
                <a:ea typeface="Calibri" pitchFamily="34" charset="-122"/>
                <a:cs typeface="Calibri" pitchFamily="34" charset="-120"/>
              </a:rPr>
              <a:t>WHY THIS BECAME STEP 3</a:t>
            </a:r>
            <a:endParaRPr lang="en-US" sz="950" dirty="0"/>
          </a:p>
        </p:txBody>
      </p:sp>
      <p:sp>
        <p:nvSpPr>
          <p:cNvPr id="11" name="Text 9"/>
          <p:cNvSpPr txBox="1"/>
          <p:nvPr/>
        </p:nvSpPr>
        <p:spPr>
          <a:xfrm>
            <a:off x="7626096" y="4343400"/>
            <a:ext cx="3797503" cy="1207008"/>
          </a:xfrm>
          <a:prstGeom prst="rect">
            <a:avLst/>
          </a:prstGeom>
          <a:noFill/>
          <a:ln/>
        </p:spPr>
        <p:txBody>
          <a:bodyPr wrap="square" lIns="0" tIns="0" rIns="0" bIns="0" rtlCol="0" anchor="t"/>
          <a:lstStyle/>
          <a:p>
            <a:pPr marL="0" indent="0">
              <a:lnSpc>
                <a:spcPct val="102000"/>
              </a:lnSpc>
              <a:buNone/>
            </a:pPr>
            <a:r>
              <a:rPr lang="en-US" sz="1300" dirty="0">
                <a:solidFill>
                  <a:srgbClr val="5A5E76"/>
                </a:solidFill>
                <a:latin typeface="Calibri" pitchFamily="34" charset="0"/>
                <a:ea typeface="Calibri" pitchFamily="34" charset="-122"/>
                <a:cs typeface="Calibri" pitchFamily="34" charset="-120"/>
              </a:rPr>
              <a:t>A single capture is noisy and it is only one person’s version of the sign. Which take do you ship?</a:t>
            </a:r>
            <a:endParaRPr lang="en-US" sz="1300" dirty="0"/>
          </a:p>
        </p:txBody>
      </p:sp>
      <p:sp>
        <p:nvSpPr>
          <p:cNvPr id="12" name="Text 10"/>
          <p:cNvSpPr txBox="1"/>
          <p:nvPr/>
        </p:nvSpPr>
        <p:spPr>
          <a:xfrm>
            <a:off x="548640" y="6473952"/>
            <a:ext cx="4572000" cy="274320"/>
          </a:xfrm>
          <a:prstGeom prst="rect">
            <a:avLst/>
          </a:prstGeom>
          <a:noFill/>
          <a:ln/>
        </p:spPr>
        <p:txBody>
          <a:bodyPr wrap="square" lIns="0" tIns="0" rIns="0" bIns="0" rtlCol="0" anchor="ctr"/>
          <a:lstStyle/>
          <a:p>
            <a:pPr marL="0" indent="0">
              <a:buNone/>
            </a:pPr>
            <a:r>
              <a:rPr lang="en-US" sz="900" dirty="0">
                <a:solidFill>
                  <a:srgbClr val="9A9EB2"/>
                </a:solidFill>
                <a:latin typeface="Calibri" pitchFamily="34" charset="0"/>
                <a:ea typeface="Calibri" pitchFamily="34" charset="-122"/>
                <a:cs typeface="Calibri" pitchFamily="34" charset="-120"/>
              </a:rPr>
              <a:t>AvatarEngine · ISL</a:t>
            </a:r>
            <a:endParaRPr lang="en-US" sz="900" dirty="0"/>
          </a:p>
        </p:txBody>
      </p:sp>
      <p:sp>
        <p:nvSpPr>
          <p:cNvPr id="13" name="Text 11"/>
          <p:cNvSpPr txBox="1"/>
          <p:nvPr/>
        </p:nvSpPr>
        <p:spPr>
          <a:xfrm>
            <a:off x="11094415" y="6473952"/>
            <a:ext cx="548640" cy="274320"/>
          </a:xfrm>
          <a:prstGeom prst="rect">
            <a:avLst/>
          </a:prstGeom>
          <a:noFill/>
          <a:ln/>
        </p:spPr>
        <p:txBody>
          <a:bodyPr wrap="square" lIns="0" tIns="0" rIns="0" bIns="0" rtlCol="0" anchor="ctr"/>
          <a:lstStyle/>
          <a:p>
            <a:pPr marL="0" indent="0" algn="r">
              <a:buNone/>
            </a:pPr>
            <a:r>
              <a:rPr lang="en-US" sz="900" dirty="0">
                <a:solidFill>
                  <a:srgbClr val="9A9EB2"/>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02336"/>
            <a:ext cx="11094415" cy="274320"/>
          </a:xfrm>
          <a:prstGeom prst="rect">
            <a:avLst/>
          </a:prstGeom>
          <a:noFill/>
          <a:ln/>
        </p:spPr>
        <p:txBody>
          <a:bodyPr wrap="square" lIns="0" tIns="0" rIns="0" bIns="0" rtlCol="0" anchor="ctr"/>
          <a:lstStyle/>
          <a:p>
            <a:pPr marL="0" indent="0">
              <a:buNone/>
            </a:pPr>
            <a:r>
              <a:rPr lang="en-US" sz="1150" b="1" kern="0" spc="200" dirty="0">
                <a:solidFill>
                  <a:srgbClr val="B06712"/>
                </a:solidFill>
                <a:latin typeface="Calibri" pitchFamily="34" charset="0"/>
                <a:ea typeface="Calibri" pitchFamily="34" charset="-122"/>
                <a:cs typeface="Calibri" pitchFamily="34" charset="-120"/>
              </a:rPr>
              <a:t>STEP 3 / 5 · THE ML MODEL — ONE CLIP IS NOT ENOUGH</a:t>
            </a:r>
            <a:endParaRPr lang="en-US" sz="1150" dirty="0"/>
          </a:p>
        </p:txBody>
      </p:sp>
      <p:sp>
        <p:nvSpPr>
          <p:cNvPr id="3" name="Text 1"/>
          <p:cNvSpPr txBox="1"/>
          <p:nvPr/>
        </p:nvSpPr>
        <p:spPr>
          <a:xfrm>
            <a:off x="548640" y="694944"/>
            <a:ext cx="11094415" cy="914400"/>
          </a:xfrm>
          <a:prstGeom prst="rect">
            <a:avLst/>
          </a:prstGeom>
          <a:noFill/>
          <a:ln/>
        </p:spPr>
        <p:txBody>
          <a:bodyPr wrap="square" lIns="0" tIns="0" rIns="0" bIns="0" rtlCol="0" anchor="ctr"/>
          <a:lstStyle/>
          <a:p>
            <a:pPr marL="0" indent="0">
              <a:lnSpc>
                <a:spcPct val="98000"/>
              </a:lnSpc>
              <a:buNone/>
            </a:pPr>
            <a:r>
              <a:rPr lang="en-US" sz="2900" b="1" dirty="0">
                <a:solidFill>
                  <a:srgbClr val="1B1D29"/>
                </a:solidFill>
                <a:latin typeface="Calibri" pitchFamily="34" charset="0"/>
                <a:ea typeface="Calibri" pitchFamily="34" charset="-122"/>
                <a:cs typeface="Calibri" pitchFamily="34" charset="-120"/>
              </a:rPr>
              <a:t>Record many takes. Compute the one motion that represents them all.</a:t>
            </a:r>
            <a:endParaRPr lang="en-US" sz="2900" dirty="0"/>
          </a:p>
        </p:txBody>
      </p:sp>
      <p:sp>
        <p:nvSpPr>
          <p:cNvPr id="4" name="Text 2"/>
          <p:cNvSpPr txBox="1"/>
          <p:nvPr/>
        </p:nvSpPr>
        <p:spPr>
          <a:xfrm>
            <a:off x="548640" y="1737360"/>
            <a:ext cx="5852160" cy="1097280"/>
          </a:xfrm>
          <a:prstGeom prst="rect">
            <a:avLst/>
          </a:prstGeom>
          <a:noFill/>
          <a:ln/>
        </p:spPr>
        <p:txBody>
          <a:bodyPr wrap="square" lIns="0" tIns="0" rIns="0" bIns="0" rtlCol="0" anchor="t"/>
          <a:lstStyle/>
          <a:p>
            <a:pPr marL="0" indent="0">
              <a:lnSpc>
                <a:spcPct val="108000"/>
              </a:lnSpc>
              <a:buNone/>
            </a:pPr>
            <a:r>
              <a:rPr lang="en-US" sz="1500" dirty="0">
                <a:solidFill>
                  <a:srgbClr val="5A5E76"/>
                </a:solidFill>
                <a:latin typeface="Calibri" pitchFamily="34" charset="0"/>
                <a:ea typeface="Calibri" pitchFamily="34" charset="-122"/>
                <a:cs typeface="Calibri" pitchFamily="34" charset="-120"/>
              </a:rPr>
              <a:t>Don’t pick a favourite recording. Gather many performances — different people, rooms, sessions — and let the data agree on the canonical motion.</a:t>
            </a:r>
            <a:endParaRPr lang="en-US" sz="1500" dirty="0"/>
          </a:p>
        </p:txBody>
      </p:sp>
      <p:pic>
        <p:nvPicPr>
          <p:cNvPr id="5" name="Image 0" descr="preencoded.png"/>
          <p:cNvPicPr>
            <a:picLocks noChangeAspect="1"/>
          </p:cNvPicPr>
          <p:nvPr/>
        </p:nvPicPr>
        <p:blipFill>
          <a:blip r:embed="rId3"/>
          <a:stretch>
            <a:fillRect/>
          </a:stretch>
        </p:blipFill>
        <p:spPr>
          <a:xfrm>
            <a:off x="548640" y="2926080"/>
            <a:ext cx="5486400" cy="1709928"/>
          </a:xfrm>
          <a:prstGeom prst="rect">
            <a:avLst/>
          </a:prstGeom>
        </p:spPr>
      </p:pic>
      <p:sp>
        <p:nvSpPr>
          <p:cNvPr id="6" name="Text 3"/>
          <p:cNvSpPr txBox="1"/>
          <p:nvPr/>
        </p:nvSpPr>
        <p:spPr>
          <a:xfrm>
            <a:off x="548640" y="4663440"/>
            <a:ext cx="5486400" cy="274320"/>
          </a:xfrm>
          <a:prstGeom prst="rect">
            <a:avLst/>
          </a:prstGeom>
          <a:noFill/>
          <a:ln/>
        </p:spPr>
        <p:txBody>
          <a:bodyPr wrap="square" lIns="0" tIns="0" rIns="0" bIns="0" rtlCol="0" anchor="ctr"/>
          <a:lstStyle/>
          <a:p>
            <a:pPr marL="0" indent="0">
              <a:buNone/>
            </a:pPr>
            <a:r>
              <a:rPr lang="en-US" sz="1100" i="1" dirty="0">
                <a:solidFill>
                  <a:srgbClr val="9A9EB2"/>
                </a:solidFill>
                <a:latin typeface="Calibri" pitchFamily="34" charset="0"/>
                <a:ea typeface="Calibri" pitchFamily="34" charset="-122"/>
                <a:cs typeface="Calibri" pitchFamily="34" charset="-120"/>
              </a:rPr>
              <a:t>many noisy takes (grey)  →  one representative motion (indigo)</a:t>
            </a:r>
            <a:endParaRPr lang="en-US" sz="1100" dirty="0"/>
          </a:p>
        </p:txBody>
      </p:sp>
      <p:sp>
        <p:nvSpPr>
          <p:cNvPr id="7" name="Text 4"/>
          <p:cNvSpPr txBox="1"/>
          <p:nvPr/>
        </p:nvSpPr>
        <p:spPr>
          <a:xfrm>
            <a:off x="6537960" y="1828800"/>
            <a:ext cx="2606040" cy="603504"/>
          </a:xfrm>
          <a:prstGeom prst="rect">
            <a:avLst/>
          </a:prstGeom>
          <a:noFill/>
          <a:ln/>
        </p:spPr>
        <p:txBody>
          <a:bodyPr wrap="square" lIns="0" tIns="0" rIns="0" bIns="0" rtlCol="0" anchor="ctr"/>
          <a:lstStyle/>
          <a:p>
            <a:pPr marL="0" indent="0">
              <a:buNone/>
            </a:pPr>
            <a:r>
              <a:rPr lang="en-US" sz="3600" b="1" dirty="0">
                <a:solidFill>
                  <a:srgbClr val="33357A"/>
                </a:solidFill>
                <a:latin typeface="Calibri" pitchFamily="34" charset="0"/>
                <a:ea typeface="Calibri" pitchFamily="34" charset="-122"/>
                <a:cs typeface="Calibri" pitchFamily="34" charset="-120"/>
              </a:rPr>
              <a:t>17</a:t>
            </a:r>
            <a:endParaRPr lang="en-US" sz="3600" dirty="0"/>
          </a:p>
        </p:txBody>
      </p:sp>
      <p:sp>
        <p:nvSpPr>
          <p:cNvPr id="8" name="Text 5"/>
          <p:cNvSpPr txBox="1"/>
          <p:nvPr/>
        </p:nvSpPr>
        <p:spPr>
          <a:xfrm>
            <a:off x="6537960" y="2432304"/>
            <a:ext cx="2606040" cy="822960"/>
          </a:xfrm>
          <a:prstGeom prst="rect">
            <a:avLst/>
          </a:prstGeom>
          <a:noFill/>
          <a:ln/>
        </p:spPr>
        <p:txBody>
          <a:bodyPr wrap="square" lIns="0" tIns="0" rIns="0" bIns="0" rtlCol="0" anchor="t"/>
          <a:lstStyle/>
          <a:p>
            <a:pPr marL="0" indent="0">
              <a:lnSpc>
                <a:spcPct val="100000"/>
              </a:lnSpc>
              <a:buNone/>
            </a:pPr>
            <a:r>
              <a:rPr lang="en-US" sz="1100" dirty="0">
                <a:solidFill>
                  <a:srgbClr val="5A5E76"/>
                </a:solidFill>
                <a:latin typeface="Calibri" pitchFamily="34" charset="0"/>
                <a:ea typeface="Calibri" pitchFamily="34" charset="-122"/>
                <a:cs typeface="Calibri" pitchFamily="34" charset="-120"/>
              </a:rPr>
              <a:t>signs — Greetings + Pronouns (grew from 9)</a:t>
            </a:r>
            <a:endParaRPr lang="en-US" sz="1100" dirty="0"/>
          </a:p>
        </p:txBody>
      </p:sp>
      <p:sp>
        <p:nvSpPr>
          <p:cNvPr id="9" name="Text 6"/>
          <p:cNvSpPr txBox="1"/>
          <p:nvPr/>
        </p:nvSpPr>
        <p:spPr>
          <a:xfrm>
            <a:off x="9281160" y="1828800"/>
            <a:ext cx="2606040" cy="603504"/>
          </a:xfrm>
          <a:prstGeom prst="rect">
            <a:avLst/>
          </a:prstGeom>
          <a:noFill/>
          <a:ln/>
        </p:spPr>
        <p:txBody>
          <a:bodyPr wrap="square" lIns="0" tIns="0" rIns="0" bIns="0" rtlCol="0" anchor="ctr"/>
          <a:lstStyle/>
          <a:p>
            <a:pPr marL="0" indent="0">
              <a:buNone/>
            </a:pPr>
            <a:r>
              <a:rPr lang="en-US" sz="3600" b="1" dirty="0">
                <a:solidFill>
                  <a:srgbClr val="33357A"/>
                </a:solidFill>
                <a:latin typeface="Calibri" pitchFamily="34" charset="0"/>
                <a:ea typeface="Calibri" pitchFamily="34" charset="-122"/>
                <a:cs typeface="Calibri" pitchFamily="34" charset="-120"/>
              </a:rPr>
              <a:t>358</a:t>
            </a:r>
            <a:endParaRPr lang="en-US" sz="3600" dirty="0"/>
          </a:p>
        </p:txBody>
      </p:sp>
      <p:sp>
        <p:nvSpPr>
          <p:cNvPr id="10" name="Text 7"/>
          <p:cNvSpPr txBox="1"/>
          <p:nvPr/>
        </p:nvSpPr>
        <p:spPr>
          <a:xfrm>
            <a:off x="9281160" y="2432304"/>
            <a:ext cx="2606040" cy="822960"/>
          </a:xfrm>
          <a:prstGeom prst="rect">
            <a:avLst/>
          </a:prstGeom>
          <a:noFill/>
          <a:ln/>
        </p:spPr>
        <p:txBody>
          <a:bodyPr wrap="square" lIns="0" tIns="0" rIns="0" bIns="0" rtlCol="0" anchor="t"/>
          <a:lstStyle/>
          <a:p>
            <a:pPr marL="0" indent="0">
              <a:lnSpc>
                <a:spcPct val="100000"/>
              </a:lnSpc>
              <a:buNone/>
            </a:pPr>
            <a:r>
              <a:rPr lang="en-US" sz="1100" dirty="0">
                <a:solidFill>
                  <a:srgbClr val="5A5E76"/>
                </a:solidFill>
                <a:latin typeface="Calibri" pitchFamily="34" charset="0"/>
                <a:ea typeface="Calibri" pitchFamily="34" charset="-122"/>
                <a:cs typeface="Calibri" pitchFamily="34" charset="-120"/>
              </a:rPr>
              <a:t>takes recorded across ≥3 signers</a:t>
            </a:r>
            <a:endParaRPr lang="en-US" sz="1100" dirty="0"/>
          </a:p>
        </p:txBody>
      </p:sp>
      <p:sp>
        <p:nvSpPr>
          <p:cNvPr id="11" name="Text 8"/>
          <p:cNvSpPr txBox="1"/>
          <p:nvPr/>
        </p:nvSpPr>
        <p:spPr>
          <a:xfrm>
            <a:off x="6537960" y="3429000"/>
            <a:ext cx="2606040" cy="603504"/>
          </a:xfrm>
          <a:prstGeom prst="rect">
            <a:avLst/>
          </a:prstGeom>
          <a:noFill/>
          <a:ln/>
        </p:spPr>
        <p:txBody>
          <a:bodyPr wrap="square" lIns="0" tIns="0" rIns="0" bIns="0" rtlCol="0" anchor="ctr"/>
          <a:lstStyle/>
          <a:p>
            <a:pPr marL="0" indent="0">
              <a:buNone/>
            </a:pPr>
            <a:r>
              <a:rPr lang="en-US" sz="3600" b="1" dirty="0">
                <a:solidFill>
                  <a:srgbClr val="33357A"/>
                </a:solidFill>
                <a:latin typeface="Calibri" pitchFamily="34" charset="0"/>
                <a:ea typeface="Calibri" pitchFamily="34" charset="-122"/>
                <a:cs typeface="Calibri" pitchFamily="34" charset="-120"/>
              </a:rPr>
              <a:t>329</a:t>
            </a:r>
            <a:endParaRPr lang="en-US" sz="3600" dirty="0"/>
          </a:p>
        </p:txBody>
      </p:sp>
      <p:sp>
        <p:nvSpPr>
          <p:cNvPr id="12" name="Text 9"/>
          <p:cNvSpPr txBox="1"/>
          <p:nvPr/>
        </p:nvSpPr>
        <p:spPr>
          <a:xfrm>
            <a:off x="6537960" y="4032504"/>
            <a:ext cx="2606040" cy="822960"/>
          </a:xfrm>
          <a:prstGeom prst="rect">
            <a:avLst/>
          </a:prstGeom>
          <a:noFill/>
          <a:ln/>
        </p:spPr>
        <p:txBody>
          <a:bodyPr wrap="square" lIns="0" tIns="0" rIns="0" bIns="0" rtlCol="0" anchor="t"/>
          <a:lstStyle/>
          <a:p>
            <a:pPr marL="0" indent="0">
              <a:lnSpc>
                <a:spcPct val="100000"/>
              </a:lnSpc>
              <a:buNone/>
            </a:pPr>
            <a:r>
              <a:rPr lang="en-US" sz="1100" dirty="0">
                <a:solidFill>
                  <a:srgbClr val="5A5E76"/>
                </a:solidFill>
                <a:latin typeface="Calibri" pitchFamily="34" charset="0"/>
                <a:ea typeface="Calibri" pitchFamily="34" charset="-122"/>
                <a:cs typeface="Calibri" pitchFamily="34" charset="-120"/>
              </a:rPr>
              <a:t>kept after a quality screen (~18–21 each)</a:t>
            </a:r>
            <a:endParaRPr lang="en-US" sz="1100" dirty="0"/>
          </a:p>
        </p:txBody>
      </p:sp>
      <p:sp>
        <p:nvSpPr>
          <p:cNvPr id="13" name="Text 10"/>
          <p:cNvSpPr txBox="1"/>
          <p:nvPr/>
        </p:nvSpPr>
        <p:spPr>
          <a:xfrm>
            <a:off x="9281160" y="3429000"/>
            <a:ext cx="2606040" cy="603504"/>
          </a:xfrm>
          <a:prstGeom prst="rect">
            <a:avLst/>
          </a:prstGeom>
          <a:noFill/>
          <a:ln/>
        </p:spPr>
        <p:txBody>
          <a:bodyPr wrap="square" lIns="0" tIns="0" rIns="0" bIns="0" rtlCol="0" anchor="ctr"/>
          <a:lstStyle/>
          <a:p>
            <a:pPr marL="0" indent="0">
              <a:buNone/>
            </a:pPr>
            <a:r>
              <a:rPr lang="en-US" sz="3600" b="1" dirty="0">
                <a:solidFill>
                  <a:srgbClr val="33357A"/>
                </a:solidFill>
                <a:latin typeface="Calibri" pitchFamily="34" charset="0"/>
                <a:ea typeface="Calibri" pitchFamily="34" charset="-122"/>
                <a:cs typeface="Calibri" pitchFamily="34" charset="-120"/>
              </a:rPr>
              <a:t>25 fps</a:t>
            </a:r>
            <a:endParaRPr lang="en-US" sz="3600" dirty="0"/>
          </a:p>
        </p:txBody>
      </p:sp>
      <p:sp>
        <p:nvSpPr>
          <p:cNvPr id="14" name="Text 11"/>
          <p:cNvSpPr txBox="1"/>
          <p:nvPr/>
        </p:nvSpPr>
        <p:spPr>
          <a:xfrm>
            <a:off x="9281160" y="4032504"/>
            <a:ext cx="2606040" cy="822960"/>
          </a:xfrm>
          <a:prstGeom prst="rect">
            <a:avLst/>
          </a:prstGeom>
          <a:noFill/>
          <a:ln/>
        </p:spPr>
        <p:txBody>
          <a:bodyPr wrap="square" lIns="0" tIns="0" rIns="0" bIns="0" rtlCol="0" anchor="t"/>
          <a:lstStyle/>
          <a:p>
            <a:pPr marL="0" indent="0">
              <a:lnSpc>
                <a:spcPct val="100000"/>
              </a:lnSpc>
              <a:buNone/>
            </a:pPr>
            <a:r>
              <a:rPr lang="en-US" sz="1100" dirty="0">
                <a:solidFill>
                  <a:srgbClr val="5A5E76"/>
                </a:solidFill>
                <a:latin typeface="Calibri" pitchFamily="34" charset="0"/>
                <a:ea typeface="Calibri" pitchFamily="34" charset="-122"/>
                <a:cs typeface="Calibri" pitchFamily="34" charset="-120"/>
              </a:rPr>
              <a:t>59 joints/frame, in a body-relative space</a:t>
            </a:r>
            <a:endParaRPr lang="en-US" sz="1100" dirty="0"/>
          </a:p>
        </p:txBody>
      </p:sp>
      <p:sp>
        <p:nvSpPr>
          <p:cNvPr id="15" name="Text 12"/>
          <p:cNvSpPr txBox="1"/>
          <p:nvPr/>
        </p:nvSpPr>
        <p:spPr>
          <a:xfrm>
            <a:off x="548640" y="6473952"/>
            <a:ext cx="4572000" cy="274320"/>
          </a:xfrm>
          <a:prstGeom prst="rect">
            <a:avLst/>
          </a:prstGeom>
          <a:noFill/>
          <a:ln/>
        </p:spPr>
        <p:txBody>
          <a:bodyPr wrap="square" lIns="0" tIns="0" rIns="0" bIns="0" rtlCol="0" anchor="ctr"/>
          <a:lstStyle/>
          <a:p>
            <a:pPr marL="0" indent="0">
              <a:buNone/>
            </a:pPr>
            <a:r>
              <a:rPr lang="en-US" sz="900" dirty="0">
                <a:solidFill>
                  <a:srgbClr val="9A9EB2"/>
                </a:solidFill>
                <a:latin typeface="Calibri" pitchFamily="34" charset="0"/>
                <a:ea typeface="Calibri" pitchFamily="34" charset="-122"/>
                <a:cs typeface="Calibri" pitchFamily="34" charset="-120"/>
              </a:rPr>
              <a:t>AvatarEngine · ISL</a:t>
            </a:r>
            <a:endParaRPr lang="en-US" sz="900" dirty="0"/>
          </a:p>
        </p:txBody>
      </p:sp>
      <p:sp>
        <p:nvSpPr>
          <p:cNvPr id="16" name="Text 13"/>
          <p:cNvSpPr txBox="1"/>
          <p:nvPr/>
        </p:nvSpPr>
        <p:spPr>
          <a:xfrm>
            <a:off x="11094415" y="6473952"/>
            <a:ext cx="548640" cy="274320"/>
          </a:xfrm>
          <a:prstGeom prst="rect">
            <a:avLst/>
          </a:prstGeom>
          <a:noFill/>
          <a:ln/>
        </p:spPr>
        <p:txBody>
          <a:bodyPr wrap="square" lIns="0" tIns="0" rIns="0" bIns="0" rtlCol="0" anchor="ctr"/>
          <a:lstStyle/>
          <a:p>
            <a:pPr marL="0" indent="0" algn="r">
              <a:buNone/>
            </a:pPr>
            <a:r>
              <a:rPr lang="en-US" sz="900" dirty="0">
                <a:solidFill>
                  <a:srgbClr val="9A9EB2"/>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02336"/>
            <a:ext cx="11094415" cy="274320"/>
          </a:xfrm>
          <a:prstGeom prst="rect">
            <a:avLst/>
          </a:prstGeom>
          <a:noFill/>
          <a:ln/>
        </p:spPr>
        <p:txBody>
          <a:bodyPr wrap="square" lIns="0" tIns="0" rIns="0" bIns="0" rtlCol="0" anchor="ctr"/>
          <a:lstStyle/>
          <a:p>
            <a:pPr marL="0" indent="0">
              <a:buNone/>
            </a:pPr>
            <a:r>
              <a:rPr lang="en-US" sz="1150" b="1" kern="0" spc="200" dirty="0">
                <a:solidFill>
                  <a:srgbClr val="B06712"/>
                </a:solidFill>
                <a:latin typeface="Calibri" pitchFamily="34" charset="0"/>
                <a:ea typeface="Calibri" pitchFamily="34" charset="-122"/>
                <a:cs typeface="Calibri" pitchFamily="34" charset="-120"/>
              </a:rPr>
              <a:t>STEP 3 / 5 · DTW BARYCENTER AVERAGING</a:t>
            </a:r>
            <a:endParaRPr lang="en-US" sz="1150" dirty="0"/>
          </a:p>
        </p:txBody>
      </p:sp>
      <p:sp>
        <p:nvSpPr>
          <p:cNvPr id="3" name="Text 1"/>
          <p:cNvSpPr txBox="1"/>
          <p:nvPr/>
        </p:nvSpPr>
        <p:spPr>
          <a:xfrm>
            <a:off x="548640" y="694944"/>
            <a:ext cx="11094415" cy="914400"/>
          </a:xfrm>
          <a:prstGeom prst="rect">
            <a:avLst/>
          </a:prstGeom>
          <a:noFill/>
          <a:ln/>
        </p:spPr>
        <p:txBody>
          <a:bodyPr wrap="square" lIns="0" tIns="0" rIns="0" bIns="0" rtlCol="0" anchor="ctr"/>
          <a:lstStyle/>
          <a:p>
            <a:pPr marL="0" indent="0">
              <a:lnSpc>
                <a:spcPct val="98000"/>
              </a:lnSpc>
              <a:buNone/>
            </a:pPr>
            <a:r>
              <a:rPr lang="en-US" sz="2900" b="1" dirty="0">
                <a:solidFill>
                  <a:srgbClr val="1B1D29"/>
                </a:solidFill>
                <a:latin typeface="Calibri" pitchFamily="34" charset="0"/>
                <a:ea typeface="Calibri" pitchFamily="34" charset="-122"/>
                <a:cs typeface="Calibri" pitchFamily="34" charset="-120"/>
              </a:rPr>
              <a:t>Averaging beats the best single recording — on every sign.</a:t>
            </a:r>
            <a:endParaRPr lang="en-US" sz="2900" dirty="0"/>
          </a:p>
        </p:txBody>
      </p:sp>
      <p:sp>
        <p:nvSpPr>
          <p:cNvPr id="4" name="Text 2"/>
          <p:cNvSpPr txBox="1"/>
          <p:nvPr/>
        </p:nvSpPr>
        <p:spPr>
          <a:xfrm>
            <a:off x="548640" y="1691640"/>
            <a:ext cx="3246120" cy="4206240"/>
          </a:xfrm>
          <a:prstGeom prst="rect">
            <a:avLst/>
          </a:prstGeom>
          <a:noFill/>
          <a:ln/>
        </p:spPr>
        <p:txBody>
          <a:bodyPr wrap="square" lIns="0" tIns="0" rIns="0" bIns="0" rtlCol="0" anchor="t"/>
          <a:lstStyle/>
          <a:p>
            <a:pPr marL="203200" indent="-203200">
              <a:lnSpc>
                <a:spcPct val="103000"/>
              </a:lnSpc>
              <a:buSzPct val="100000"/>
              <a:buChar char="•"/>
            </a:pPr>
            <a:r>
              <a:rPr lang="en-US" sz="1250" b="1" dirty="0">
                <a:solidFill>
                  <a:srgbClr val="1B1D29"/>
                </a:solidFill>
                <a:latin typeface="Calibri" pitchFamily="34" charset="0"/>
                <a:ea typeface="Calibri" pitchFamily="34" charset="-122"/>
                <a:cs typeface="Calibri" pitchFamily="34" charset="-120"/>
              </a:rPr>
              <a:t>Time-align, then average.  </a:t>
            </a:r>
            <a:r>
              <a:rPr lang="en-US" sz="1250" dirty="0">
                <a:solidFill>
                  <a:srgbClr val="5A5E76"/>
                </a:solidFill>
                <a:latin typeface="Calibri" pitchFamily="34" charset="0"/>
                <a:ea typeface="Calibri" pitchFamily="34" charset="-122"/>
                <a:cs typeface="Calibri" pitchFamily="34" charset="-120"/>
              </a:rPr>
              <a:t>Dynamic Time Warping lines takes up in time; DBA (Petitjean, 2011) averages them.</a:t>
            </a:r>
            <a:endParaRPr lang="en-US" sz="1250" dirty="0"/>
          </a:p>
          <a:p>
            <a:pPr marL="203200" indent="-203200">
              <a:lnSpc>
                <a:spcPct val="103000"/>
              </a:lnSpc>
              <a:buSzPct val="100000"/>
              <a:buChar char="•"/>
            </a:pPr>
            <a:r>
              <a:rPr lang="en-US" sz="1250" b="1" dirty="0">
                <a:solidFill>
                  <a:srgbClr val="1B1D29"/>
                </a:solidFill>
                <a:latin typeface="Calibri" pitchFamily="34" charset="0"/>
                <a:ea typeface="Calibri" pitchFamily="34" charset="-122"/>
                <a:cs typeface="Calibri" pitchFamily="34" charset="-120"/>
              </a:rPr>
              <a:t>Not a trained network.  </a:t>
            </a:r>
            <a:r>
              <a:rPr lang="en-US" sz="1250" dirty="0">
                <a:solidFill>
                  <a:srgbClr val="5A5E76"/>
                </a:solidFill>
                <a:latin typeface="Calibri" pitchFamily="34" charset="0"/>
                <a:ea typeface="Calibri" pitchFamily="34" charset="-122"/>
                <a:cs typeface="Calibri" pitchFamily="34" charset="-120"/>
              </a:rPr>
              <a:t>No accuracy score — it’s unsupervised template estimation.</a:t>
            </a:r>
            <a:endParaRPr lang="en-US" sz="1250" dirty="0"/>
          </a:p>
          <a:p>
            <a:pPr marL="203200" indent="-203200">
              <a:lnSpc>
                <a:spcPct val="103000"/>
              </a:lnSpc>
              <a:buSzPct val="100000"/>
              <a:buChar char="•"/>
            </a:pPr>
            <a:r>
              <a:rPr lang="en-US" sz="1250" b="1" dirty="0">
                <a:solidFill>
                  <a:srgbClr val="1B1D29"/>
                </a:solidFill>
                <a:latin typeface="Calibri" pitchFamily="34" charset="0"/>
                <a:ea typeface="Calibri" pitchFamily="34" charset="-122"/>
                <a:cs typeface="Calibri" pitchFamily="34" charset="-120"/>
              </a:rPr>
              <a:t>Right call at this scale.  </a:t>
            </a:r>
            <a:r>
              <a:rPr lang="en-US" sz="1250" dirty="0">
                <a:solidFill>
                  <a:srgbClr val="5A5E76"/>
                </a:solidFill>
                <a:latin typeface="Calibri" pitchFamily="34" charset="0"/>
                <a:ea typeface="Calibri" pitchFamily="34" charset="-122"/>
                <a:cs typeface="Calibri" pitchFamily="34" charset="-120"/>
              </a:rPr>
              <a:t>329 sequences would make a net memorise; averaging has nothing to overfit.</a:t>
            </a:r>
            <a:endParaRPr lang="en-US" sz="1250" dirty="0"/>
          </a:p>
          <a:p>
            <a:pPr marL="203200" indent="-203200">
              <a:lnSpc>
                <a:spcPct val="103000"/>
              </a:lnSpc>
              <a:buSzPct val="100000"/>
              <a:buChar char="•"/>
            </a:pPr>
            <a:r>
              <a:rPr lang="en-US" sz="1250" b="1" dirty="0">
                <a:solidFill>
                  <a:srgbClr val="1B1D29"/>
                </a:solidFill>
                <a:latin typeface="Calibri" pitchFamily="34" charset="0"/>
                <a:ea typeface="Calibri" pitchFamily="34" charset="-122"/>
                <a:cs typeface="Calibri" pitchFamily="34" charset="-120"/>
              </a:rPr>
              <a:t>At thousands of signs,  </a:t>
            </a:r>
            <a:r>
              <a:rPr lang="en-US" sz="1250" dirty="0">
                <a:solidFill>
                  <a:srgbClr val="5A5E76"/>
                </a:solidFill>
                <a:latin typeface="Calibri" pitchFamily="34" charset="0"/>
                <a:ea typeface="Calibri" pitchFamily="34" charset="-122"/>
                <a:cs typeface="Calibri" pitchFamily="34" charset="-120"/>
              </a:rPr>
              <a:t>a learned model wins — flagged in future work, on evidence.</a:t>
            </a:r>
            <a:endParaRPr lang="en-US" sz="1250" dirty="0"/>
          </a:p>
        </p:txBody>
      </p:sp>
      <p:sp>
        <p:nvSpPr>
          <p:cNvPr id="5" name="Text 3"/>
          <p:cNvSpPr txBox="1"/>
          <p:nvPr/>
        </p:nvSpPr>
        <p:spPr>
          <a:xfrm>
            <a:off x="3977640" y="1600200"/>
            <a:ext cx="7680960" cy="274320"/>
          </a:xfrm>
          <a:prstGeom prst="rect">
            <a:avLst/>
          </a:prstGeom>
          <a:noFill/>
          <a:ln/>
        </p:spPr>
        <p:txBody>
          <a:bodyPr wrap="square" lIns="0" tIns="0" rIns="0" bIns="0" rtlCol="0" anchor="ctr"/>
          <a:lstStyle/>
          <a:p>
            <a:pPr marL="0" indent="0">
              <a:buNone/>
            </a:pPr>
            <a:r>
              <a:rPr lang="en-US" sz="1050" b="1" kern="0" spc="100" dirty="0">
                <a:solidFill>
                  <a:srgbClr val="33357A"/>
                </a:solidFill>
                <a:latin typeface="Calibri" pitchFamily="34" charset="0"/>
                <a:ea typeface="Calibri" pitchFamily="34" charset="-122"/>
                <a:cs typeface="Calibri" pitchFamily="34" charset="-120"/>
              </a:rPr>
              <a:t>GAIN OVER THE BEST SINGLE TAKE · PER SIGN (%)</a:t>
            </a:r>
            <a:endParaRPr lang="en-US" sz="1050" dirty="0"/>
          </a:p>
        </p:txBody>
      </p:sp>
      <p:graphicFrame>
        <p:nvGraphicFramePr>
          <p:cNvPr id="6" name="Chart 0"/>
          <p:cNvGraphicFramePr/>
          <p:nvPr/>
        </p:nvGraphicFramePr>
        <p:xfrm>
          <a:off x="3840480" y="1874520"/>
          <a:ext cx="7955280" cy="434340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4"/>
          <p:cNvSpPr txBox="1"/>
          <p:nvPr/>
        </p:nvSpPr>
        <p:spPr>
          <a:xfrm>
            <a:off x="3840480" y="6263640"/>
            <a:ext cx="7955280" cy="274320"/>
          </a:xfrm>
          <a:prstGeom prst="rect">
            <a:avLst/>
          </a:prstGeom>
          <a:noFill/>
          <a:ln/>
        </p:spPr>
        <p:txBody>
          <a:bodyPr wrap="square" lIns="0" tIns="0" rIns="0" bIns="0" rtlCol="0" anchor="ctr"/>
          <a:lstStyle/>
          <a:p>
            <a:pPr marL="0" indent="0">
              <a:buNone/>
            </a:pPr>
            <a:r>
              <a:rPr lang="en-US" sz="1000" i="1" dirty="0">
                <a:solidFill>
                  <a:srgbClr val="9A9EB2"/>
                </a:solidFill>
                <a:latin typeface="Calibri" pitchFamily="34" charset="0"/>
                <a:ea typeface="Calibri" pitchFamily="34" charset="-122"/>
                <a:cs typeface="Calibri" pitchFamily="34" charset="-120"/>
              </a:rPr>
              <a:t>range +0.4% to +10.7% · the closer a sign’s takes already agree, the less averaging can add</a:t>
            </a:r>
            <a:endParaRPr lang="en-US" sz="1000" dirty="0"/>
          </a:p>
        </p:txBody>
      </p:sp>
      <p:sp>
        <p:nvSpPr>
          <p:cNvPr id="8" name="Text 5"/>
          <p:cNvSpPr txBox="1"/>
          <p:nvPr/>
        </p:nvSpPr>
        <p:spPr>
          <a:xfrm>
            <a:off x="548640" y="6473952"/>
            <a:ext cx="4572000" cy="274320"/>
          </a:xfrm>
          <a:prstGeom prst="rect">
            <a:avLst/>
          </a:prstGeom>
          <a:noFill/>
          <a:ln/>
        </p:spPr>
        <p:txBody>
          <a:bodyPr wrap="square" lIns="0" tIns="0" rIns="0" bIns="0" rtlCol="0" anchor="ctr"/>
          <a:lstStyle/>
          <a:p>
            <a:pPr marL="0" indent="0">
              <a:buNone/>
            </a:pPr>
            <a:r>
              <a:rPr lang="en-US" sz="900" dirty="0">
                <a:solidFill>
                  <a:srgbClr val="9A9EB2"/>
                </a:solidFill>
                <a:latin typeface="Calibri" pitchFamily="34" charset="0"/>
                <a:ea typeface="Calibri" pitchFamily="34" charset="-122"/>
                <a:cs typeface="Calibri" pitchFamily="34" charset="-120"/>
              </a:rPr>
              <a:t>AvatarEngine · ISL</a:t>
            </a:r>
            <a:endParaRPr lang="en-US" sz="900" dirty="0"/>
          </a:p>
        </p:txBody>
      </p:sp>
      <p:sp>
        <p:nvSpPr>
          <p:cNvPr id="9" name="Text 6"/>
          <p:cNvSpPr txBox="1"/>
          <p:nvPr/>
        </p:nvSpPr>
        <p:spPr>
          <a:xfrm>
            <a:off x="11094415" y="6473952"/>
            <a:ext cx="548640" cy="274320"/>
          </a:xfrm>
          <a:prstGeom prst="rect">
            <a:avLst/>
          </a:prstGeom>
          <a:noFill/>
          <a:ln/>
        </p:spPr>
        <p:txBody>
          <a:bodyPr wrap="square" lIns="0" tIns="0" rIns="0" bIns="0" rtlCol="0" anchor="ctr"/>
          <a:lstStyle/>
          <a:p>
            <a:pPr marL="0" indent="0" algn="r">
              <a:buNone/>
            </a:pPr>
            <a:r>
              <a:rPr lang="en-US" sz="900" dirty="0">
                <a:solidFill>
                  <a:srgbClr val="9A9EB2"/>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02336"/>
            <a:ext cx="11094415" cy="274320"/>
          </a:xfrm>
          <a:prstGeom prst="rect">
            <a:avLst/>
          </a:prstGeom>
          <a:noFill/>
          <a:ln/>
        </p:spPr>
        <p:txBody>
          <a:bodyPr wrap="square" lIns="0" tIns="0" rIns="0" bIns="0" rtlCol="0" anchor="ctr"/>
          <a:lstStyle/>
          <a:p>
            <a:pPr marL="0" indent="0">
              <a:buNone/>
            </a:pPr>
            <a:r>
              <a:rPr lang="en-US" sz="1150" b="1" kern="0" spc="200" dirty="0">
                <a:solidFill>
                  <a:srgbClr val="B06712"/>
                </a:solidFill>
                <a:latin typeface="Calibri" pitchFamily="34" charset="0"/>
                <a:ea typeface="Calibri" pitchFamily="34" charset="-122"/>
                <a:cs typeface="Calibri" pitchFamily="34" charset="-120"/>
              </a:rPr>
              <a:t>STEP 3 / 5 · MAKING THE AVERAGE PHYSICALLY REAL</a:t>
            </a:r>
            <a:endParaRPr lang="en-US" sz="1150" dirty="0"/>
          </a:p>
        </p:txBody>
      </p:sp>
      <p:sp>
        <p:nvSpPr>
          <p:cNvPr id="3" name="Text 1"/>
          <p:cNvSpPr txBox="1"/>
          <p:nvPr/>
        </p:nvSpPr>
        <p:spPr>
          <a:xfrm>
            <a:off x="548640" y="694944"/>
            <a:ext cx="11094415" cy="914400"/>
          </a:xfrm>
          <a:prstGeom prst="rect">
            <a:avLst/>
          </a:prstGeom>
          <a:noFill/>
          <a:ln/>
        </p:spPr>
        <p:txBody>
          <a:bodyPr wrap="square" lIns="0" tIns="0" rIns="0" bIns="0" rtlCol="0" anchor="ctr"/>
          <a:lstStyle/>
          <a:p>
            <a:pPr marL="0" indent="0">
              <a:lnSpc>
                <a:spcPct val="98000"/>
              </a:lnSpc>
              <a:buNone/>
            </a:pPr>
            <a:r>
              <a:rPr lang="en-US" sz="2900" b="1" dirty="0">
                <a:solidFill>
                  <a:srgbClr val="1B1D29"/>
                </a:solidFill>
                <a:latin typeface="Calibri" pitchFamily="34" charset="0"/>
                <a:ea typeface="Calibri" pitchFamily="34" charset="-122"/>
                <a:cs typeface="Calibri" pitchFamily="34" charset="-120"/>
              </a:rPr>
              <a:t>A naïve average breaks the body. Every fix here was found by measurement.</a:t>
            </a:r>
            <a:endParaRPr lang="en-US" sz="2900" dirty="0"/>
          </a:p>
        </p:txBody>
      </p:sp>
      <p:sp>
        <p:nvSpPr>
          <p:cNvPr id="4" name="Shape 2"/>
          <p:cNvSpPr/>
          <p:nvPr/>
        </p:nvSpPr>
        <p:spPr>
          <a:xfrm>
            <a:off x="548640" y="1737360"/>
            <a:ext cx="5410048" cy="1298448"/>
          </a:xfrm>
          <a:prstGeom prst="roundRect">
            <a:avLst>
              <a:gd name="adj" fmla="val 6338"/>
            </a:avLst>
          </a:prstGeom>
          <a:solidFill>
            <a:srgbClr val="F2F2F9"/>
          </a:solidFill>
          <a:ln/>
          <a:effectLst>
            <a:outerShdw blurRad="114300" dist="38100" dir="5400000" algn="bl" rotWithShape="0">
              <a:srgbClr val="9195AE">
                <a:alpha val="30000"/>
              </a:srgbClr>
            </a:outerShdw>
          </a:effectLst>
        </p:spPr>
      </p:sp>
      <p:sp>
        <p:nvSpPr>
          <p:cNvPr id="5" name="Text 3"/>
          <p:cNvSpPr txBox="1"/>
          <p:nvPr/>
        </p:nvSpPr>
        <p:spPr>
          <a:xfrm>
            <a:off x="768096" y="1920240"/>
            <a:ext cx="4971136" cy="219456"/>
          </a:xfrm>
          <a:prstGeom prst="rect">
            <a:avLst/>
          </a:prstGeom>
          <a:noFill/>
          <a:ln/>
        </p:spPr>
        <p:txBody>
          <a:bodyPr wrap="square" lIns="0" tIns="0" rIns="0" bIns="0" rtlCol="0" anchor="ctr"/>
          <a:lstStyle/>
          <a:p>
            <a:pPr marL="0" indent="0">
              <a:buNone/>
            </a:pPr>
            <a:r>
              <a:rPr lang="en-US" sz="950" b="1" kern="0" spc="140" dirty="0">
                <a:solidFill>
                  <a:srgbClr val="33357A"/>
                </a:solidFill>
                <a:latin typeface="Calibri" pitchFamily="34" charset="0"/>
                <a:ea typeface="Calibri" pitchFamily="34" charset="-122"/>
                <a:cs typeface="Calibri" pitchFamily="34" charset="-120"/>
              </a:rPr>
              <a:t>AVERAGE ROTATIONS, NOT POSITIONS</a:t>
            </a:r>
            <a:endParaRPr lang="en-US" sz="950" dirty="0"/>
          </a:p>
        </p:txBody>
      </p:sp>
      <p:sp>
        <p:nvSpPr>
          <p:cNvPr id="6" name="Text 4"/>
          <p:cNvSpPr txBox="1"/>
          <p:nvPr/>
        </p:nvSpPr>
        <p:spPr>
          <a:xfrm>
            <a:off x="768096" y="2194560"/>
            <a:ext cx="4971136" cy="676656"/>
          </a:xfrm>
          <a:prstGeom prst="rect">
            <a:avLst/>
          </a:prstGeom>
          <a:noFill/>
          <a:ln/>
        </p:spPr>
        <p:txBody>
          <a:bodyPr wrap="square" lIns="0" tIns="0" rIns="0" bIns="0" rtlCol="0" anchor="t"/>
          <a:lstStyle/>
          <a:p>
            <a:pPr marL="0" indent="0">
              <a:lnSpc>
                <a:spcPct val="102000"/>
              </a:lnSpc>
              <a:buNone/>
            </a:pPr>
            <a:r>
              <a:rPr lang="en-US" sz="1200" dirty="0">
                <a:solidFill>
                  <a:srgbClr val="5A5E76"/>
                </a:solidFill>
                <a:latin typeface="Calibri" pitchFamily="34" charset="0"/>
                <a:ea typeface="Calibri" pitchFamily="34" charset="-122"/>
                <a:cs typeface="Calibri" pitchFamily="34" charset="-120"/>
              </a:rPr>
              <a:t>Averaging joint positions folds fingers into curls no hand can hold. Averaging each bone’s direction keeps the pose real.</a:t>
            </a:r>
            <a:endParaRPr lang="en-US" sz="1200" dirty="0"/>
          </a:p>
        </p:txBody>
      </p:sp>
      <p:sp>
        <p:nvSpPr>
          <p:cNvPr id="7" name="Shape 5"/>
          <p:cNvSpPr/>
          <p:nvPr/>
        </p:nvSpPr>
        <p:spPr>
          <a:xfrm>
            <a:off x="6233008" y="1737360"/>
            <a:ext cx="5410048" cy="1298448"/>
          </a:xfrm>
          <a:prstGeom prst="roundRect">
            <a:avLst>
              <a:gd name="adj" fmla="val 6338"/>
            </a:avLst>
          </a:prstGeom>
          <a:solidFill>
            <a:srgbClr val="F2F2F9"/>
          </a:solidFill>
          <a:ln/>
          <a:effectLst>
            <a:outerShdw blurRad="114300" dist="38100" dir="5400000" algn="bl" rotWithShape="0">
              <a:srgbClr val="9195AE">
                <a:alpha val="30000"/>
              </a:srgbClr>
            </a:outerShdw>
          </a:effectLst>
        </p:spPr>
      </p:sp>
      <p:sp>
        <p:nvSpPr>
          <p:cNvPr id="8" name="Text 6"/>
          <p:cNvSpPr txBox="1"/>
          <p:nvPr/>
        </p:nvSpPr>
        <p:spPr>
          <a:xfrm>
            <a:off x="6452464" y="1920240"/>
            <a:ext cx="4971136" cy="219456"/>
          </a:xfrm>
          <a:prstGeom prst="rect">
            <a:avLst/>
          </a:prstGeom>
          <a:noFill/>
          <a:ln/>
        </p:spPr>
        <p:txBody>
          <a:bodyPr wrap="square" lIns="0" tIns="0" rIns="0" bIns="0" rtlCol="0" anchor="ctr"/>
          <a:lstStyle/>
          <a:p>
            <a:pPr marL="0" indent="0">
              <a:buNone/>
            </a:pPr>
            <a:r>
              <a:rPr lang="en-US" sz="950" b="1" kern="0" spc="140" dirty="0">
                <a:solidFill>
                  <a:srgbClr val="33357A"/>
                </a:solidFill>
                <a:latin typeface="Calibri" pitchFamily="34" charset="0"/>
                <a:ea typeface="Calibri" pitchFamily="34" charset="-122"/>
                <a:cs typeface="Calibri" pitchFamily="34" charset="-120"/>
              </a:rPr>
              <a:t>PALM-FLIP REPAIR</a:t>
            </a:r>
            <a:endParaRPr lang="en-US" sz="950" dirty="0"/>
          </a:p>
        </p:txBody>
      </p:sp>
      <p:sp>
        <p:nvSpPr>
          <p:cNvPr id="9" name="Text 7"/>
          <p:cNvSpPr txBox="1"/>
          <p:nvPr/>
        </p:nvSpPr>
        <p:spPr>
          <a:xfrm>
            <a:off x="6452464" y="2194560"/>
            <a:ext cx="4971136" cy="676656"/>
          </a:xfrm>
          <a:prstGeom prst="rect">
            <a:avLst/>
          </a:prstGeom>
          <a:noFill/>
          <a:ln/>
        </p:spPr>
        <p:txBody>
          <a:bodyPr wrap="square" lIns="0" tIns="0" rIns="0" bIns="0" rtlCol="0" anchor="t"/>
          <a:lstStyle/>
          <a:p>
            <a:pPr marL="0" indent="0">
              <a:lnSpc>
                <a:spcPct val="102000"/>
              </a:lnSpc>
              <a:buNone/>
            </a:pPr>
            <a:r>
              <a:rPr lang="en-US" sz="1200" dirty="0">
                <a:solidFill>
                  <a:srgbClr val="5A5E76"/>
                </a:solidFill>
                <a:latin typeface="Calibri" pitchFamily="34" charset="0"/>
                <a:ea typeface="Calibri" pitchFamily="34" charset="-122"/>
                <a:cs typeface="Calibri" pitchFamily="34" charset="-120"/>
              </a:rPr>
              <a:t>Depth ambiguity flips the palm 180° between frames. Frames implying &gt;900°/s of wrist rotation are rejected and interpolated.</a:t>
            </a:r>
            <a:endParaRPr lang="en-US" sz="1200" dirty="0"/>
          </a:p>
        </p:txBody>
      </p:sp>
      <p:sp>
        <p:nvSpPr>
          <p:cNvPr id="10" name="Shape 8"/>
          <p:cNvSpPr/>
          <p:nvPr/>
        </p:nvSpPr>
        <p:spPr>
          <a:xfrm>
            <a:off x="548640" y="3154680"/>
            <a:ext cx="5410048" cy="1298448"/>
          </a:xfrm>
          <a:prstGeom prst="roundRect">
            <a:avLst>
              <a:gd name="adj" fmla="val 6338"/>
            </a:avLst>
          </a:prstGeom>
          <a:solidFill>
            <a:srgbClr val="F2F2F9"/>
          </a:solidFill>
          <a:ln/>
          <a:effectLst>
            <a:outerShdw blurRad="114300" dist="38100" dir="5400000" algn="bl" rotWithShape="0">
              <a:srgbClr val="9195AE">
                <a:alpha val="30000"/>
              </a:srgbClr>
            </a:outerShdw>
          </a:effectLst>
        </p:spPr>
      </p:sp>
      <p:sp>
        <p:nvSpPr>
          <p:cNvPr id="11" name="Text 9"/>
          <p:cNvSpPr txBox="1"/>
          <p:nvPr/>
        </p:nvSpPr>
        <p:spPr>
          <a:xfrm>
            <a:off x="768096" y="3337560"/>
            <a:ext cx="4971136" cy="219456"/>
          </a:xfrm>
          <a:prstGeom prst="rect">
            <a:avLst/>
          </a:prstGeom>
          <a:noFill/>
          <a:ln/>
        </p:spPr>
        <p:txBody>
          <a:bodyPr wrap="square" lIns="0" tIns="0" rIns="0" bIns="0" rtlCol="0" anchor="ctr"/>
          <a:lstStyle/>
          <a:p>
            <a:pPr marL="0" indent="0">
              <a:buNone/>
            </a:pPr>
            <a:r>
              <a:rPr lang="en-US" sz="950" b="1" kern="0" spc="140" dirty="0">
                <a:solidFill>
                  <a:srgbClr val="33357A"/>
                </a:solidFill>
                <a:latin typeface="Calibri" pitchFamily="34" charset="0"/>
                <a:ea typeface="Calibri" pitchFamily="34" charset="-122"/>
                <a:cs typeface="Calibri" pitchFamily="34" charset="-120"/>
              </a:rPr>
              <a:t>SMOOTH ON JERK, NOT JUST SPEED</a:t>
            </a:r>
            <a:endParaRPr lang="en-US" sz="950" dirty="0"/>
          </a:p>
        </p:txBody>
      </p:sp>
      <p:sp>
        <p:nvSpPr>
          <p:cNvPr id="12" name="Text 10"/>
          <p:cNvSpPr txBox="1"/>
          <p:nvPr/>
        </p:nvSpPr>
        <p:spPr>
          <a:xfrm>
            <a:off x="768096" y="3611880"/>
            <a:ext cx="4971136" cy="676656"/>
          </a:xfrm>
          <a:prstGeom prst="rect">
            <a:avLst/>
          </a:prstGeom>
          <a:noFill/>
          <a:ln/>
        </p:spPr>
        <p:txBody>
          <a:bodyPr wrap="square" lIns="0" tIns="0" rIns="0" bIns="0" rtlCol="0" anchor="t"/>
          <a:lstStyle/>
          <a:p>
            <a:pPr marL="0" indent="0">
              <a:lnSpc>
                <a:spcPct val="102000"/>
              </a:lnSpc>
              <a:buNone/>
            </a:pPr>
            <a:r>
              <a:rPr lang="en-US" sz="1200" dirty="0">
                <a:solidFill>
                  <a:srgbClr val="5A5E76"/>
                </a:solidFill>
                <a:latin typeface="Calibri" pitchFamily="34" charset="0"/>
                <a:ea typeface="Calibri" pitchFamily="34" charset="-122"/>
                <a:cs typeface="Calibri" pitchFamily="34" charset="-120"/>
              </a:rPr>
              <a:t>Per-sign smoothing is chosen against an absolute jerk ceiling — a shaky sign cannot ship shaky.</a:t>
            </a:r>
            <a:endParaRPr lang="en-US" sz="1200" dirty="0"/>
          </a:p>
        </p:txBody>
      </p:sp>
      <p:sp>
        <p:nvSpPr>
          <p:cNvPr id="13" name="Shape 11"/>
          <p:cNvSpPr/>
          <p:nvPr/>
        </p:nvSpPr>
        <p:spPr>
          <a:xfrm>
            <a:off x="6233008" y="3154680"/>
            <a:ext cx="5410048" cy="1298448"/>
          </a:xfrm>
          <a:prstGeom prst="roundRect">
            <a:avLst>
              <a:gd name="adj" fmla="val 6338"/>
            </a:avLst>
          </a:prstGeom>
          <a:solidFill>
            <a:srgbClr val="F2F2F9"/>
          </a:solidFill>
          <a:ln/>
          <a:effectLst>
            <a:outerShdw blurRad="114300" dist="38100" dir="5400000" algn="bl" rotWithShape="0">
              <a:srgbClr val="9195AE">
                <a:alpha val="30000"/>
              </a:srgbClr>
            </a:outerShdw>
          </a:effectLst>
        </p:spPr>
      </p:sp>
      <p:sp>
        <p:nvSpPr>
          <p:cNvPr id="14" name="Text 12"/>
          <p:cNvSpPr txBox="1"/>
          <p:nvPr/>
        </p:nvSpPr>
        <p:spPr>
          <a:xfrm>
            <a:off x="6452464" y="3337560"/>
            <a:ext cx="4971136" cy="219456"/>
          </a:xfrm>
          <a:prstGeom prst="rect">
            <a:avLst/>
          </a:prstGeom>
          <a:noFill/>
          <a:ln/>
        </p:spPr>
        <p:txBody>
          <a:bodyPr wrap="square" lIns="0" tIns="0" rIns="0" bIns="0" rtlCol="0" anchor="ctr"/>
          <a:lstStyle/>
          <a:p>
            <a:pPr marL="0" indent="0">
              <a:buNone/>
            </a:pPr>
            <a:r>
              <a:rPr lang="en-US" sz="950" b="1" kern="0" spc="140" dirty="0">
                <a:solidFill>
                  <a:srgbClr val="B06712"/>
                </a:solidFill>
                <a:latin typeface="Calibri" pitchFamily="34" charset="0"/>
                <a:ea typeface="Calibri" pitchFamily="34" charset="-122"/>
                <a:cs typeface="Calibri" pitchFamily="34" charset="-120"/>
              </a:rPr>
              <a:t>ELBOW IK + HAND CLEARANCE</a:t>
            </a:r>
            <a:endParaRPr lang="en-US" sz="950" dirty="0"/>
          </a:p>
        </p:txBody>
      </p:sp>
      <p:sp>
        <p:nvSpPr>
          <p:cNvPr id="15" name="Text 13"/>
          <p:cNvSpPr txBox="1"/>
          <p:nvPr/>
        </p:nvSpPr>
        <p:spPr>
          <a:xfrm>
            <a:off x="6452464" y="3611880"/>
            <a:ext cx="4971136" cy="676656"/>
          </a:xfrm>
          <a:prstGeom prst="rect">
            <a:avLst/>
          </a:prstGeom>
          <a:noFill/>
          <a:ln/>
        </p:spPr>
        <p:txBody>
          <a:bodyPr wrap="square" lIns="0" tIns="0" rIns="0" bIns="0" rtlCol="0" anchor="t"/>
          <a:lstStyle/>
          <a:p>
            <a:pPr marL="0" indent="0">
              <a:lnSpc>
                <a:spcPct val="102000"/>
              </a:lnSpc>
              <a:buNone/>
            </a:pPr>
            <a:r>
              <a:rPr lang="en-US" sz="1200" dirty="0">
                <a:solidFill>
                  <a:srgbClr val="5A5E76"/>
                </a:solidFill>
                <a:latin typeface="Calibri" pitchFamily="34" charset="0"/>
                <a:ea typeface="Calibri" pitchFamily="34" charset="-122"/>
                <a:cs typeface="Calibri" pitchFamily="34" charset="-120"/>
              </a:rPr>
              <a:t>The avatar’s arms are ~1.3–1.5× the signers’, so copied angles put hands inside each other. We solve the elbow and push wrists apart exactly enough.</a:t>
            </a:r>
            <a:endParaRPr lang="en-US" sz="1200" dirty="0"/>
          </a:p>
        </p:txBody>
      </p:sp>
      <p:sp>
        <p:nvSpPr>
          <p:cNvPr id="16" name="Text 14"/>
          <p:cNvSpPr txBox="1"/>
          <p:nvPr/>
        </p:nvSpPr>
        <p:spPr>
          <a:xfrm>
            <a:off x="548640" y="4709160"/>
            <a:ext cx="3515258" cy="603504"/>
          </a:xfrm>
          <a:prstGeom prst="rect">
            <a:avLst/>
          </a:prstGeom>
          <a:noFill/>
          <a:ln/>
        </p:spPr>
        <p:txBody>
          <a:bodyPr wrap="square" lIns="0" tIns="0" rIns="0" bIns="0" rtlCol="0" anchor="ctr"/>
          <a:lstStyle/>
          <a:p>
            <a:pPr marL="0" indent="0">
              <a:buNone/>
            </a:pPr>
            <a:r>
              <a:rPr lang="en-US" sz="3600" b="1" dirty="0">
                <a:solidFill>
                  <a:srgbClr val="33357A"/>
                </a:solidFill>
                <a:latin typeface="Calibri" pitchFamily="34" charset="0"/>
                <a:ea typeface="Calibri" pitchFamily="34" charset="-122"/>
                <a:cs typeface="Calibri" pitchFamily="34" charset="-120"/>
              </a:rPr>
              <a:t>177°→~20°</a:t>
            </a:r>
            <a:endParaRPr lang="en-US" sz="3600" dirty="0"/>
          </a:p>
        </p:txBody>
      </p:sp>
      <p:sp>
        <p:nvSpPr>
          <p:cNvPr id="17" name="Text 15"/>
          <p:cNvSpPr txBox="1"/>
          <p:nvPr/>
        </p:nvSpPr>
        <p:spPr>
          <a:xfrm>
            <a:off x="548640" y="5312664"/>
            <a:ext cx="3515258" cy="822960"/>
          </a:xfrm>
          <a:prstGeom prst="rect">
            <a:avLst/>
          </a:prstGeom>
          <a:noFill/>
          <a:ln/>
        </p:spPr>
        <p:txBody>
          <a:bodyPr wrap="square" lIns="0" tIns="0" rIns="0" bIns="0" rtlCol="0" anchor="t"/>
          <a:lstStyle/>
          <a:p>
            <a:pPr marL="0" indent="0">
              <a:lnSpc>
                <a:spcPct val="100000"/>
              </a:lnSpc>
              <a:buNone/>
            </a:pPr>
            <a:r>
              <a:rPr lang="en-US" sz="1100" dirty="0">
                <a:solidFill>
                  <a:srgbClr val="5A5E76"/>
                </a:solidFill>
                <a:latin typeface="Calibri" pitchFamily="34" charset="0"/>
                <a:ea typeface="Calibri" pitchFamily="34" charset="-122"/>
                <a:cs typeface="Calibri" pitchFamily="34" charset="-120"/>
              </a:rPr>
              <a:t>worst-case wrist snap per frame, before → after</a:t>
            </a:r>
            <a:endParaRPr lang="en-US" sz="1100" dirty="0"/>
          </a:p>
        </p:txBody>
      </p:sp>
      <p:sp>
        <p:nvSpPr>
          <p:cNvPr id="18" name="Text 16"/>
          <p:cNvSpPr txBox="1"/>
          <p:nvPr/>
        </p:nvSpPr>
        <p:spPr>
          <a:xfrm>
            <a:off x="4338218" y="4709160"/>
            <a:ext cx="3515258" cy="603504"/>
          </a:xfrm>
          <a:prstGeom prst="rect">
            <a:avLst/>
          </a:prstGeom>
          <a:noFill/>
          <a:ln/>
        </p:spPr>
        <p:txBody>
          <a:bodyPr wrap="square" lIns="0" tIns="0" rIns="0" bIns="0" rtlCol="0" anchor="ctr"/>
          <a:lstStyle/>
          <a:p>
            <a:pPr marL="0" indent="0">
              <a:buNone/>
            </a:pPr>
            <a:r>
              <a:rPr lang="en-US" sz="3600" b="1" dirty="0">
                <a:solidFill>
                  <a:srgbClr val="2F7D6B"/>
                </a:solidFill>
                <a:latin typeface="Calibri" pitchFamily="34" charset="0"/>
                <a:ea typeface="Calibri" pitchFamily="34" charset="-122"/>
                <a:cs typeface="Calibri" pitchFamily="34" charset="-120"/>
              </a:rPr>
              <a:t>0.0%</a:t>
            </a:r>
            <a:endParaRPr lang="en-US" sz="3600" dirty="0"/>
          </a:p>
        </p:txBody>
      </p:sp>
      <p:sp>
        <p:nvSpPr>
          <p:cNvPr id="19" name="Text 17"/>
          <p:cNvSpPr txBox="1"/>
          <p:nvPr/>
        </p:nvSpPr>
        <p:spPr>
          <a:xfrm>
            <a:off x="4338218" y="5312664"/>
            <a:ext cx="3515258" cy="822960"/>
          </a:xfrm>
          <a:prstGeom prst="rect">
            <a:avLst/>
          </a:prstGeom>
          <a:noFill/>
          <a:ln/>
        </p:spPr>
        <p:txBody>
          <a:bodyPr wrap="square" lIns="0" tIns="0" rIns="0" bIns="0" rtlCol="0" anchor="t"/>
          <a:lstStyle/>
          <a:p>
            <a:pPr marL="0" indent="0">
              <a:lnSpc>
                <a:spcPct val="100000"/>
              </a:lnSpc>
              <a:buNone/>
            </a:pPr>
            <a:r>
              <a:rPr lang="en-US" sz="1100" dirty="0">
                <a:solidFill>
                  <a:srgbClr val="5A5E76"/>
                </a:solidFill>
                <a:latin typeface="Calibri" pitchFamily="34" charset="0"/>
                <a:ea typeface="Calibri" pitchFamily="34" charset="-122"/>
                <a:cs typeface="Calibri" pitchFamily="34" charset="-120"/>
              </a:rPr>
              <a:t>frames left above the human speed limit (was up to 6%)</a:t>
            </a:r>
            <a:endParaRPr lang="en-US" sz="1100" dirty="0"/>
          </a:p>
        </p:txBody>
      </p:sp>
      <p:sp>
        <p:nvSpPr>
          <p:cNvPr id="20" name="Text 18"/>
          <p:cNvSpPr txBox="1"/>
          <p:nvPr/>
        </p:nvSpPr>
        <p:spPr>
          <a:xfrm>
            <a:off x="8127797" y="4709160"/>
            <a:ext cx="3515258" cy="603504"/>
          </a:xfrm>
          <a:prstGeom prst="rect">
            <a:avLst/>
          </a:prstGeom>
          <a:noFill/>
          <a:ln/>
        </p:spPr>
        <p:txBody>
          <a:bodyPr wrap="square" lIns="0" tIns="0" rIns="0" bIns="0" rtlCol="0" anchor="ctr"/>
          <a:lstStyle/>
          <a:p>
            <a:pPr marL="0" indent="0">
              <a:buNone/>
            </a:pPr>
            <a:r>
              <a:rPr lang="en-US" sz="3600" b="1" dirty="0">
                <a:solidFill>
                  <a:srgbClr val="B06712"/>
                </a:solidFill>
                <a:latin typeface="Calibri" pitchFamily="34" charset="0"/>
                <a:ea typeface="Calibri" pitchFamily="34" charset="-122"/>
                <a:cs typeface="Calibri" pitchFamily="34" charset="-120"/>
              </a:rPr>
              <a:t>0</a:t>
            </a:r>
            <a:endParaRPr lang="en-US" sz="3600" dirty="0"/>
          </a:p>
        </p:txBody>
      </p:sp>
      <p:sp>
        <p:nvSpPr>
          <p:cNvPr id="21" name="Text 19"/>
          <p:cNvSpPr txBox="1"/>
          <p:nvPr/>
        </p:nvSpPr>
        <p:spPr>
          <a:xfrm>
            <a:off x="8127797" y="5312664"/>
            <a:ext cx="3515258" cy="822960"/>
          </a:xfrm>
          <a:prstGeom prst="rect">
            <a:avLst/>
          </a:prstGeom>
          <a:noFill/>
          <a:ln/>
        </p:spPr>
        <p:txBody>
          <a:bodyPr wrap="square" lIns="0" tIns="0" rIns="0" bIns="0" rtlCol="0" anchor="t"/>
          <a:lstStyle/>
          <a:p>
            <a:pPr marL="0" indent="0">
              <a:lnSpc>
                <a:spcPct val="100000"/>
              </a:lnSpc>
              <a:buNone/>
            </a:pPr>
            <a:r>
              <a:rPr lang="en-US" sz="1100" dirty="0">
                <a:solidFill>
                  <a:srgbClr val="5A5E76"/>
                </a:solidFill>
                <a:latin typeface="Calibri" pitchFamily="34" charset="0"/>
                <a:ea typeface="Calibri" pitchFamily="34" charset="-122"/>
                <a:cs typeface="Calibri" pitchFamily="34" charset="-120"/>
              </a:rPr>
              <a:t>frames where the two hands still intersect on “we”</a:t>
            </a:r>
            <a:endParaRPr lang="en-US" sz="1100" dirty="0"/>
          </a:p>
        </p:txBody>
      </p:sp>
      <p:sp>
        <p:nvSpPr>
          <p:cNvPr id="22" name="Text 20"/>
          <p:cNvSpPr txBox="1"/>
          <p:nvPr/>
        </p:nvSpPr>
        <p:spPr>
          <a:xfrm>
            <a:off x="548640" y="6473952"/>
            <a:ext cx="4572000" cy="274320"/>
          </a:xfrm>
          <a:prstGeom prst="rect">
            <a:avLst/>
          </a:prstGeom>
          <a:noFill/>
          <a:ln/>
        </p:spPr>
        <p:txBody>
          <a:bodyPr wrap="square" lIns="0" tIns="0" rIns="0" bIns="0" rtlCol="0" anchor="ctr"/>
          <a:lstStyle/>
          <a:p>
            <a:pPr marL="0" indent="0">
              <a:buNone/>
            </a:pPr>
            <a:r>
              <a:rPr lang="en-US" sz="900" dirty="0">
                <a:solidFill>
                  <a:srgbClr val="9A9EB2"/>
                </a:solidFill>
                <a:latin typeface="Calibri" pitchFamily="34" charset="0"/>
                <a:ea typeface="Calibri" pitchFamily="34" charset="-122"/>
                <a:cs typeface="Calibri" pitchFamily="34" charset="-120"/>
              </a:rPr>
              <a:t>AvatarEngine · ISL</a:t>
            </a:r>
            <a:endParaRPr lang="en-US" sz="900" dirty="0"/>
          </a:p>
        </p:txBody>
      </p:sp>
      <p:sp>
        <p:nvSpPr>
          <p:cNvPr id="23" name="Text 21"/>
          <p:cNvSpPr txBox="1"/>
          <p:nvPr/>
        </p:nvSpPr>
        <p:spPr>
          <a:xfrm>
            <a:off x="11094415" y="6473952"/>
            <a:ext cx="548640" cy="274320"/>
          </a:xfrm>
          <a:prstGeom prst="rect">
            <a:avLst/>
          </a:prstGeom>
          <a:noFill/>
          <a:ln/>
        </p:spPr>
        <p:txBody>
          <a:bodyPr wrap="square" lIns="0" tIns="0" rIns="0" bIns="0" rtlCol="0" anchor="ctr"/>
          <a:lstStyle/>
          <a:p>
            <a:pPr marL="0" indent="0" algn="r">
              <a:buNone/>
            </a:pPr>
            <a:r>
              <a:rPr lang="en-US" sz="900" dirty="0">
                <a:solidFill>
                  <a:srgbClr val="9A9EB2"/>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02336"/>
            <a:ext cx="11094415" cy="274320"/>
          </a:xfrm>
          <a:prstGeom prst="rect">
            <a:avLst/>
          </a:prstGeom>
          <a:noFill/>
          <a:ln/>
        </p:spPr>
        <p:txBody>
          <a:bodyPr wrap="square" lIns="0" tIns="0" rIns="0" bIns="0" rtlCol="0" anchor="ctr"/>
          <a:lstStyle/>
          <a:p>
            <a:pPr marL="0" indent="0">
              <a:buNone/>
            </a:pPr>
            <a:r>
              <a:rPr lang="en-US" sz="1150" b="1" kern="0" spc="200" dirty="0">
                <a:solidFill>
                  <a:srgbClr val="B06712"/>
                </a:solidFill>
                <a:latin typeface="Calibri" pitchFamily="34" charset="0"/>
                <a:ea typeface="Calibri" pitchFamily="34" charset="-122"/>
                <a:cs typeface="Calibri" pitchFamily="34" charset="-120"/>
              </a:rPr>
              <a:t>STEP 4 / 5 · SPEECH &amp; LECTURE EXTRACTION</a:t>
            </a:r>
            <a:endParaRPr lang="en-US" sz="1150" dirty="0"/>
          </a:p>
        </p:txBody>
      </p:sp>
      <p:sp>
        <p:nvSpPr>
          <p:cNvPr id="3" name="Text 1"/>
          <p:cNvSpPr txBox="1"/>
          <p:nvPr/>
        </p:nvSpPr>
        <p:spPr>
          <a:xfrm>
            <a:off x="548640" y="694944"/>
            <a:ext cx="11094415" cy="914400"/>
          </a:xfrm>
          <a:prstGeom prst="rect">
            <a:avLst/>
          </a:prstGeom>
          <a:noFill/>
          <a:ln/>
        </p:spPr>
        <p:txBody>
          <a:bodyPr wrap="square" lIns="0" tIns="0" rIns="0" bIns="0" rtlCol="0" anchor="ctr"/>
          <a:lstStyle/>
          <a:p>
            <a:pPr marL="0" indent="0">
              <a:lnSpc>
                <a:spcPct val="98000"/>
              </a:lnSpc>
              <a:buNone/>
            </a:pPr>
            <a:r>
              <a:rPr lang="en-US" sz="2900" b="1" dirty="0">
                <a:solidFill>
                  <a:srgbClr val="1B1D29"/>
                </a:solidFill>
                <a:latin typeface="Calibri" pitchFamily="34" charset="0"/>
                <a:ea typeface="Calibri" pitchFamily="34" charset="-122"/>
                <a:cs typeface="Calibri" pitchFamily="34" charset="-120"/>
              </a:rPr>
              <a:t>Stop typing. Speak — or hand it a whole lecture.</a:t>
            </a:r>
            <a:endParaRPr lang="en-US" sz="2900" dirty="0"/>
          </a:p>
        </p:txBody>
      </p:sp>
      <p:sp>
        <p:nvSpPr>
          <p:cNvPr id="4" name="Shape 2"/>
          <p:cNvSpPr/>
          <p:nvPr/>
        </p:nvSpPr>
        <p:spPr>
          <a:xfrm>
            <a:off x="548640" y="1783080"/>
            <a:ext cx="3454298" cy="2514600"/>
          </a:xfrm>
          <a:prstGeom prst="roundRect">
            <a:avLst>
              <a:gd name="adj" fmla="val 3273"/>
            </a:avLst>
          </a:prstGeom>
          <a:solidFill>
            <a:srgbClr val="F2F2F9"/>
          </a:solidFill>
          <a:ln/>
          <a:effectLst>
            <a:outerShdw blurRad="114300" dist="38100" dir="5400000" algn="bl" rotWithShape="0">
              <a:srgbClr val="9195AE">
                <a:alpha val="30000"/>
              </a:srgbClr>
            </a:outerShdw>
          </a:effectLst>
        </p:spPr>
      </p:sp>
      <p:sp>
        <p:nvSpPr>
          <p:cNvPr id="5" name="Text 3"/>
          <p:cNvSpPr txBox="1"/>
          <p:nvPr/>
        </p:nvSpPr>
        <p:spPr>
          <a:xfrm>
            <a:off x="768096" y="1965960"/>
            <a:ext cx="3015386" cy="219456"/>
          </a:xfrm>
          <a:prstGeom prst="rect">
            <a:avLst/>
          </a:prstGeom>
          <a:noFill/>
          <a:ln/>
        </p:spPr>
        <p:txBody>
          <a:bodyPr wrap="square" lIns="0" tIns="0" rIns="0" bIns="0" rtlCol="0" anchor="ctr"/>
          <a:lstStyle/>
          <a:p>
            <a:pPr marL="0" indent="0">
              <a:buNone/>
            </a:pPr>
            <a:r>
              <a:rPr lang="en-US" sz="950" b="1" kern="0" spc="140" dirty="0">
                <a:solidFill>
                  <a:srgbClr val="33357A"/>
                </a:solidFill>
                <a:latin typeface="Calibri" pitchFamily="34" charset="0"/>
                <a:ea typeface="Calibri" pitchFamily="34" charset="-122"/>
                <a:cs typeface="Calibri" pitchFamily="34" charset="-120"/>
              </a:rPr>
              <a:t>SPEAK TO SIGN</a:t>
            </a:r>
            <a:endParaRPr lang="en-US" sz="950" dirty="0"/>
          </a:p>
        </p:txBody>
      </p:sp>
      <p:sp>
        <p:nvSpPr>
          <p:cNvPr id="6" name="Text 4"/>
          <p:cNvSpPr txBox="1"/>
          <p:nvPr/>
        </p:nvSpPr>
        <p:spPr>
          <a:xfrm>
            <a:off x="768096" y="2240280"/>
            <a:ext cx="3015386" cy="457200"/>
          </a:xfrm>
          <a:prstGeom prst="rect">
            <a:avLst/>
          </a:prstGeom>
          <a:noFill/>
          <a:ln/>
        </p:spPr>
        <p:txBody>
          <a:bodyPr wrap="square" lIns="0" tIns="0" rIns="0" bIns="0" rtlCol="0" anchor="t"/>
          <a:lstStyle/>
          <a:p>
            <a:pPr marL="0" indent="0">
              <a:lnSpc>
                <a:spcPct val="98000"/>
              </a:lnSpc>
              <a:buNone/>
            </a:pPr>
            <a:r>
              <a:rPr lang="en-US" sz="1600" b="1" dirty="0">
                <a:solidFill>
                  <a:srgbClr val="1B1D29"/>
                </a:solidFill>
                <a:latin typeface="Calibri" pitchFamily="34" charset="0"/>
                <a:ea typeface="Calibri" pitchFamily="34" charset="-122"/>
                <a:cs typeface="Calibri" pitchFamily="34" charset="-120"/>
              </a:rPr>
              <a:t>Voice in</a:t>
            </a:r>
            <a:endParaRPr lang="en-US" sz="1600" dirty="0"/>
          </a:p>
        </p:txBody>
      </p:sp>
      <p:sp>
        <p:nvSpPr>
          <p:cNvPr id="7" name="Text 5"/>
          <p:cNvSpPr txBox="1"/>
          <p:nvPr/>
        </p:nvSpPr>
        <p:spPr>
          <a:xfrm>
            <a:off x="768096" y="2642616"/>
            <a:ext cx="3015386" cy="1490472"/>
          </a:xfrm>
          <a:prstGeom prst="rect">
            <a:avLst/>
          </a:prstGeom>
          <a:noFill/>
          <a:ln/>
        </p:spPr>
        <p:txBody>
          <a:bodyPr wrap="square" lIns="0" tIns="0" rIns="0" bIns="0" rtlCol="0" anchor="t"/>
          <a:lstStyle/>
          <a:p>
            <a:pPr marL="0" indent="0">
              <a:lnSpc>
                <a:spcPct val="102000"/>
              </a:lnSpc>
              <a:buNone/>
            </a:pPr>
            <a:r>
              <a:rPr lang="en-US" sz="1250" dirty="0">
                <a:solidFill>
                  <a:srgbClr val="5A5E76"/>
                </a:solidFill>
                <a:latin typeface="Calibri" pitchFamily="34" charset="0"/>
                <a:ea typeface="Calibri" pitchFamily="34" charset="-122"/>
                <a:cs typeface="Calibri" pitchFamily="34" charset="-120"/>
              </a:rPr>
              <a:t>The browser’s speech recognition feeds the same text → gloss → avatar path.</a:t>
            </a:r>
            <a:endParaRPr lang="en-US" sz="1250" dirty="0"/>
          </a:p>
        </p:txBody>
      </p:sp>
      <p:sp>
        <p:nvSpPr>
          <p:cNvPr id="8" name="Shape 6"/>
          <p:cNvSpPr/>
          <p:nvPr/>
        </p:nvSpPr>
        <p:spPr>
          <a:xfrm>
            <a:off x="4368698" y="1783080"/>
            <a:ext cx="3454298" cy="2514600"/>
          </a:xfrm>
          <a:prstGeom prst="roundRect">
            <a:avLst>
              <a:gd name="adj" fmla="val 3273"/>
            </a:avLst>
          </a:prstGeom>
          <a:solidFill>
            <a:srgbClr val="F2F2F9"/>
          </a:solidFill>
          <a:ln/>
          <a:effectLst>
            <a:outerShdw blurRad="114300" dist="38100" dir="5400000" algn="bl" rotWithShape="0">
              <a:srgbClr val="9195AE">
                <a:alpha val="30000"/>
              </a:srgbClr>
            </a:outerShdw>
          </a:effectLst>
        </p:spPr>
      </p:sp>
      <p:sp>
        <p:nvSpPr>
          <p:cNvPr id="9" name="Text 7"/>
          <p:cNvSpPr txBox="1"/>
          <p:nvPr/>
        </p:nvSpPr>
        <p:spPr>
          <a:xfrm>
            <a:off x="4588154" y="1965960"/>
            <a:ext cx="3015386" cy="219456"/>
          </a:xfrm>
          <a:prstGeom prst="rect">
            <a:avLst/>
          </a:prstGeom>
          <a:noFill/>
          <a:ln/>
        </p:spPr>
        <p:txBody>
          <a:bodyPr wrap="square" lIns="0" tIns="0" rIns="0" bIns="0" rtlCol="0" anchor="ctr"/>
          <a:lstStyle/>
          <a:p>
            <a:pPr marL="0" indent="0">
              <a:buNone/>
            </a:pPr>
            <a:r>
              <a:rPr lang="en-US" sz="950" b="1" kern="0" spc="140" dirty="0">
                <a:solidFill>
                  <a:srgbClr val="2F7D6B"/>
                </a:solidFill>
                <a:latin typeface="Calibri" pitchFamily="34" charset="0"/>
                <a:ea typeface="Calibri" pitchFamily="34" charset="-122"/>
                <a:cs typeface="Calibri" pitchFamily="34" charset="-120"/>
              </a:rPr>
              <a:t>ENGLISH → GLOSS</a:t>
            </a:r>
            <a:endParaRPr lang="en-US" sz="950" dirty="0"/>
          </a:p>
        </p:txBody>
      </p:sp>
      <p:sp>
        <p:nvSpPr>
          <p:cNvPr id="10" name="Text 8"/>
          <p:cNvSpPr txBox="1"/>
          <p:nvPr/>
        </p:nvSpPr>
        <p:spPr>
          <a:xfrm>
            <a:off x="4588154" y="2240280"/>
            <a:ext cx="3015386" cy="457200"/>
          </a:xfrm>
          <a:prstGeom prst="rect">
            <a:avLst/>
          </a:prstGeom>
          <a:noFill/>
          <a:ln/>
        </p:spPr>
        <p:txBody>
          <a:bodyPr wrap="square" lIns="0" tIns="0" rIns="0" bIns="0" rtlCol="0" anchor="t"/>
          <a:lstStyle/>
          <a:p>
            <a:pPr marL="0" indent="0">
              <a:lnSpc>
                <a:spcPct val="98000"/>
              </a:lnSpc>
              <a:buNone/>
            </a:pPr>
            <a:r>
              <a:rPr lang="en-US" sz="1600" b="1" dirty="0">
                <a:solidFill>
                  <a:srgbClr val="1B1D29"/>
                </a:solidFill>
                <a:latin typeface="Calibri" pitchFamily="34" charset="0"/>
                <a:ea typeface="Calibri" pitchFamily="34" charset="-122"/>
                <a:cs typeface="Calibri" pitchFamily="34" charset="-120"/>
              </a:rPr>
              <a:t>A local LLM</a:t>
            </a:r>
            <a:endParaRPr lang="en-US" sz="1600" dirty="0"/>
          </a:p>
        </p:txBody>
      </p:sp>
      <p:sp>
        <p:nvSpPr>
          <p:cNvPr id="11" name="Text 9"/>
          <p:cNvSpPr txBox="1"/>
          <p:nvPr/>
        </p:nvSpPr>
        <p:spPr>
          <a:xfrm>
            <a:off x="4588154" y="2642616"/>
            <a:ext cx="3015386" cy="1490472"/>
          </a:xfrm>
          <a:prstGeom prst="rect">
            <a:avLst/>
          </a:prstGeom>
          <a:noFill/>
          <a:ln/>
        </p:spPr>
        <p:txBody>
          <a:bodyPr wrap="square" lIns="0" tIns="0" rIns="0" bIns="0" rtlCol="0" anchor="t"/>
          <a:lstStyle/>
          <a:p>
            <a:pPr marL="0" indent="0">
              <a:lnSpc>
                <a:spcPct val="102000"/>
              </a:lnSpc>
              <a:buNone/>
            </a:pPr>
            <a:r>
              <a:rPr lang="en-US" sz="1250" dirty="0">
                <a:solidFill>
                  <a:srgbClr val="5A5E76"/>
                </a:solidFill>
                <a:latin typeface="Calibri" pitchFamily="34" charset="0"/>
                <a:ea typeface="Calibri" pitchFamily="34" charset="-122"/>
                <a:cs typeface="Calibri" pitchFamily="34" charset="-120"/>
              </a:rPr>
              <a:t>A local model (Ollama) handles morphology, synonyms and ISL word order. It cannot invent a sign — the server discards any gloss outside the vocabulary.</a:t>
            </a:r>
            <a:endParaRPr lang="en-US" sz="1250" dirty="0"/>
          </a:p>
        </p:txBody>
      </p:sp>
      <p:sp>
        <p:nvSpPr>
          <p:cNvPr id="12" name="Shape 10"/>
          <p:cNvSpPr/>
          <p:nvPr/>
        </p:nvSpPr>
        <p:spPr>
          <a:xfrm>
            <a:off x="8188757" y="1783080"/>
            <a:ext cx="3454298" cy="2514600"/>
          </a:xfrm>
          <a:prstGeom prst="roundRect">
            <a:avLst>
              <a:gd name="adj" fmla="val 3273"/>
            </a:avLst>
          </a:prstGeom>
          <a:solidFill>
            <a:srgbClr val="F2F2F9"/>
          </a:solidFill>
          <a:ln/>
          <a:effectLst>
            <a:outerShdw blurRad="114300" dist="38100" dir="5400000" algn="bl" rotWithShape="0">
              <a:srgbClr val="9195AE">
                <a:alpha val="30000"/>
              </a:srgbClr>
            </a:outerShdw>
          </a:effectLst>
        </p:spPr>
      </p:sp>
      <p:sp>
        <p:nvSpPr>
          <p:cNvPr id="13" name="Text 11"/>
          <p:cNvSpPr txBox="1"/>
          <p:nvPr/>
        </p:nvSpPr>
        <p:spPr>
          <a:xfrm>
            <a:off x="8408213" y="1965960"/>
            <a:ext cx="3015386" cy="219456"/>
          </a:xfrm>
          <a:prstGeom prst="rect">
            <a:avLst/>
          </a:prstGeom>
          <a:noFill/>
          <a:ln/>
        </p:spPr>
        <p:txBody>
          <a:bodyPr wrap="square" lIns="0" tIns="0" rIns="0" bIns="0" rtlCol="0" anchor="ctr"/>
          <a:lstStyle/>
          <a:p>
            <a:pPr marL="0" indent="0">
              <a:buNone/>
            </a:pPr>
            <a:r>
              <a:rPr lang="en-US" sz="950" b="1" kern="0" spc="140" dirty="0">
                <a:solidFill>
                  <a:srgbClr val="B06712"/>
                </a:solidFill>
                <a:latin typeface="Calibri" pitchFamily="34" charset="0"/>
                <a:ea typeface="Calibri" pitchFamily="34" charset="-122"/>
                <a:cs typeface="Calibri" pitchFamily="34" charset="-120"/>
              </a:rPr>
              <a:t>LECTURE PIPELINE</a:t>
            </a:r>
            <a:endParaRPr lang="en-US" sz="950" dirty="0"/>
          </a:p>
        </p:txBody>
      </p:sp>
      <p:sp>
        <p:nvSpPr>
          <p:cNvPr id="14" name="Text 12"/>
          <p:cNvSpPr txBox="1"/>
          <p:nvPr/>
        </p:nvSpPr>
        <p:spPr>
          <a:xfrm>
            <a:off x="8408213" y="2240280"/>
            <a:ext cx="3015386" cy="457200"/>
          </a:xfrm>
          <a:prstGeom prst="rect">
            <a:avLst/>
          </a:prstGeom>
          <a:noFill/>
          <a:ln/>
        </p:spPr>
        <p:txBody>
          <a:bodyPr wrap="square" lIns="0" tIns="0" rIns="0" bIns="0" rtlCol="0" anchor="t"/>
          <a:lstStyle/>
          <a:p>
            <a:pPr marL="0" indent="0">
              <a:lnSpc>
                <a:spcPct val="98000"/>
              </a:lnSpc>
              <a:buNone/>
            </a:pPr>
            <a:r>
              <a:rPr lang="en-US" sz="1600" b="1" dirty="0">
                <a:solidFill>
                  <a:srgbClr val="1B1D29"/>
                </a:solidFill>
                <a:latin typeface="Calibri" pitchFamily="34" charset="0"/>
                <a:ea typeface="Calibri" pitchFamily="34" charset="-122"/>
                <a:cs typeface="Calibri" pitchFamily="34" charset="-120"/>
              </a:rPr>
              <a:t>Video → timed signs</a:t>
            </a:r>
            <a:endParaRPr lang="en-US" sz="1600" dirty="0"/>
          </a:p>
        </p:txBody>
      </p:sp>
      <p:sp>
        <p:nvSpPr>
          <p:cNvPr id="15" name="Text 13"/>
          <p:cNvSpPr txBox="1"/>
          <p:nvPr/>
        </p:nvSpPr>
        <p:spPr>
          <a:xfrm>
            <a:off x="8408213" y="2642616"/>
            <a:ext cx="3015386" cy="1490472"/>
          </a:xfrm>
          <a:prstGeom prst="rect">
            <a:avLst/>
          </a:prstGeom>
          <a:noFill/>
          <a:ln/>
        </p:spPr>
        <p:txBody>
          <a:bodyPr wrap="square" lIns="0" tIns="0" rIns="0" bIns="0" rtlCol="0" anchor="t"/>
          <a:lstStyle/>
          <a:p>
            <a:pPr marL="0" indent="0">
              <a:lnSpc>
                <a:spcPct val="102000"/>
              </a:lnSpc>
              <a:buNone/>
            </a:pPr>
            <a:r>
              <a:rPr lang="en-US" sz="1250" dirty="0">
                <a:solidFill>
                  <a:srgbClr val="5A5E76"/>
                </a:solidFill>
                <a:latin typeface="Calibri" pitchFamily="34" charset="0"/>
                <a:ea typeface="Calibri" pitchFamily="34" charset="-122"/>
                <a:cs typeface="Calibri" pitchFamily="34" charset="-120"/>
              </a:rPr>
              <a:t>Whisper transcribes with timestamps; YOLO finds the speaker; the avatar signs in sync with the playing video. File or URL.</a:t>
            </a:r>
            <a:endParaRPr lang="en-US" sz="1250" dirty="0"/>
          </a:p>
        </p:txBody>
      </p:sp>
      <p:sp>
        <p:nvSpPr>
          <p:cNvPr id="16" name="Shape 14"/>
          <p:cNvSpPr/>
          <p:nvPr/>
        </p:nvSpPr>
        <p:spPr>
          <a:xfrm>
            <a:off x="548640" y="4526280"/>
            <a:ext cx="5410048" cy="1188720"/>
          </a:xfrm>
          <a:prstGeom prst="roundRect">
            <a:avLst>
              <a:gd name="adj" fmla="val 6923"/>
            </a:avLst>
          </a:prstGeom>
          <a:solidFill>
            <a:srgbClr val="ECEDF6"/>
          </a:solidFill>
          <a:ln/>
          <a:effectLst>
            <a:outerShdw blurRad="114300" dist="38100" dir="5400000" algn="bl" rotWithShape="0">
              <a:srgbClr val="9195AE">
                <a:alpha val="30000"/>
              </a:srgbClr>
            </a:outerShdw>
          </a:effectLst>
        </p:spPr>
      </p:sp>
      <p:sp>
        <p:nvSpPr>
          <p:cNvPr id="17" name="Text 15"/>
          <p:cNvSpPr txBox="1"/>
          <p:nvPr/>
        </p:nvSpPr>
        <p:spPr>
          <a:xfrm>
            <a:off x="768096" y="4709160"/>
            <a:ext cx="4971136" cy="219456"/>
          </a:xfrm>
          <a:prstGeom prst="rect">
            <a:avLst/>
          </a:prstGeom>
          <a:noFill/>
          <a:ln/>
        </p:spPr>
        <p:txBody>
          <a:bodyPr wrap="square" lIns="0" tIns="0" rIns="0" bIns="0" rtlCol="0" anchor="ctr"/>
          <a:lstStyle/>
          <a:p>
            <a:pPr marL="0" indent="0">
              <a:buNone/>
            </a:pPr>
            <a:r>
              <a:rPr lang="en-US" sz="950" b="1" kern="0" spc="140" dirty="0">
                <a:solidFill>
                  <a:srgbClr val="33357A"/>
                </a:solidFill>
                <a:latin typeface="Calibri" pitchFamily="34" charset="0"/>
                <a:ea typeface="Calibri" pitchFamily="34" charset="-122"/>
                <a:cs typeface="Calibri" pitchFamily="34" charset="-120"/>
              </a:rPr>
              <a:t>RUNS LOCALLY, DEGRADES GRACEFULLY</a:t>
            </a:r>
            <a:endParaRPr lang="en-US" sz="950" dirty="0"/>
          </a:p>
        </p:txBody>
      </p:sp>
      <p:sp>
        <p:nvSpPr>
          <p:cNvPr id="18" name="Text 16"/>
          <p:cNvSpPr txBox="1"/>
          <p:nvPr/>
        </p:nvSpPr>
        <p:spPr>
          <a:xfrm>
            <a:off x="768096" y="4983480"/>
            <a:ext cx="4971136" cy="566928"/>
          </a:xfrm>
          <a:prstGeom prst="rect">
            <a:avLst/>
          </a:prstGeom>
          <a:noFill/>
          <a:ln/>
        </p:spPr>
        <p:txBody>
          <a:bodyPr wrap="square" lIns="0" tIns="0" rIns="0" bIns="0" rtlCol="0" anchor="t"/>
          <a:lstStyle/>
          <a:p>
            <a:pPr marL="0" indent="0">
              <a:lnSpc>
                <a:spcPct val="102000"/>
              </a:lnSpc>
              <a:buNone/>
            </a:pPr>
            <a:r>
              <a:rPr lang="en-US" sz="1250" dirty="0">
                <a:solidFill>
                  <a:srgbClr val="5A5E76"/>
                </a:solidFill>
                <a:latin typeface="Calibri" pitchFamily="34" charset="0"/>
                <a:ea typeface="Calibri" pitchFamily="34" charset="-122"/>
                <a:cs typeface="Calibri" pitchFamily="34" charset="-120"/>
              </a:rPr>
              <a:t>Transcription is 3–6× faster on a GPU but falls back to CPU and says so — no cloud key, no per-phrase cost.</a:t>
            </a:r>
            <a:endParaRPr lang="en-US" sz="1250" dirty="0"/>
          </a:p>
        </p:txBody>
      </p:sp>
      <p:sp>
        <p:nvSpPr>
          <p:cNvPr id="19" name="Shape 17"/>
          <p:cNvSpPr/>
          <p:nvPr/>
        </p:nvSpPr>
        <p:spPr>
          <a:xfrm>
            <a:off x="6233008" y="4526280"/>
            <a:ext cx="5410048" cy="1188720"/>
          </a:xfrm>
          <a:prstGeom prst="roundRect">
            <a:avLst>
              <a:gd name="adj" fmla="val 6923"/>
            </a:avLst>
          </a:prstGeom>
          <a:solidFill>
            <a:srgbClr val="ECEDF6"/>
          </a:solidFill>
          <a:ln/>
          <a:effectLst>
            <a:outerShdw blurRad="114300" dist="38100" dir="5400000" algn="bl" rotWithShape="0">
              <a:srgbClr val="9195AE">
                <a:alpha val="30000"/>
              </a:srgbClr>
            </a:outerShdw>
          </a:effectLst>
        </p:spPr>
      </p:sp>
      <p:sp>
        <p:nvSpPr>
          <p:cNvPr id="20" name="Text 18"/>
          <p:cNvSpPr txBox="1"/>
          <p:nvPr/>
        </p:nvSpPr>
        <p:spPr>
          <a:xfrm>
            <a:off x="6452464" y="4709160"/>
            <a:ext cx="4971136" cy="219456"/>
          </a:xfrm>
          <a:prstGeom prst="rect">
            <a:avLst/>
          </a:prstGeom>
          <a:noFill/>
          <a:ln/>
        </p:spPr>
        <p:txBody>
          <a:bodyPr wrap="square" lIns="0" tIns="0" rIns="0" bIns="0" rtlCol="0" anchor="ctr"/>
          <a:lstStyle/>
          <a:p>
            <a:pPr marL="0" indent="0">
              <a:buNone/>
            </a:pPr>
            <a:r>
              <a:rPr lang="en-US" sz="950" b="1" kern="0" spc="140" dirty="0">
                <a:solidFill>
                  <a:srgbClr val="B06712"/>
                </a:solidFill>
                <a:latin typeface="Calibri" pitchFamily="34" charset="0"/>
                <a:ea typeface="Calibri" pitchFamily="34" charset="-122"/>
                <a:cs typeface="Calibri" pitchFamily="34" charset="-120"/>
              </a:rPr>
              <a:t>DESIGN LINE HELD</a:t>
            </a:r>
            <a:endParaRPr lang="en-US" sz="950" dirty="0"/>
          </a:p>
        </p:txBody>
      </p:sp>
      <p:sp>
        <p:nvSpPr>
          <p:cNvPr id="21" name="Text 19"/>
          <p:cNvSpPr txBox="1"/>
          <p:nvPr/>
        </p:nvSpPr>
        <p:spPr>
          <a:xfrm>
            <a:off x="6452464" y="4983480"/>
            <a:ext cx="4971136" cy="566928"/>
          </a:xfrm>
          <a:prstGeom prst="rect">
            <a:avLst/>
          </a:prstGeom>
          <a:noFill/>
          <a:ln/>
        </p:spPr>
        <p:txBody>
          <a:bodyPr wrap="square" lIns="0" tIns="0" rIns="0" bIns="0" rtlCol="0" anchor="t"/>
          <a:lstStyle/>
          <a:p>
            <a:pPr marL="0" indent="0">
              <a:lnSpc>
                <a:spcPct val="102000"/>
              </a:lnSpc>
              <a:buNone/>
            </a:pPr>
            <a:r>
              <a:rPr lang="en-US" sz="1250" dirty="0">
                <a:solidFill>
                  <a:srgbClr val="5A5E76"/>
                </a:solidFill>
                <a:latin typeface="Calibri" pitchFamily="34" charset="0"/>
                <a:ea typeface="Calibri" pitchFamily="34" charset="-122"/>
                <a:cs typeface="Calibri" pitchFamily="34" charset="-120"/>
              </a:rPr>
              <a:t>The lecture service returns what was said and when — never which signs to perform. One vocabulary lives in the frontend, so the two can’t drift.</a:t>
            </a:r>
            <a:endParaRPr lang="en-US" sz="1250" dirty="0"/>
          </a:p>
        </p:txBody>
      </p:sp>
      <p:sp>
        <p:nvSpPr>
          <p:cNvPr id="22" name="Text 20"/>
          <p:cNvSpPr txBox="1"/>
          <p:nvPr/>
        </p:nvSpPr>
        <p:spPr>
          <a:xfrm>
            <a:off x="548640" y="6473952"/>
            <a:ext cx="4572000" cy="274320"/>
          </a:xfrm>
          <a:prstGeom prst="rect">
            <a:avLst/>
          </a:prstGeom>
          <a:noFill/>
          <a:ln/>
        </p:spPr>
        <p:txBody>
          <a:bodyPr wrap="square" lIns="0" tIns="0" rIns="0" bIns="0" rtlCol="0" anchor="ctr"/>
          <a:lstStyle/>
          <a:p>
            <a:pPr marL="0" indent="0">
              <a:buNone/>
            </a:pPr>
            <a:r>
              <a:rPr lang="en-US" sz="900" dirty="0">
                <a:solidFill>
                  <a:srgbClr val="9A9EB2"/>
                </a:solidFill>
                <a:latin typeface="Calibri" pitchFamily="34" charset="0"/>
                <a:ea typeface="Calibri" pitchFamily="34" charset="-122"/>
                <a:cs typeface="Calibri" pitchFamily="34" charset="-120"/>
              </a:rPr>
              <a:t>AvatarEngine · ISL</a:t>
            </a:r>
            <a:endParaRPr lang="en-US" sz="900" dirty="0"/>
          </a:p>
        </p:txBody>
      </p:sp>
      <p:sp>
        <p:nvSpPr>
          <p:cNvPr id="23" name="Text 21"/>
          <p:cNvSpPr txBox="1"/>
          <p:nvPr/>
        </p:nvSpPr>
        <p:spPr>
          <a:xfrm>
            <a:off x="11094415" y="6473952"/>
            <a:ext cx="548640" cy="274320"/>
          </a:xfrm>
          <a:prstGeom prst="rect">
            <a:avLst/>
          </a:prstGeom>
          <a:noFill/>
          <a:ln/>
        </p:spPr>
        <p:txBody>
          <a:bodyPr wrap="square" lIns="0" tIns="0" rIns="0" bIns="0" rtlCol="0" anchor="ctr"/>
          <a:lstStyle/>
          <a:p>
            <a:pPr marL="0" indent="0" algn="r">
              <a:buNone/>
            </a:pPr>
            <a:r>
              <a:rPr lang="en-US" sz="900" dirty="0">
                <a:solidFill>
                  <a:srgbClr val="9A9EB2"/>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02336"/>
            <a:ext cx="11094415" cy="274320"/>
          </a:xfrm>
          <a:prstGeom prst="rect">
            <a:avLst/>
          </a:prstGeom>
          <a:noFill/>
          <a:ln/>
        </p:spPr>
        <p:txBody>
          <a:bodyPr wrap="square" lIns="0" tIns="0" rIns="0" bIns="0" rtlCol="0" anchor="ctr"/>
          <a:lstStyle/>
          <a:p>
            <a:pPr marL="0" indent="0">
              <a:buNone/>
            </a:pPr>
            <a:r>
              <a:rPr lang="en-US" sz="1150" b="1" kern="0" spc="200" dirty="0">
                <a:solidFill>
                  <a:srgbClr val="B06712"/>
                </a:solidFill>
                <a:latin typeface="Calibri" pitchFamily="34" charset="0"/>
                <a:ea typeface="Calibri" pitchFamily="34" charset="-122"/>
                <a:cs typeface="Calibri" pitchFamily="34" charset="-120"/>
              </a:rPr>
              <a:t>STEP 5 / 5 · MOBILE IMPLEMENTATION</a:t>
            </a:r>
            <a:endParaRPr lang="en-US" sz="1150" dirty="0"/>
          </a:p>
        </p:txBody>
      </p:sp>
      <p:sp>
        <p:nvSpPr>
          <p:cNvPr id="3" name="Text 1"/>
          <p:cNvSpPr txBox="1"/>
          <p:nvPr/>
        </p:nvSpPr>
        <p:spPr>
          <a:xfrm>
            <a:off x="548640" y="694944"/>
            <a:ext cx="11094415" cy="914400"/>
          </a:xfrm>
          <a:prstGeom prst="rect">
            <a:avLst/>
          </a:prstGeom>
          <a:noFill/>
          <a:ln/>
        </p:spPr>
        <p:txBody>
          <a:bodyPr wrap="square" lIns="0" tIns="0" rIns="0" bIns="0" rtlCol="0" anchor="ctr"/>
          <a:lstStyle/>
          <a:p>
            <a:pPr marL="0" indent="0">
              <a:lnSpc>
                <a:spcPct val="98000"/>
              </a:lnSpc>
              <a:buNone/>
            </a:pPr>
            <a:r>
              <a:rPr lang="en-US" sz="2900" b="1" dirty="0">
                <a:solidFill>
                  <a:srgbClr val="1B1D29"/>
                </a:solidFill>
                <a:latin typeface="Calibri" pitchFamily="34" charset="0"/>
                <a:ea typeface="Calibri" pitchFamily="34" charset="-122"/>
                <a:cs typeface="Calibri" pitchFamily="34" charset="-120"/>
              </a:rPr>
              <a:t>The same avatar — now in your pocket.</a:t>
            </a:r>
            <a:endParaRPr lang="en-US" sz="2900" dirty="0"/>
          </a:p>
        </p:txBody>
      </p:sp>
      <p:sp>
        <p:nvSpPr>
          <p:cNvPr id="4" name="Text 2"/>
          <p:cNvSpPr txBox="1"/>
          <p:nvPr/>
        </p:nvSpPr>
        <p:spPr>
          <a:xfrm>
            <a:off x="548640" y="1783080"/>
            <a:ext cx="6675120" cy="3931920"/>
          </a:xfrm>
          <a:prstGeom prst="rect">
            <a:avLst/>
          </a:prstGeom>
          <a:noFill/>
          <a:ln/>
        </p:spPr>
        <p:txBody>
          <a:bodyPr wrap="square" lIns="0" tIns="0" rIns="0" bIns="0" rtlCol="0" anchor="t"/>
          <a:lstStyle/>
          <a:p>
            <a:pPr marL="203200" indent="-203200">
              <a:lnSpc>
                <a:spcPct val="103000"/>
              </a:lnSpc>
              <a:buSzPct val="100000"/>
              <a:buChar char="•"/>
            </a:pPr>
            <a:r>
              <a:rPr lang="en-US" sz="1400" b="1" dirty="0">
                <a:solidFill>
                  <a:srgbClr val="1B1D29"/>
                </a:solidFill>
                <a:latin typeface="Calibri" pitchFamily="34" charset="0"/>
                <a:ea typeface="Calibri" pitchFamily="34" charset="-122"/>
                <a:cs typeface="Calibri" pitchFamily="34" charset="-120"/>
              </a:rPr>
              <a:t>Capacitor wraps the built site.  </a:t>
            </a:r>
            <a:r>
              <a:rPr lang="en-US" sz="1400" dirty="0">
                <a:solidFill>
                  <a:srgbClr val="5A5E76"/>
                </a:solidFill>
                <a:latin typeface="Calibri" pitchFamily="34" charset="0"/>
                <a:ea typeface="Calibri" pitchFamily="34" charset="-122"/>
                <a:cs typeface="Calibri" pitchFamily="34" charset="-120"/>
              </a:rPr>
              <a:t>The static build is served from an Android WebView — the same three.js/VRM runs on the phone with no rewrite.</a:t>
            </a:r>
            <a:endParaRPr lang="en-US" sz="1400" dirty="0"/>
          </a:p>
          <a:p>
            <a:pPr marL="203200" indent="-203200">
              <a:lnSpc>
                <a:spcPct val="103000"/>
              </a:lnSpc>
              <a:buSzPct val="100000"/>
              <a:buChar char="•"/>
            </a:pPr>
            <a:r>
              <a:rPr lang="en-US" sz="1400" b="1" dirty="0">
                <a:solidFill>
                  <a:srgbClr val="1B1D29"/>
                </a:solidFill>
                <a:latin typeface="Calibri" pitchFamily="34" charset="0"/>
                <a:ea typeface="Calibri" pitchFamily="34" charset="-122"/>
                <a:cs typeface="Calibri" pitchFamily="34" charset="-120"/>
              </a:rPr>
              <a:t>Why a static build matters.  </a:t>
            </a:r>
            <a:r>
              <a:rPr lang="en-US" sz="1400" dirty="0">
                <a:solidFill>
                  <a:srgbClr val="5A5E76"/>
                </a:solidFill>
                <a:latin typeface="Calibri" pitchFamily="34" charset="0"/>
                <a:ea typeface="Calibri" pitchFamily="34" charset="-122"/>
                <a:cs typeface="Calibri" pitchFamily="34" charset="-120"/>
              </a:rPr>
              <a:t>There is nowhere to run a Node server inside an app, so a fully static bundle is what makes a phone app possible.</a:t>
            </a:r>
            <a:endParaRPr lang="en-US" sz="1400" dirty="0"/>
          </a:p>
          <a:p>
            <a:pPr marL="203200" indent="-203200">
              <a:lnSpc>
                <a:spcPct val="103000"/>
              </a:lnSpc>
              <a:buSzPct val="100000"/>
              <a:buChar char="•"/>
            </a:pPr>
            <a:r>
              <a:rPr lang="en-US" sz="1400" b="1" dirty="0">
                <a:solidFill>
                  <a:srgbClr val="1B1D29"/>
                </a:solidFill>
                <a:latin typeface="Calibri" pitchFamily="34" charset="0"/>
                <a:ea typeface="Calibri" pitchFamily="34" charset="-122"/>
                <a:cs typeface="Calibri" pitchFamily="34" charset="-120"/>
              </a:rPr>
              <a:t>Secure context kept  </a:t>
            </a:r>
            <a:r>
              <a:rPr lang="en-US" sz="1400" dirty="0">
                <a:solidFill>
                  <a:srgbClr val="5A5E76"/>
                </a:solidFill>
                <a:latin typeface="Calibri" pitchFamily="34" charset="0"/>
                <a:ea typeface="Calibri" pitchFamily="34" charset="-122"/>
                <a:cs typeface="Calibri" pitchFamily="34" charset="-120"/>
              </a:rPr>
              <a:t>so the microphone works — speech recognition refuses to start otherwise.</a:t>
            </a:r>
            <a:endParaRPr lang="en-US" sz="1400" dirty="0"/>
          </a:p>
          <a:p>
            <a:pPr marL="203200" indent="-203200">
              <a:lnSpc>
                <a:spcPct val="103000"/>
              </a:lnSpc>
              <a:buSzPct val="100000"/>
              <a:buChar char="•"/>
            </a:pPr>
            <a:r>
              <a:rPr lang="en-US" sz="1400" b="1" dirty="0">
                <a:solidFill>
                  <a:srgbClr val="1B1D29"/>
                </a:solidFill>
                <a:latin typeface="Calibri" pitchFamily="34" charset="0"/>
                <a:ea typeface="Calibri" pitchFamily="34" charset="-122"/>
                <a:cs typeface="Calibri" pitchFamily="34" charset="-120"/>
              </a:rPr>
              <a:t>Built for a cheap handset,  </a:t>
            </a:r>
            <a:r>
              <a:rPr lang="en-US" sz="1400" dirty="0">
                <a:solidFill>
                  <a:srgbClr val="5A5E76"/>
                </a:solidFill>
                <a:latin typeface="Calibri" pitchFamily="34" charset="0"/>
                <a:ea typeface="Calibri" pitchFamily="34" charset="-122"/>
                <a:cs typeface="Calibri" pitchFamily="34" charset="-120"/>
              </a:rPr>
              <a:t>demoed as one too: a phone shell lets it be projected as a real device.</a:t>
            </a:r>
            <a:endParaRPr lang="en-US" sz="1400" dirty="0"/>
          </a:p>
        </p:txBody>
      </p:sp>
      <p:sp>
        <p:nvSpPr>
          <p:cNvPr id="5" name="Shape 3"/>
          <p:cNvSpPr/>
          <p:nvPr/>
        </p:nvSpPr>
        <p:spPr>
          <a:xfrm>
            <a:off x="7498080" y="1828800"/>
            <a:ext cx="4144975" cy="3200400"/>
          </a:xfrm>
          <a:prstGeom prst="roundRect">
            <a:avLst>
              <a:gd name="adj" fmla="val 2571"/>
            </a:avLst>
          </a:prstGeom>
          <a:solidFill>
            <a:srgbClr val="F2F2F9"/>
          </a:solidFill>
          <a:ln/>
          <a:effectLst>
            <a:outerShdw blurRad="114300" dist="38100" dir="5400000" algn="bl" rotWithShape="0">
              <a:srgbClr val="9195AE">
                <a:alpha val="30000"/>
              </a:srgbClr>
            </a:outerShdw>
          </a:effectLst>
        </p:spPr>
      </p:sp>
      <p:sp>
        <p:nvSpPr>
          <p:cNvPr id="6" name="Text 4"/>
          <p:cNvSpPr txBox="1"/>
          <p:nvPr/>
        </p:nvSpPr>
        <p:spPr>
          <a:xfrm>
            <a:off x="7717536" y="2011680"/>
            <a:ext cx="3706063" cy="219456"/>
          </a:xfrm>
          <a:prstGeom prst="rect">
            <a:avLst/>
          </a:prstGeom>
          <a:noFill/>
          <a:ln/>
        </p:spPr>
        <p:txBody>
          <a:bodyPr wrap="square" lIns="0" tIns="0" rIns="0" bIns="0" rtlCol="0" anchor="ctr"/>
          <a:lstStyle/>
          <a:p>
            <a:pPr marL="0" indent="0">
              <a:buNone/>
            </a:pPr>
            <a:r>
              <a:rPr lang="en-US" sz="950" b="1" kern="0" spc="140" dirty="0">
                <a:solidFill>
                  <a:srgbClr val="B06712"/>
                </a:solidFill>
                <a:latin typeface="Calibri" pitchFamily="34" charset="0"/>
                <a:ea typeface="Calibri" pitchFamily="34" charset="-122"/>
                <a:cs typeface="Calibri" pitchFamily="34" charset="-120"/>
              </a:rPr>
              <a:t>ONE CODEBASE, TWO HOMES</a:t>
            </a:r>
            <a:endParaRPr lang="en-US" sz="950" dirty="0"/>
          </a:p>
        </p:txBody>
      </p:sp>
      <p:sp>
        <p:nvSpPr>
          <p:cNvPr id="7" name="Text 5"/>
          <p:cNvSpPr txBox="1"/>
          <p:nvPr/>
        </p:nvSpPr>
        <p:spPr>
          <a:xfrm>
            <a:off x="7717536" y="2286000"/>
            <a:ext cx="3706063" cy="457200"/>
          </a:xfrm>
          <a:prstGeom prst="rect">
            <a:avLst/>
          </a:prstGeom>
          <a:noFill/>
          <a:ln/>
        </p:spPr>
        <p:txBody>
          <a:bodyPr wrap="square" lIns="0" tIns="0" rIns="0" bIns="0" rtlCol="0" anchor="t"/>
          <a:lstStyle/>
          <a:p>
            <a:pPr marL="0" indent="0">
              <a:lnSpc>
                <a:spcPct val="98000"/>
              </a:lnSpc>
              <a:buNone/>
            </a:pPr>
            <a:r>
              <a:rPr lang="en-US" sz="1900" b="1" dirty="0">
                <a:solidFill>
                  <a:srgbClr val="1B1D29"/>
                </a:solidFill>
                <a:latin typeface="Calibri" pitchFamily="34" charset="0"/>
                <a:ea typeface="Calibri" pitchFamily="34" charset="-122"/>
                <a:cs typeface="Calibri" pitchFamily="34" charset="-120"/>
              </a:rPr>
              <a:t>Browser ⟷ Android</a:t>
            </a:r>
            <a:endParaRPr lang="en-US" sz="1900" dirty="0"/>
          </a:p>
        </p:txBody>
      </p:sp>
      <p:sp>
        <p:nvSpPr>
          <p:cNvPr id="8" name="Text 6"/>
          <p:cNvSpPr txBox="1"/>
          <p:nvPr/>
        </p:nvSpPr>
        <p:spPr>
          <a:xfrm>
            <a:off x="7717536" y="2816352"/>
            <a:ext cx="3706063" cy="2048256"/>
          </a:xfrm>
          <a:prstGeom prst="rect">
            <a:avLst/>
          </a:prstGeom>
          <a:noFill/>
          <a:ln/>
        </p:spPr>
        <p:txBody>
          <a:bodyPr wrap="square" lIns="0" tIns="0" rIns="0" bIns="0" rtlCol="0" anchor="t"/>
          <a:lstStyle/>
          <a:p>
            <a:pPr marL="0" indent="0">
              <a:lnSpc>
                <a:spcPct val="102000"/>
              </a:lnSpc>
              <a:buNone/>
            </a:pPr>
            <a:r>
              <a:rPr lang="en-US" sz="1300" dirty="0">
                <a:solidFill>
                  <a:srgbClr val="5A5E76"/>
                </a:solidFill>
                <a:latin typeface="Calibri" pitchFamily="34" charset="0"/>
                <a:ea typeface="Calibri" pitchFamily="34" charset="-122"/>
                <a:cs typeface="Calibri" pitchFamily="34" charset="-120"/>
              </a:rPr>
              <a:t>Nothing about the avatar, the motion, or the pipelines is rewritten for mobile. What ships to the web ships to the phone — the point, given the target user is on a low-cost Android device.</a:t>
            </a:r>
            <a:endParaRPr lang="en-US" sz="1300" dirty="0"/>
          </a:p>
          <a:p>
            <a:pPr marL="0" indent="0">
              <a:lnSpc>
                <a:spcPct val="102000"/>
              </a:lnSpc>
              <a:buNone/>
            </a:pPr>
            <a:endParaRPr lang="en-US" sz="1300" dirty="0"/>
          </a:p>
          <a:p>
            <a:pPr marL="0" indent="0">
              <a:lnSpc>
                <a:spcPct val="102000"/>
              </a:lnSpc>
              <a:buNone/>
            </a:pPr>
            <a:r>
              <a:rPr lang="en-US" sz="1300" dirty="0">
                <a:solidFill>
                  <a:srgbClr val="5A5E76"/>
                </a:solidFill>
                <a:latin typeface="Calibri" pitchFamily="34" charset="0"/>
                <a:ea typeface="Calibri" pitchFamily="34" charset="-122"/>
                <a:cs typeface="Calibri" pitchFamily="34" charset="-120"/>
              </a:rPr>
              <a:t>app id · in.avatarengine.isl</a:t>
            </a:r>
            <a:endParaRPr lang="en-US" sz="1300" dirty="0"/>
          </a:p>
        </p:txBody>
      </p:sp>
      <p:sp>
        <p:nvSpPr>
          <p:cNvPr id="9" name="Text 7"/>
          <p:cNvSpPr txBox="1"/>
          <p:nvPr/>
        </p:nvSpPr>
        <p:spPr>
          <a:xfrm>
            <a:off x="548640" y="6473952"/>
            <a:ext cx="4572000" cy="274320"/>
          </a:xfrm>
          <a:prstGeom prst="rect">
            <a:avLst/>
          </a:prstGeom>
          <a:noFill/>
          <a:ln/>
        </p:spPr>
        <p:txBody>
          <a:bodyPr wrap="square" lIns="0" tIns="0" rIns="0" bIns="0" rtlCol="0" anchor="ctr"/>
          <a:lstStyle/>
          <a:p>
            <a:pPr marL="0" indent="0">
              <a:buNone/>
            </a:pPr>
            <a:r>
              <a:rPr lang="en-US" sz="900" dirty="0">
                <a:solidFill>
                  <a:srgbClr val="9A9EB2"/>
                </a:solidFill>
                <a:latin typeface="Calibri" pitchFamily="34" charset="0"/>
                <a:ea typeface="Calibri" pitchFamily="34" charset="-122"/>
                <a:cs typeface="Calibri" pitchFamily="34" charset="-120"/>
              </a:rPr>
              <a:t>AvatarEngine · ISL</a:t>
            </a:r>
            <a:endParaRPr lang="en-US" sz="900" dirty="0"/>
          </a:p>
        </p:txBody>
      </p:sp>
      <p:sp>
        <p:nvSpPr>
          <p:cNvPr id="10" name="Text 8"/>
          <p:cNvSpPr txBox="1"/>
          <p:nvPr/>
        </p:nvSpPr>
        <p:spPr>
          <a:xfrm>
            <a:off x="11094415" y="6473952"/>
            <a:ext cx="548640" cy="274320"/>
          </a:xfrm>
          <a:prstGeom prst="rect">
            <a:avLst/>
          </a:prstGeom>
          <a:noFill/>
          <a:ln/>
        </p:spPr>
        <p:txBody>
          <a:bodyPr wrap="square" lIns="0" tIns="0" rIns="0" bIns="0" rtlCol="0" anchor="ctr"/>
          <a:lstStyle/>
          <a:p>
            <a:pPr marL="0" indent="0" algn="r">
              <a:buNone/>
            </a:pPr>
            <a:r>
              <a:rPr lang="en-US" sz="900" dirty="0">
                <a:solidFill>
                  <a:srgbClr val="9A9EB2"/>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02336"/>
            <a:ext cx="11094415" cy="274320"/>
          </a:xfrm>
          <a:prstGeom prst="rect">
            <a:avLst/>
          </a:prstGeom>
          <a:noFill/>
          <a:ln/>
        </p:spPr>
        <p:txBody>
          <a:bodyPr wrap="square" lIns="0" tIns="0" rIns="0" bIns="0" rtlCol="0" anchor="ctr"/>
          <a:lstStyle/>
          <a:p>
            <a:pPr marL="0" indent="0">
              <a:buNone/>
            </a:pPr>
            <a:r>
              <a:rPr lang="en-US" sz="1150" b="1" kern="0" spc="200" dirty="0">
                <a:solidFill>
                  <a:srgbClr val="B06712"/>
                </a:solidFill>
                <a:latin typeface="Calibri" pitchFamily="34" charset="0"/>
                <a:ea typeface="Calibri" pitchFamily="34" charset="-122"/>
                <a:cs typeface="Calibri" pitchFamily="34" charset="-120"/>
              </a:rPr>
              <a:t>TECHNICAL STACK &amp; REQUIREMENTS</a:t>
            </a:r>
            <a:endParaRPr lang="en-US" sz="1150" dirty="0"/>
          </a:p>
        </p:txBody>
      </p:sp>
      <p:sp>
        <p:nvSpPr>
          <p:cNvPr id="3" name="Text 1"/>
          <p:cNvSpPr txBox="1"/>
          <p:nvPr/>
        </p:nvSpPr>
        <p:spPr>
          <a:xfrm>
            <a:off x="548640" y="694944"/>
            <a:ext cx="11094415" cy="914400"/>
          </a:xfrm>
          <a:prstGeom prst="rect">
            <a:avLst/>
          </a:prstGeom>
          <a:noFill/>
          <a:ln/>
        </p:spPr>
        <p:txBody>
          <a:bodyPr wrap="square" lIns="0" tIns="0" rIns="0" bIns="0" rtlCol="0" anchor="ctr"/>
          <a:lstStyle/>
          <a:p>
            <a:pPr marL="0" indent="0">
              <a:lnSpc>
                <a:spcPct val="98000"/>
              </a:lnSpc>
              <a:buNone/>
            </a:pPr>
            <a:r>
              <a:rPr lang="en-US" sz="2900" b="1" dirty="0">
                <a:solidFill>
                  <a:srgbClr val="1B1D29"/>
                </a:solidFill>
                <a:latin typeface="Calibri" pitchFamily="34" charset="0"/>
                <a:ea typeface="Calibri" pitchFamily="34" charset="-122"/>
                <a:cs typeface="Calibri" pitchFamily="34" charset="-120"/>
              </a:rPr>
              <a:t>What it’s built from.</a:t>
            </a:r>
            <a:endParaRPr lang="en-US" sz="2900" dirty="0"/>
          </a:p>
        </p:txBody>
      </p:sp>
      <p:sp>
        <p:nvSpPr>
          <p:cNvPr id="4" name="Shape 2"/>
          <p:cNvSpPr/>
          <p:nvPr/>
        </p:nvSpPr>
        <p:spPr>
          <a:xfrm>
            <a:off x="548640" y="1691640"/>
            <a:ext cx="11094415" cy="786384"/>
          </a:xfrm>
          <a:prstGeom prst="roundRect">
            <a:avLst>
              <a:gd name="adj" fmla="val 6977"/>
            </a:avLst>
          </a:prstGeom>
          <a:solidFill>
            <a:srgbClr val="ECEDF6"/>
          </a:solidFill>
          <a:ln/>
        </p:spPr>
      </p:sp>
      <p:sp>
        <p:nvSpPr>
          <p:cNvPr id="5" name="Shape 3"/>
          <p:cNvSpPr/>
          <p:nvPr/>
        </p:nvSpPr>
        <p:spPr>
          <a:xfrm>
            <a:off x="749808" y="1856232"/>
            <a:ext cx="457200" cy="457200"/>
          </a:xfrm>
          <a:prstGeom prst="ellipse">
            <a:avLst/>
          </a:prstGeom>
          <a:solidFill>
            <a:srgbClr val="33357A"/>
          </a:solidFill>
          <a:ln/>
        </p:spPr>
      </p:sp>
      <p:sp>
        <p:nvSpPr>
          <p:cNvPr id="6" name="Text 4"/>
          <p:cNvSpPr txBox="1"/>
          <p:nvPr/>
        </p:nvSpPr>
        <p:spPr>
          <a:xfrm>
            <a:off x="749808" y="1856232"/>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F</a:t>
            </a:r>
            <a:endParaRPr lang="en-US" sz="1300" dirty="0"/>
          </a:p>
        </p:txBody>
      </p:sp>
      <p:sp>
        <p:nvSpPr>
          <p:cNvPr id="7" name="Text 5"/>
          <p:cNvSpPr txBox="1"/>
          <p:nvPr/>
        </p:nvSpPr>
        <p:spPr>
          <a:xfrm>
            <a:off x="1417320" y="1691640"/>
            <a:ext cx="1737360" cy="786384"/>
          </a:xfrm>
          <a:prstGeom prst="rect">
            <a:avLst/>
          </a:prstGeom>
          <a:noFill/>
          <a:ln/>
        </p:spPr>
        <p:txBody>
          <a:bodyPr wrap="square" lIns="0" tIns="0" rIns="0" bIns="0" rtlCol="0" anchor="ctr"/>
          <a:lstStyle/>
          <a:p>
            <a:pPr marL="0" indent="0">
              <a:buNone/>
            </a:pPr>
            <a:r>
              <a:rPr lang="en-US" sz="1350" b="1" dirty="0">
                <a:solidFill>
                  <a:srgbClr val="33357A"/>
                </a:solidFill>
                <a:latin typeface="Calibri" pitchFamily="34" charset="0"/>
                <a:ea typeface="Calibri" pitchFamily="34" charset="-122"/>
                <a:cs typeface="Calibri" pitchFamily="34" charset="-120"/>
              </a:rPr>
              <a:t>Frontend</a:t>
            </a:r>
            <a:endParaRPr lang="en-US" sz="1350" dirty="0"/>
          </a:p>
        </p:txBody>
      </p:sp>
      <p:sp>
        <p:nvSpPr>
          <p:cNvPr id="8" name="Text 6"/>
          <p:cNvSpPr txBox="1"/>
          <p:nvPr/>
        </p:nvSpPr>
        <p:spPr>
          <a:xfrm>
            <a:off x="3246120" y="1691640"/>
            <a:ext cx="8259775" cy="786384"/>
          </a:xfrm>
          <a:prstGeom prst="rect">
            <a:avLst/>
          </a:prstGeom>
          <a:noFill/>
          <a:ln/>
        </p:spPr>
        <p:txBody>
          <a:bodyPr wrap="square" lIns="0" tIns="0" rIns="0" bIns="0" rtlCol="0" anchor="ctr"/>
          <a:lstStyle/>
          <a:p>
            <a:pPr marL="0" indent="0">
              <a:lnSpc>
                <a:spcPct val="100000"/>
              </a:lnSpc>
              <a:buNone/>
            </a:pPr>
            <a:r>
              <a:rPr lang="en-US" sz="1250" dirty="0">
                <a:solidFill>
                  <a:srgbClr val="1B1D29"/>
                </a:solidFill>
                <a:latin typeface="Calibri" pitchFamily="34" charset="0"/>
                <a:ea typeface="Calibri" pitchFamily="34" charset="-122"/>
                <a:cs typeface="Calibri" pitchFamily="34" charset="-120"/>
              </a:rPr>
              <a:t>TypeScript · React · Tailwind · Vite, with three.js and @pixiv/three-vrm rendering and animating the avatar.</a:t>
            </a:r>
            <a:endParaRPr lang="en-US" sz="1250" dirty="0"/>
          </a:p>
        </p:txBody>
      </p:sp>
      <p:sp>
        <p:nvSpPr>
          <p:cNvPr id="9" name="Shape 7"/>
          <p:cNvSpPr/>
          <p:nvPr/>
        </p:nvSpPr>
        <p:spPr>
          <a:xfrm>
            <a:off x="548640" y="2596896"/>
            <a:ext cx="11094415" cy="786384"/>
          </a:xfrm>
          <a:prstGeom prst="roundRect">
            <a:avLst>
              <a:gd name="adj" fmla="val 6977"/>
            </a:avLst>
          </a:prstGeom>
          <a:solidFill>
            <a:srgbClr val="F2F2F9"/>
          </a:solidFill>
          <a:ln/>
        </p:spPr>
      </p:sp>
      <p:sp>
        <p:nvSpPr>
          <p:cNvPr id="10" name="Shape 8"/>
          <p:cNvSpPr/>
          <p:nvPr/>
        </p:nvSpPr>
        <p:spPr>
          <a:xfrm>
            <a:off x="749808" y="2761488"/>
            <a:ext cx="457200" cy="457200"/>
          </a:xfrm>
          <a:prstGeom prst="ellipse">
            <a:avLst/>
          </a:prstGeom>
          <a:solidFill>
            <a:srgbClr val="33357A"/>
          </a:solidFill>
          <a:ln/>
        </p:spPr>
      </p:sp>
      <p:sp>
        <p:nvSpPr>
          <p:cNvPr id="11" name="Text 9"/>
          <p:cNvSpPr txBox="1"/>
          <p:nvPr/>
        </p:nvSpPr>
        <p:spPr>
          <a:xfrm>
            <a:off x="749808" y="2761488"/>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B</a:t>
            </a:r>
            <a:endParaRPr lang="en-US" sz="1300" dirty="0"/>
          </a:p>
        </p:txBody>
      </p:sp>
      <p:sp>
        <p:nvSpPr>
          <p:cNvPr id="12" name="Text 10"/>
          <p:cNvSpPr txBox="1"/>
          <p:nvPr/>
        </p:nvSpPr>
        <p:spPr>
          <a:xfrm>
            <a:off x="1417320" y="2596896"/>
            <a:ext cx="1737360" cy="786384"/>
          </a:xfrm>
          <a:prstGeom prst="rect">
            <a:avLst/>
          </a:prstGeom>
          <a:noFill/>
          <a:ln/>
        </p:spPr>
        <p:txBody>
          <a:bodyPr wrap="square" lIns="0" tIns="0" rIns="0" bIns="0" rtlCol="0" anchor="ctr"/>
          <a:lstStyle/>
          <a:p>
            <a:pPr marL="0" indent="0">
              <a:buNone/>
            </a:pPr>
            <a:r>
              <a:rPr lang="en-US" sz="1350" b="1" dirty="0">
                <a:solidFill>
                  <a:srgbClr val="33357A"/>
                </a:solidFill>
                <a:latin typeface="Calibri" pitchFamily="34" charset="0"/>
                <a:ea typeface="Calibri" pitchFamily="34" charset="-122"/>
                <a:cs typeface="Calibri" pitchFamily="34" charset="-120"/>
              </a:rPr>
              <a:t>Backends</a:t>
            </a:r>
            <a:endParaRPr lang="en-US" sz="1350" dirty="0"/>
          </a:p>
        </p:txBody>
      </p:sp>
      <p:sp>
        <p:nvSpPr>
          <p:cNvPr id="13" name="Text 11"/>
          <p:cNvSpPr txBox="1"/>
          <p:nvPr/>
        </p:nvSpPr>
        <p:spPr>
          <a:xfrm>
            <a:off x="3246120" y="2596896"/>
            <a:ext cx="8259775" cy="786384"/>
          </a:xfrm>
          <a:prstGeom prst="rect">
            <a:avLst/>
          </a:prstGeom>
          <a:noFill/>
          <a:ln/>
        </p:spPr>
        <p:txBody>
          <a:bodyPr wrap="square" lIns="0" tIns="0" rIns="0" bIns="0" rtlCol="0" anchor="ctr"/>
          <a:lstStyle/>
          <a:p>
            <a:pPr marL="0" indent="0">
              <a:lnSpc>
                <a:spcPct val="100000"/>
              </a:lnSpc>
              <a:buNone/>
            </a:pPr>
            <a:r>
              <a:rPr lang="en-US" sz="1250" dirty="0">
                <a:solidFill>
                  <a:srgbClr val="1B1D29"/>
                </a:solidFill>
                <a:latin typeface="Calibri" pitchFamily="34" charset="0"/>
                <a:ea typeface="Calibri" pitchFamily="34" charset="-122"/>
                <a:cs typeface="Calibri" pitchFamily="34" charset="-120"/>
              </a:rPr>
              <a:t>Three independent FastAPI (Python) services — text translation, video→skeleton, and the lecture pipeline — each self-contained.</a:t>
            </a:r>
            <a:endParaRPr lang="en-US" sz="1250" dirty="0"/>
          </a:p>
        </p:txBody>
      </p:sp>
      <p:sp>
        <p:nvSpPr>
          <p:cNvPr id="14" name="Shape 12"/>
          <p:cNvSpPr/>
          <p:nvPr/>
        </p:nvSpPr>
        <p:spPr>
          <a:xfrm>
            <a:off x="548640" y="3502152"/>
            <a:ext cx="11094415" cy="786384"/>
          </a:xfrm>
          <a:prstGeom prst="roundRect">
            <a:avLst>
              <a:gd name="adj" fmla="val 6977"/>
            </a:avLst>
          </a:prstGeom>
          <a:solidFill>
            <a:srgbClr val="ECEDF6"/>
          </a:solidFill>
          <a:ln/>
        </p:spPr>
      </p:sp>
      <p:sp>
        <p:nvSpPr>
          <p:cNvPr id="15" name="Shape 13"/>
          <p:cNvSpPr/>
          <p:nvPr/>
        </p:nvSpPr>
        <p:spPr>
          <a:xfrm>
            <a:off x="749808" y="3666744"/>
            <a:ext cx="457200" cy="457200"/>
          </a:xfrm>
          <a:prstGeom prst="ellipse">
            <a:avLst/>
          </a:prstGeom>
          <a:solidFill>
            <a:srgbClr val="33357A"/>
          </a:solidFill>
          <a:ln/>
        </p:spPr>
      </p:sp>
      <p:sp>
        <p:nvSpPr>
          <p:cNvPr id="16" name="Text 14"/>
          <p:cNvSpPr txBox="1"/>
          <p:nvPr/>
        </p:nvSpPr>
        <p:spPr>
          <a:xfrm>
            <a:off x="749808" y="3666744"/>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V</a:t>
            </a:r>
            <a:endParaRPr lang="en-US" sz="1300" dirty="0"/>
          </a:p>
        </p:txBody>
      </p:sp>
      <p:sp>
        <p:nvSpPr>
          <p:cNvPr id="17" name="Text 15"/>
          <p:cNvSpPr txBox="1"/>
          <p:nvPr/>
        </p:nvSpPr>
        <p:spPr>
          <a:xfrm>
            <a:off x="1417320" y="3502152"/>
            <a:ext cx="1737360" cy="786384"/>
          </a:xfrm>
          <a:prstGeom prst="rect">
            <a:avLst/>
          </a:prstGeom>
          <a:noFill/>
          <a:ln/>
        </p:spPr>
        <p:txBody>
          <a:bodyPr wrap="square" lIns="0" tIns="0" rIns="0" bIns="0" rtlCol="0" anchor="ctr"/>
          <a:lstStyle/>
          <a:p>
            <a:pPr marL="0" indent="0">
              <a:buNone/>
            </a:pPr>
            <a:r>
              <a:rPr lang="en-US" sz="1350" b="1" dirty="0">
                <a:solidFill>
                  <a:srgbClr val="33357A"/>
                </a:solidFill>
                <a:latin typeface="Calibri" pitchFamily="34" charset="0"/>
                <a:ea typeface="Calibri" pitchFamily="34" charset="-122"/>
                <a:cs typeface="Calibri" pitchFamily="34" charset="-120"/>
              </a:rPr>
              <a:t>Vision / ML</a:t>
            </a:r>
            <a:endParaRPr lang="en-US" sz="1350" dirty="0"/>
          </a:p>
        </p:txBody>
      </p:sp>
      <p:sp>
        <p:nvSpPr>
          <p:cNvPr id="18" name="Text 16"/>
          <p:cNvSpPr txBox="1"/>
          <p:nvPr/>
        </p:nvSpPr>
        <p:spPr>
          <a:xfrm>
            <a:off x="3246120" y="3502152"/>
            <a:ext cx="8259775" cy="786384"/>
          </a:xfrm>
          <a:prstGeom prst="rect">
            <a:avLst/>
          </a:prstGeom>
          <a:noFill/>
          <a:ln/>
        </p:spPr>
        <p:txBody>
          <a:bodyPr wrap="square" lIns="0" tIns="0" rIns="0" bIns="0" rtlCol="0" anchor="ctr"/>
          <a:lstStyle/>
          <a:p>
            <a:pPr marL="0" indent="0">
              <a:lnSpc>
                <a:spcPct val="100000"/>
              </a:lnSpc>
              <a:buNone/>
            </a:pPr>
            <a:r>
              <a:rPr lang="en-US" sz="1250" dirty="0">
                <a:solidFill>
                  <a:srgbClr val="1B1D29"/>
                </a:solidFill>
                <a:latin typeface="Calibri" pitchFamily="34" charset="0"/>
                <a:ea typeface="Calibri" pitchFamily="34" charset="-122"/>
                <a:cs typeface="Calibri" pitchFamily="34" charset="-120"/>
              </a:rPr>
              <a:t>MediaPipe Tasks (pose · hand · face), YOLO (speaker detection), faster-whisper (transcription), a local Ollama LLM (English→gloss), yt-dlp.</a:t>
            </a:r>
            <a:endParaRPr lang="en-US" sz="1250" dirty="0"/>
          </a:p>
        </p:txBody>
      </p:sp>
      <p:sp>
        <p:nvSpPr>
          <p:cNvPr id="19" name="Shape 17"/>
          <p:cNvSpPr/>
          <p:nvPr/>
        </p:nvSpPr>
        <p:spPr>
          <a:xfrm>
            <a:off x="548640" y="4407408"/>
            <a:ext cx="11094415" cy="786384"/>
          </a:xfrm>
          <a:prstGeom prst="roundRect">
            <a:avLst>
              <a:gd name="adj" fmla="val 6977"/>
            </a:avLst>
          </a:prstGeom>
          <a:solidFill>
            <a:srgbClr val="F2F2F9"/>
          </a:solidFill>
          <a:ln/>
        </p:spPr>
      </p:sp>
      <p:sp>
        <p:nvSpPr>
          <p:cNvPr id="20" name="Shape 18"/>
          <p:cNvSpPr/>
          <p:nvPr/>
        </p:nvSpPr>
        <p:spPr>
          <a:xfrm>
            <a:off x="749808" y="4572000"/>
            <a:ext cx="457200" cy="457200"/>
          </a:xfrm>
          <a:prstGeom prst="ellipse">
            <a:avLst/>
          </a:prstGeom>
          <a:solidFill>
            <a:srgbClr val="33357A"/>
          </a:solidFill>
          <a:ln/>
        </p:spPr>
      </p:sp>
      <p:sp>
        <p:nvSpPr>
          <p:cNvPr id="21" name="Text 19"/>
          <p:cNvSpPr txBox="1"/>
          <p:nvPr/>
        </p:nvSpPr>
        <p:spPr>
          <a:xfrm>
            <a:off x="749808" y="4572000"/>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M</a:t>
            </a:r>
            <a:endParaRPr lang="en-US" sz="1300" dirty="0"/>
          </a:p>
        </p:txBody>
      </p:sp>
      <p:sp>
        <p:nvSpPr>
          <p:cNvPr id="22" name="Text 20"/>
          <p:cNvSpPr txBox="1"/>
          <p:nvPr/>
        </p:nvSpPr>
        <p:spPr>
          <a:xfrm>
            <a:off x="1417320" y="4407408"/>
            <a:ext cx="1737360" cy="786384"/>
          </a:xfrm>
          <a:prstGeom prst="rect">
            <a:avLst/>
          </a:prstGeom>
          <a:noFill/>
          <a:ln/>
        </p:spPr>
        <p:txBody>
          <a:bodyPr wrap="square" lIns="0" tIns="0" rIns="0" bIns="0" rtlCol="0" anchor="ctr"/>
          <a:lstStyle/>
          <a:p>
            <a:pPr marL="0" indent="0">
              <a:buNone/>
            </a:pPr>
            <a:r>
              <a:rPr lang="en-US" sz="1350" b="1" dirty="0">
                <a:solidFill>
                  <a:srgbClr val="33357A"/>
                </a:solidFill>
                <a:latin typeface="Calibri" pitchFamily="34" charset="0"/>
                <a:ea typeface="Calibri" pitchFamily="34" charset="-122"/>
                <a:cs typeface="Calibri" pitchFamily="34" charset="-120"/>
              </a:rPr>
              <a:t>Offline model</a:t>
            </a:r>
            <a:endParaRPr lang="en-US" sz="1350" dirty="0"/>
          </a:p>
        </p:txBody>
      </p:sp>
      <p:sp>
        <p:nvSpPr>
          <p:cNvPr id="23" name="Text 21"/>
          <p:cNvSpPr txBox="1"/>
          <p:nvPr/>
        </p:nvSpPr>
        <p:spPr>
          <a:xfrm>
            <a:off x="3246120" y="4407408"/>
            <a:ext cx="8259775" cy="786384"/>
          </a:xfrm>
          <a:prstGeom prst="rect">
            <a:avLst/>
          </a:prstGeom>
          <a:noFill/>
          <a:ln/>
        </p:spPr>
        <p:txBody>
          <a:bodyPr wrap="square" lIns="0" tIns="0" rIns="0" bIns="0" rtlCol="0" anchor="ctr"/>
          <a:lstStyle/>
          <a:p>
            <a:pPr marL="0" indent="0">
              <a:lnSpc>
                <a:spcPct val="100000"/>
              </a:lnSpc>
              <a:buNone/>
            </a:pPr>
            <a:r>
              <a:rPr lang="en-US" sz="1250" dirty="0">
                <a:solidFill>
                  <a:srgbClr val="1B1D29"/>
                </a:solidFill>
                <a:latin typeface="Calibri" pitchFamily="34" charset="0"/>
                <a:ea typeface="Calibri" pitchFamily="34" charset="-122"/>
                <a:cs typeface="Calibri" pitchFamily="34" charset="-120"/>
              </a:rPr>
              <a:t>The canonical-motion builder — DTW Barycenter Averaging in NumPy. No GPU needed; it never touches runtime files.</a:t>
            </a:r>
            <a:endParaRPr lang="en-US" sz="1250" dirty="0"/>
          </a:p>
        </p:txBody>
      </p:sp>
      <p:sp>
        <p:nvSpPr>
          <p:cNvPr id="24" name="Shape 22"/>
          <p:cNvSpPr/>
          <p:nvPr/>
        </p:nvSpPr>
        <p:spPr>
          <a:xfrm>
            <a:off x="548640" y="5312664"/>
            <a:ext cx="11094415" cy="786384"/>
          </a:xfrm>
          <a:prstGeom prst="roundRect">
            <a:avLst>
              <a:gd name="adj" fmla="val 6977"/>
            </a:avLst>
          </a:prstGeom>
          <a:solidFill>
            <a:srgbClr val="ECEDF6"/>
          </a:solidFill>
          <a:ln/>
        </p:spPr>
      </p:sp>
      <p:sp>
        <p:nvSpPr>
          <p:cNvPr id="25" name="Shape 23"/>
          <p:cNvSpPr/>
          <p:nvPr/>
        </p:nvSpPr>
        <p:spPr>
          <a:xfrm>
            <a:off x="749808" y="5477256"/>
            <a:ext cx="457200" cy="457200"/>
          </a:xfrm>
          <a:prstGeom prst="ellipse">
            <a:avLst/>
          </a:prstGeom>
          <a:solidFill>
            <a:srgbClr val="B06712"/>
          </a:solidFill>
          <a:ln/>
        </p:spPr>
      </p:sp>
      <p:sp>
        <p:nvSpPr>
          <p:cNvPr id="26" name="Text 24"/>
          <p:cNvSpPr txBox="1"/>
          <p:nvPr/>
        </p:nvSpPr>
        <p:spPr>
          <a:xfrm>
            <a:off x="749808" y="5477256"/>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a:t>
            </a:r>
            <a:endParaRPr lang="en-US" sz="1300" dirty="0"/>
          </a:p>
        </p:txBody>
      </p:sp>
      <p:sp>
        <p:nvSpPr>
          <p:cNvPr id="27" name="Text 25"/>
          <p:cNvSpPr txBox="1"/>
          <p:nvPr/>
        </p:nvSpPr>
        <p:spPr>
          <a:xfrm>
            <a:off x="1417320" y="5312664"/>
            <a:ext cx="1737360" cy="786384"/>
          </a:xfrm>
          <a:prstGeom prst="rect">
            <a:avLst/>
          </a:prstGeom>
          <a:noFill/>
          <a:ln/>
        </p:spPr>
        <p:txBody>
          <a:bodyPr wrap="square" lIns="0" tIns="0" rIns="0" bIns="0" rtlCol="0" anchor="ctr"/>
          <a:lstStyle/>
          <a:p>
            <a:pPr marL="0" indent="0">
              <a:buNone/>
            </a:pPr>
            <a:r>
              <a:rPr lang="en-US" sz="1350" b="1" dirty="0">
                <a:solidFill>
                  <a:srgbClr val="33357A"/>
                </a:solidFill>
                <a:latin typeface="Calibri" pitchFamily="34" charset="0"/>
                <a:ea typeface="Calibri" pitchFamily="34" charset="-122"/>
                <a:cs typeface="Calibri" pitchFamily="34" charset="-120"/>
              </a:rPr>
              <a:t>Mobile &amp; infra</a:t>
            </a:r>
            <a:endParaRPr lang="en-US" sz="1350" dirty="0"/>
          </a:p>
        </p:txBody>
      </p:sp>
      <p:sp>
        <p:nvSpPr>
          <p:cNvPr id="28" name="Text 26"/>
          <p:cNvSpPr txBox="1"/>
          <p:nvPr/>
        </p:nvSpPr>
        <p:spPr>
          <a:xfrm>
            <a:off x="3246120" y="5312664"/>
            <a:ext cx="8259775" cy="786384"/>
          </a:xfrm>
          <a:prstGeom prst="rect">
            <a:avLst/>
          </a:prstGeom>
          <a:noFill/>
          <a:ln/>
        </p:spPr>
        <p:txBody>
          <a:bodyPr wrap="square" lIns="0" tIns="0" rIns="0" bIns="0" rtlCol="0" anchor="ctr"/>
          <a:lstStyle/>
          <a:p>
            <a:pPr marL="0" indent="0">
              <a:lnSpc>
                <a:spcPct val="100000"/>
              </a:lnSpc>
              <a:buNone/>
            </a:pPr>
            <a:r>
              <a:rPr lang="en-US" sz="1250" dirty="0">
                <a:solidFill>
                  <a:srgbClr val="1B1D29"/>
                </a:solidFill>
                <a:latin typeface="Calibri" pitchFamily="34" charset="0"/>
                <a:ea typeface="Calibri" pitchFamily="34" charset="-122"/>
                <a:cs typeface="Calibri" pitchFamily="34" charset="-120"/>
              </a:rPr>
              <a:t>Capacitor wraps the static build as an Android app; Docker + nginx deploy; universal config.yaml, health checks, validation.</a:t>
            </a:r>
            <a:endParaRPr lang="en-US" sz="1250" dirty="0"/>
          </a:p>
        </p:txBody>
      </p:sp>
      <p:sp>
        <p:nvSpPr>
          <p:cNvPr id="29" name="Text 27"/>
          <p:cNvSpPr txBox="1"/>
          <p:nvPr/>
        </p:nvSpPr>
        <p:spPr>
          <a:xfrm>
            <a:off x="548640" y="6263640"/>
            <a:ext cx="11094415" cy="457200"/>
          </a:xfrm>
          <a:prstGeom prst="rect">
            <a:avLst/>
          </a:prstGeom>
          <a:noFill/>
          <a:ln/>
        </p:spPr>
        <p:txBody>
          <a:bodyPr wrap="square" lIns="0" tIns="0" rIns="0" bIns="0" rtlCol="0" anchor="t"/>
          <a:lstStyle/>
          <a:p>
            <a:pPr marL="0" indent="0">
              <a:buNone/>
            </a:pPr>
            <a:r>
              <a:rPr lang="en-US" sz="1250" b="1" dirty="0">
                <a:solidFill>
                  <a:srgbClr val="1B1D29"/>
                </a:solidFill>
                <a:latin typeface="Calibri" pitchFamily="34" charset="0"/>
                <a:ea typeface="Calibri" pitchFamily="34" charset="-122"/>
                <a:cs typeface="Calibri" pitchFamily="34" charset="-120"/>
              </a:rPr>
              <a:t>Requirements:  </a:t>
            </a:r>
            <a:r>
              <a:rPr lang="en-US" sz="1250" dirty="0">
                <a:solidFill>
                  <a:srgbClr val="5A5E76"/>
                </a:solidFill>
                <a:latin typeface="Calibri" pitchFamily="34" charset="0"/>
                <a:ea typeface="Calibri" pitchFamily="34" charset="-122"/>
                <a:cs typeface="Calibri" pitchFamily="34" charset="-120"/>
              </a:rPr>
              <a:t>Node 18+, Python 3.11/3.12. A GPU speeds transcription 3–6× but everything falls back to CPU. Internet once for the ~13 MB vision models. No paid API required.</a:t>
            </a:r>
            <a:endParaRPr lang="en-US" sz="1250" dirty="0"/>
          </a:p>
        </p:txBody>
      </p:sp>
      <p:sp>
        <p:nvSpPr>
          <p:cNvPr id="30" name="Text 28"/>
          <p:cNvSpPr txBox="1"/>
          <p:nvPr/>
        </p:nvSpPr>
        <p:spPr>
          <a:xfrm>
            <a:off x="548640" y="6473952"/>
            <a:ext cx="4572000" cy="274320"/>
          </a:xfrm>
          <a:prstGeom prst="rect">
            <a:avLst/>
          </a:prstGeom>
          <a:noFill/>
          <a:ln/>
        </p:spPr>
        <p:txBody>
          <a:bodyPr wrap="square" lIns="0" tIns="0" rIns="0" bIns="0" rtlCol="0" anchor="ctr"/>
          <a:lstStyle/>
          <a:p>
            <a:pPr marL="0" indent="0">
              <a:buNone/>
            </a:pPr>
            <a:r>
              <a:rPr lang="en-US" sz="900" dirty="0">
                <a:solidFill>
                  <a:srgbClr val="9A9EB2"/>
                </a:solidFill>
                <a:latin typeface="Calibri" pitchFamily="34" charset="0"/>
                <a:ea typeface="Calibri" pitchFamily="34" charset="-122"/>
                <a:cs typeface="Calibri" pitchFamily="34" charset="-120"/>
              </a:rPr>
              <a:t>AvatarEngine · ISL</a:t>
            </a:r>
            <a:endParaRPr lang="en-US" sz="900" dirty="0"/>
          </a:p>
        </p:txBody>
      </p:sp>
      <p:sp>
        <p:nvSpPr>
          <p:cNvPr id="31" name="Text 29"/>
          <p:cNvSpPr txBox="1"/>
          <p:nvPr/>
        </p:nvSpPr>
        <p:spPr>
          <a:xfrm>
            <a:off x="11094415" y="6473952"/>
            <a:ext cx="548640" cy="274320"/>
          </a:xfrm>
          <a:prstGeom prst="rect">
            <a:avLst/>
          </a:prstGeom>
          <a:noFill/>
          <a:ln/>
        </p:spPr>
        <p:txBody>
          <a:bodyPr wrap="square" lIns="0" tIns="0" rIns="0" bIns="0" rtlCol="0" anchor="ctr"/>
          <a:lstStyle/>
          <a:p>
            <a:pPr marL="0" indent="0" algn="r">
              <a:buNone/>
            </a:pPr>
            <a:r>
              <a:rPr lang="en-US" sz="900" dirty="0">
                <a:solidFill>
                  <a:srgbClr val="9A9EB2"/>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02336"/>
            <a:ext cx="11094415" cy="274320"/>
          </a:xfrm>
          <a:prstGeom prst="rect">
            <a:avLst/>
          </a:prstGeom>
          <a:noFill/>
          <a:ln/>
        </p:spPr>
        <p:txBody>
          <a:bodyPr wrap="square" lIns="0" tIns="0" rIns="0" bIns="0" rtlCol="0" anchor="ctr"/>
          <a:lstStyle/>
          <a:p>
            <a:pPr marL="0" indent="0">
              <a:buNone/>
            </a:pPr>
            <a:r>
              <a:rPr lang="en-US" sz="1150" b="1" kern="0" spc="200" dirty="0">
                <a:solidFill>
                  <a:srgbClr val="B06712"/>
                </a:solidFill>
                <a:latin typeface="Calibri" pitchFamily="34" charset="0"/>
                <a:ea typeface="Calibri" pitchFamily="34" charset="-122"/>
                <a:cs typeface="Calibri" pitchFamily="34" charset="-120"/>
              </a:rPr>
              <a:t>PROGRESS — WHAT’S BUILT SO FAR</a:t>
            </a:r>
            <a:endParaRPr lang="en-US" sz="1150" dirty="0"/>
          </a:p>
        </p:txBody>
      </p:sp>
      <p:sp>
        <p:nvSpPr>
          <p:cNvPr id="3" name="Text 1"/>
          <p:cNvSpPr txBox="1"/>
          <p:nvPr/>
        </p:nvSpPr>
        <p:spPr>
          <a:xfrm>
            <a:off x="548640" y="694944"/>
            <a:ext cx="11094415" cy="914400"/>
          </a:xfrm>
          <a:prstGeom prst="rect">
            <a:avLst/>
          </a:prstGeom>
          <a:noFill/>
          <a:ln/>
        </p:spPr>
        <p:txBody>
          <a:bodyPr wrap="square" lIns="0" tIns="0" rIns="0" bIns="0" rtlCol="0" anchor="ctr"/>
          <a:lstStyle/>
          <a:p>
            <a:pPr marL="0" indent="0">
              <a:lnSpc>
                <a:spcPct val="98000"/>
              </a:lnSpc>
              <a:buNone/>
            </a:pPr>
            <a:r>
              <a:rPr lang="en-US" sz="2900" b="1" dirty="0">
                <a:solidFill>
                  <a:srgbClr val="1B1D29"/>
                </a:solidFill>
                <a:latin typeface="Calibri" pitchFamily="34" charset="0"/>
                <a:ea typeface="Calibri" pitchFamily="34" charset="-122"/>
                <a:cs typeface="Calibri" pitchFamily="34" charset="-120"/>
              </a:rPr>
              <a:t>Where the project stands today.</a:t>
            </a:r>
            <a:endParaRPr lang="en-US" sz="2900" dirty="0"/>
          </a:p>
        </p:txBody>
      </p:sp>
      <p:sp>
        <p:nvSpPr>
          <p:cNvPr id="4" name="Shape 2"/>
          <p:cNvSpPr/>
          <p:nvPr/>
        </p:nvSpPr>
        <p:spPr>
          <a:xfrm>
            <a:off x="548640" y="1783080"/>
            <a:ext cx="365760" cy="365760"/>
          </a:xfrm>
          <a:prstGeom prst="ellipse">
            <a:avLst/>
          </a:prstGeom>
          <a:solidFill>
            <a:srgbClr val="2F7D6B"/>
          </a:solidFill>
          <a:ln/>
        </p:spPr>
      </p:sp>
      <p:sp>
        <p:nvSpPr>
          <p:cNvPr id="5" name="Text 3"/>
          <p:cNvSpPr txBox="1"/>
          <p:nvPr/>
        </p:nvSpPr>
        <p:spPr>
          <a:xfrm>
            <a:off x="548640" y="178308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6" name="Text 4"/>
          <p:cNvSpPr txBox="1"/>
          <p:nvPr/>
        </p:nvSpPr>
        <p:spPr>
          <a:xfrm>
            <a:off x="1051560" y="1737360"/>
            <a:ext cx="4769968" cy="777240"/>
          </a:xfrm>
          <a:prstGeom prst="rect">
            <a:avLst/>
          </a:prstGeom>
          <a:noFill/>
          <a:ln/>
        </p:spPr>
        <p:txBody>
          <a:bodyPr wrap="square" lIns="0" tIns="0" rIns="0" bIns="0" rtlCol="0" anchor="ctr"/>
          <a:lstStyle/>
          <a:p>
            <a:pPr marL="0" indent="0">
              <a:lnSpc>
                <a:spcPct val="100000"/>
              </a:lnSpc>
              <a:buNone/>
            </a:pPr>
            <a:r>
              <a:rPr lang="en-US" sz="1300" dirty="0">
                <a:solidFill>
                  <a:srgbClr val="1B1D29"/>
                </a:solidFill>
                <a:latin typeface="Calibri" pitchFamily="34" charset="0"/>
                <a:ea typeface="Calibri" pitchFamily="34" charset="-122"/>
                <a:cs typeface="Calibri" pitchFamily="34" charset="-120"/>
              </a:rPr>
              <a:t>Three pipelines working end-to-end</a:t>
            </a:r>
            <a:endParaRPr lang="en-US" sz="1300" dirty="0"/>
          </a:p>
        </p:txBody>
      </p:sp>
      <p:sp>
        <p:nvSpPr>
          <p:cNvPr id="7" name="Shape 5"/>
          <p:cNvSpPr/>
          <p:nvPr/>
        </p:nvSpPr>
        <p:spPr>
          <a:xfrm>
            <a:off x="548640" y="2624328"/>
            <a:ext cx="365760" cy="365760"/>
          </a:xfrm>
          <a:prstGeom prst="ellipse">
            <a:avLst/>
          </a:prstGeom>
          <a:solidFill>
            <a:srgbClr val="2F7D6B"/>
          </a:solidFill>
          <a:ln/>
        </p:spPr>
      </p:sp>
      <p:sp>
        <p:nvSpPr>
          <p:cNvPr id="8" name="Text 6"/>
          <p:cNvSpPr txBox="1"/>
          <p:nvPr/>
        </p:nvSpPr>
        <p:spPr>
          <a:xfrm>
            <a:off x="548640" y="2624328"/>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9" name="Text 7"/>
          <p:cNvSpPr txBox="1"/>
          <p:nvPr/>
        </p:nvSpPr>
        <p:spPr>
          <a:xfrm>
            <a:off x="1051560" y="2578608"/>
            <a:ext cx="4769968" cy="777240"/>
          </a:xfrm>
          <a:prstGeom prst="rect">
            <a:avLst/>
          </a:prstGeom>
          <a:noFill/>
          <a:ln/>
        </p:spPr>
        <p:txBody>
          <a:bodyPr wrap="square" lIns="0" tIns="0" rIns="0" bIns="0" rtlCol="0" anchor="ctr"/>
          <a:lstStyle/>
          <a:p>
            <a:pPr marL="0" indent="0">
              <a:lnSpc>
                <a:spcPct val="100000"/>
              </a:lnSpc>
              <a:buNone/>
            </a:pPr>
            <a:r>
              <a:rPr lang="en-US" sz="1300" dirty="0">
                <a:solidFill>
                  <a:srgbClr val="1B1D29"/>
                </a:solidFill>
                <a:latin typeface="Calibri" pitchFamily="34" charset="0"/>
                <a:ea typeface="Calibri" pitchFamily="34" charset="-122"/>
                <a:cs typeface="Calibri" pitchFamily="34" charset="-120"/>
              </a:rPr>
              <a:t>17 captured ISL signs + full A–Z fingerspelling</a:t>
            </a:r>
            <a:endParaRPr lang="en-US" sz="1300" dirty="0"/>
          </a:p>
        </p:txBody>
      </p:sp>
      <p:sp>
        <p:nvSpPr>
          <p:cNvPr id="10" name="Shape 8"/>
          <p:cNvSpPr/>
          <p:nvPr/>
        </p:nvSpPr>
        <p:spPr>
          <a:xfrm>
            <a:off x="548640" y="3465576"/>
            <a:ext cx="365760" cy="365760"/>
          </a:xfrm>
          <a:prstGeom prst="ellipse">
            <a:avLst/>
          </a:prstGeom>
          <a:solidFill>
            <a:srgbClr val="2F7D6B"/>
          </a:solidFill>
          <a:ln/>
        </p:spPr>
      </p:sp>
      <p:sp>
        <p:nvSpPr>
          <p:cNvPr id="11" name="Text 9"/>
          <p:cNvSpPr txBox="1"/>
          <p:nvPr/>
        </p:nvSpPr>
        <p:spPr>
          <a:xfrm>
            <a:off x="548640" y="3465576"/>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2" name="Text 10"/>
          <p:cNvSpPr txBox="1"/>
          <p:nvPr/>
        </p:nvSpPr>
        <p:spPr>
          <a:xfrm>
            <a:off x="1051560" y="3419856"/>
            <a:ext cx="4769968" cy="777240"/>
          </a:xfrm>
          <a:prstGeom prst="rect">
            <a:avLst/>
          </a:prstGeom>
          <a:noFill/>
          <a:ln/>
        </p:spPr>
        <p:txBody>
          <a:bodyPr wrap="square" lIns="0" tIns="0" rIns="0" bIns="0" rtlCol="0" anchor="ctr"/>
          <a:lstStyle/>
          <a:p>
            <a:pPr marL="0" indent="0">
              <a:lnSpc>
                <a:spcPct val="100000"/>
              </a:lnSpc>
              <a:buNone/>
            </a:pPr>
            <a:r>
              <a:rPr lang="en-US" sz="1300" dirty="0">
                <a:solidFill>
                  <a:srgbClr val="1B1D29"/>
                </a:solidFill>
                <a:latin typeface="Calibri" pitchFamily="34" charset="0"/>
                <a:ea typeface="Calibri" pitchFamily="34" charset="-122"/>
                <a:cs typeface="Calibri" pitchFamily="34" charset="-120"/>
              </a:rPr>
              <a:t>A documented, reproducible motion model + metrics report</a:t>
            </a:r>
            <a:endParaRPr lang="en-US" sz="1300" dirty="0"/>
          </a:p>
        </p:txBody>
      </p:sp>
      <p:sp>
        <p:nvSpPr>
          <p:cNvPr id="13" name="Shape 11"/>
          <p:cNvSpPr/>
          <p:nvPr/>
        </p:nvSpPr>
        <p:spPr>
          <a:xfrm>
            <a:off x="548640" y="4306824"/>
            <a:ext cx="365760" cy="365760"/>
          </a:xfrm>
          <a:prstGeom prst="ellipse">
            <a:avLst/>
          </a:prstGeom>
          <a:solidFill>
            <a:srgbClr val="2F7D6B"/>
          </a:solidFill>
          <a:ln/>
        </p:spPr>
      </p:sp>
      <p:sp>
        <p:nvSpPr>
          <p:cNvPr id="14" name="Text 12"/>
          <p:cNvSpPr txBox="1"/>
          <p:nvPr/>
        </p:nvSpPr>
        <p:spPr>
          <a:xfrm>
            <a:off x="548640" y="4306824"/>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5" name="Text 13"/>
          <p:cNvSpPr txBox="1"/>
          <p:nvPr/>
        </p:nvSpPr>
        <p:spPr>
          <a:xfrm>
            <a:off x="1051560" y="4261104"/>
            <a:ext cx="4769968" cy="777240"/>
          </a:xfrm>
          <a:prstGeom prst="rect">
            <a:avLst/>
          </a:prstGeom>
          <a:noFill/>
          <a:ln/>
        </p:spPr>
        <p:txBody>
          <a:bodyPr wrap="square" lIns="0" tIns="0" rIns="0" bIns="0" rtlCol="0" anchor="ctr"/>
          <a:lstStyle/>
          <a:p>
            <a:pPr marL="0" indent="0">
              <a:lnSpc>
                <a:spcPct val="100000"/>
              </a:lnSpc>
              <a:buNone/>
            </a:pPr>
            <a:r>
              <a:rPr lang="en-US" sz="1300" dirty="0">
                <a:solidFill>
                  <a:srgbClr val="1B1D29"/>
                </a:solidFill>
                <a:latin typeface="Calibri" pitchFamily="34" charset="0"/>
                <a:ea typeface="Calibri" pitchFamily="34" charset="-122"/>
                <a:cs typeface="Calibri" pitchFamily="34" charset="-120"/>
              </a:rPr>
              <a:t>Speech input + local-LLM English→gloss translation</a:t>
            </a:r>
            <a:endParaRPr lang="en-US" sz="1300" dirty="0"/>
          </a:p>
        </p:txBody>
      </p:sp>
      <p:sp>
        <p:nvSpPr>
          <p:cNvPr id="16" name="Shape 14"/>
          <p:cNvSpPr/>
          <p:nvPr/>
        </p:nvSpPr>
        <p:spPr>
          <a:xfrm>
            <a:off x="6095848" y="1783080"/>
            <a:ext cx="365760" cy="365760"/>
          </a:xfrm>
          <a:prstGeom prst="ellipse">
            <a:avLst/>
          </a:prstGeom>
          <a:solidFill>
            <a:srgbClr val="2F7D6B"/>
          </a:solidFill>
          <a:ln/>
        </p:spPr>
      </p:sp>
      <p:sp>
        <p:nvSpPr>
          <p:cNvPr id="17" name="Text 15"/>
          <p:cNvSpPr txBox="1"/>
          <p:nvPr/>
        </p:nvSpPr>
        <p:spPr>
          <a:xfrm>
            <a:off x="6095848" y="178308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8" name="Text 16"/>
          <p:cNvSpPr txBox="1"/>
          <p:nvPr/>
        </p:nvSpPr>
        <p:spPr>
          <a:xfrm>
            <a:off x="6598768" y="1737360"/>
            <a:ext cx="4769968" cy="777240"/>
          </a:xfrm>
          <a:prstGeom prst="rect">
            <a:avLst/>
          </a:prstGeom>
          <a:noFill/>
          <a:ln/>
        </p:spPr>
        <p:txBody>
          <a:bodyPr wrap="square" lIns="0" tIns="0" rIns="0" bIns="0" rtlCol="0" anchor="ctr"/>
          <a:lstStyle/>
          <a:p>
            <a:pPr marL="0" indent="0">
              <a:lnSpc>
                <a:spcPct val="100000"/>
              </a:lnSpc>
              <a:buNone/>
            </a:pPr>
            <a:r>
              <a:rPr lang="en-US" sz="1300" dirty="0">
                <a:solidFill>
                  <a:srgbClr val="1B1D29"/>
                </a:solidFill>
                <a:latin typeface="Calibri" pitchFamily="34" charset="0"/>
                <a:ea typeface="Calibri" pitchFamily="34" charset="-122"/>
                <a:cs typeface="Calibri" pitchFamily="34" charset="-120"/>
              </a:rPr>
              <a:t>Lecture video → timed transcript → avatar signs in sync</a:t>
            </a:r>
            <a:endParaRPr lang="en-US" sz="1300" dirty="0"/>
          </a:p>
        </p:txBody>
      </p:sp>
      <p:sp>
        <p:nvSpPr>
          <p:cNvPr id="19" name="Shape 17"/>
          <p:cNvSpPr/>
          <p:nvPr/>
        </p:nvSpPr>
        <p:spPr>
          <a:xfrm>
            <a:off x="6095848" y="2624328"/>
            <a:ext cx="365760" cy="365760"/>
          </a:xfrm>
          <a:prstGeom prst="ellipse">
            <a:avLst/>
          </a:prstGeom>
          <a:solidFill>
            <a:srgbClr val="2F7D6B"/>
          </a:solidFill>
          <a:ln/>
        </p:spPr>
      </p:sp>
      <p:sp>
        <p:nvSpPr>
          <p:cNvPr id="20" name="Text 18"/>
          <p:cNvSpPr txBox="1"/>
          <p:nvPr/>
        </p:nvSpPr>
        <p:spPr>
          <a:xfrm>
            <a:off x="6095848" y="2624328"/>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1" name="Text 19"/>
          <p:cNvSpPr txBox="1"/>
          <p:nvPr/>
        </p:nvSpPr>
        <p:spPr>
          <a:xfrm>
            <a:off x="6598768" y="2578608"/>
            <a:ext cx="4769968" cy="777240"/>
          </a:xfrm>
          <a:prstGeom prst="rect">
            <a:avLst/>
          </a:prstGeom>
          <a:noFill/>
          <a:ln/>
        </p:spPr>
        <p:txBody>
          <a:bodyPr wrap="square" lIns="0" tIns="0" rIns="0" bIns="0" rtlCol="0" anchor="ctr"/>
          <a:lstStyle/>
          <a:p>
            <a:pPr marL="0" indent="0">
              <a:lnSpc>
                <a:spcPct val="100000"/>
              </a:lnSpc>
              <a:buNone/>
            </a:pPr>
            <a:r>
              <a:rPr lang="en-US" sz="1300" dirty="0">
                <a:solidFill>
                  <a:srgbClr val="1B1D29"/>
                </a:solidFill>
                <a:latin typeface="Calibri" pitchFamily="34" charset="0"/>
                <a:ea typeface="Calibri" pitchFamily="34" charset="-122"/>
                <a:cs typeface="Calibri" pitchFamily="34" charset="-120"/>
              </a:rPr>
              <a:t>Facial-expression capture (question grammar)</a:t>
            </a:r>
            <a:endParaRPr lang="en-US" sz="1300" dirty="0"/>
          </a:p>
        </p:txBody>
      </p:sp>
      <p:sp>
        <p:nvSpPr>
          <p:cNvPr id="22" name="Shape 20"/>
          <p:cNvSpPr/>
          <p:nvPr/>
        </p:nvSpPr>
        <p:spPr>
          <a:xfrm>
            <a:off x="6095848" y="3465576"/>
            <a:ext cx="365760" cy="365760"/>
          </a:xfrm>
          <a:prstGeom prst="ellipse">
            <a:avLst/>
          </a:prstGeom>
          <a:solidFill>
            <a:srgbClr val="2F7D6B"/>
          </a:solidFill>
          <a:ln/>
        </p:spPr>
      </p:sp>
      <p:sp>
        <p:nvSpPr>
          <p:cNvPr id="23" name="Text 21"/>
          <p:cNvSpPr txBox="1"/>
          <p:nvPr/>
        </p:nvSpPr>
        <p:spPr>
          <a:xfrm>
            <a:off x="6095848" y="3465576"/>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4" name="Text 22"/>
          <p:cNvSpPr txBox="1"/>
          <p:nvPr/>
        </p:nvSpPr>
        <p:spPr>
          <a:xfrm>
            <a:off x="6598768" y="3419856"/>
            <a:ext cx="4769968" cy="777240"/>
          </a:xfrm>
          <a:prstGeom prst="rect">
            <a:avLst/>
          </a:prstGeom>
          <a:noFill/>
          <a:ln/>
        </p:spPr>
        <p:txBody>
          <a:bodyPr wrap="square" lIns="0" tIns="0" rIns="0" bIns="0" rtlCol="0" anchor="ctr"/>
          <a:lstStyle/>
          <a:p>
            <a:pPr marL="0" indent="0">
              <a:lnSpc>
                <a:spcPct val="100000"/>
              </a:lnSpc>
              <a:buNone/>
            </a:pPr>
            <a:r>
              <a:rPr lang="en-US" sz="1300" dirty="0">
                <a:solidFill>
                  <a:srgbClr val="1B1D29"/>
                </a:solidFill>
                <a:latin typeface="Calibri" pitchFamily="34" charset="0"/>
                <a:ea typeface="Calibri" pitchFamily="34" charset="-122"/>
                <a:cs typeface="Calibri" pitchFamily="34" charset="-120"/>
              </a:rPr>
              <a:t>Android app via Capacitor</a:t>
            </a:r>
            <a:endParaRPr lang="en-US" sz="1300" dirty="0"/>
          </a:p>
        </p:txBody>
      </p:sp>
      <p:sp>
        <p:nvSpPr>
          <p:cNvPr id="25" name="Shape 23"/>
          <p:cNvSpPr/>
          <p:nvPr/>
        </p:nvSpPr>
        <p:spPr>
          <a:xfrm>
            <a:off x="6095848" y="4306824"/>
            <a:ext cx="365760" cy="365760"/>
          </a:xfrm>
          <a:prstGeom prst="ellipse">
            <a:avLst/>
          </a:prstGeom>
          <a:solidFill>
            <a:srgbClr val="2F7D6B"/>
          </a:solidFill>
          <a:ln/>
        </p:spPr>
      </p:sp>
      <p:sp>
        <p:nvSpPr>
          <p:cNvPr id="26" name="Text 24"/>
          <p:cNvSpPr txBox="1"/>
          <p:nvPr/>
        </p:nvSpPr>
        <p:spPr>
          <a:xfrm>
            <a:off x="6095848" y="4306824"/>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7" name="Text 25"/>
          <p:cNvSpPr txBox="1"/>
          <p:nvPr/>
        </p:nvSpPr>
        <p:spPr>
          <a:xfrm>
            <a:off x="6598768" y="4261104"/>
            <a:ext cx="4769968" cy="777240"/>
          </a:xfrm>
          <a:prstGeom prst="rect">
            <a:avLst/>
          </a:prstGeom>
          <a:noFill/>
          <a:ln/>
        </p:spPr>
        <p:txBody>
          <a:bodyPr wrap="square" lIns="0" tIns="0" rIns="0" bIns="0" rtlCol="0" anchor="ctr"/>
          <a:lstStyle/>
          <a:p>
            <a:pPr marL="0" indent="0">
              <a:lnSpc>
                <a:spcPct val="100000"/>
              </a:lnSpc>
              <a:buNone/>
            </a:pPr>
            <a:r>
              <a:rPr lang="en-US" sz="1300" dirty="0">
                <a:solidFill>
                  <a:srgbClr val="1B1D29"/>
                </a:solidFill>
                <a:latin typeface="Calibri" pitchFamily="34" charset="0"/>
                <a:ea typeface="Calibri" pitchFamily="34" charset="-122"/>
                <a:cs typeface="Calibri" pitchFamily="34" charset="-120"/>
              </a:rPr>
              <a:t>Production hardening — config, health, validation, Docker</a:t>
            </a:r>
            <a:endParaRPr lang="en-US" sz="1300" dirty="0"/>
          </a:p>
        </p:txBody>
      </p:sp>
      <p:sp>
        <p:nvSpPr>
          <p:cNvPr id="28" name="Shape 26"/>
          <p:cNvSpPr/>
          <p:nvPr/>
        </p:nvSpPr>
        <p:spPr>
          <a:xfrm>
            <a:off x="548640" y="5257800"/>
            <a:ext cx="11094415" cy="777240"/>
          </a:xfrm>
          <a:prstGeom prst="roundRect">
            <a:avLst>
              <a:gd name="adj" fmla="val 10588"/>
            </a:avLst>
          </a:prstGeom>
          <a:solidFill>
            <a:srgbClr val="ECEDF6"/>
          </a:solidFill>
          <a:ln/>
          <a:effectLst>
            <a:outerShdw blurRad="114300" dist="38100" dir="5400000" algn="bl" rotWithShape="0">
              <a:srgbClr val="9195AE">
                <a:alpha val="30000"/>
              </a:srgbClr>
            </a:outerShdw>
          </a:effectLst>
        </p:spPr>
      </p:sp>
      <p:sp>
        <p:nvSpPr>
          <p:cNvPr id="29" name="Text 27"/>
          <p:cNvSpPr txBox="1"/>
          <p:nvPr/>
        </p:nvSpPr>
        <p:spPr>
          <a:xfrm>
            <a:off x="768096" y="5440680"/>
            <a:ext cx="10655503" cy="219456"/>
          </a:xfrm>
          <a:prstGeom prst="rect">
            <a:avLst/>
          </a:prstGeom>
          <a:noFill/>
          <a:ln/>
        </p:spPr>
        <p:txBody>
          <a:bodyPr wrap="square" lIns="0" tIns="0" rIns="0" bIns="0" rtlCol="0" anchor="ctr"/>
          <a:lstStyle/>
          <a:p>
            <a:pPr marL="0" indent="0">
              <a:buNone/>
            </a:pPr>
            <a:r>
              <a:rPr lang="en-US" sz="950" b="1" kern="0" spc="140" dirty="0">
                <a:solidFill>
                  <a:srgbClr val="B06712"/>
                </a:solidFill>
                <a:latin typeface="Calibri" pitchFamily="34" charset="0"/>
                <a:ea typeface="Calibri" pitchFamily="34" charset="-122"/>
                <a:cs typeface="Calibri" pitchFamily="34" charset="-120"/>
              </a:rPr>
              <a:t>ACTIVELY UNDER DEVELOPMENT</a:t>
            </a:r>
            <a:endParaRPr lang="en-US" sz="950" dirty="0"/>
          </a:p>
        </p:txBody>
      </p:sp>
      <p:sp>
        <p:nvSpPr>
          <p:cNvPr id="30" name="Text 28"/>
          <p:cNvSpPr txBox="1"/>
          <p:nvPr/>
        </p:nvSpPr>
        <p:spPr>
          <a:xfrm>
            <a:off x="768096" y="5715000"/>
            <a:ext cx="10655503" cy="155448"/>
          </a:xfrm>
          <a:prstGeom prst="rect">
            <a:avLst/>
          </a:prstGeom>
          <a:noFill/>
          <a:ln/>
        </p:spPr>
        <p:txBody>
          <a:bodyPr wrap="square" lIns="0" tIns="0" rIns="0" bIns="0" rtlCol="0" anchor="t"/>
          <a:lstStyle/>
          <a:p>
            <a:pPr marL="0" indent="0">
              <a:lnSpc>
                <a:spcPct val="102000"/>
              </a:lnSpc>
              <a:buNone/>
            </a:pPr>
            <a:r>
              <a:rPr lang="en-US" sz="1250" dirty="0">
                <a:solidFill>
                  <a:srgbClr val="5A5E76"/>
                </a:solidFill>
                <a:latin typeface="Calibri" pitchFamily="34" charset="0"/>
                <a:ea typeface="Calibri" pitchFamily="34" charset="-122"/>
                <a:cs typeface="Calibri" pitchFamily="34" charset="-120"/>
              </a:rPr>
              <a:t>Two fronts: growing the sign library beyond 17, and a purpose-built better avatar whose proportions match real signers. Both are covered next.</a:t>
            </a:r>
            <a:endParaRPr lang="en-US" sz="1250" dirty="0"/>
          </a:p>
        </p:txBody>
      </p:sp>
      <p:sp>
        <p:nvSpPr>
          <p:cNvPr id="31" name="Text 29"/>
          <p:cNvSpPr txBox="1"/>
          <p:nvPr/>
        </p:nvSpPr>
        <p:spPr>
          <a:xfrm>
            <a:off x="548640" y="6473952"/>
            <a:ext cx="4572000" cy="274320"/>
          </a:xfrm>
          <a:prstGeom prst="rect">
            <a:avLst/>
          </a:prstGeom>
          <a:noFill/>
          <a:ln/>
        </p:spPr>
        <p:txBody>
          <a:bodyPr wrap="square" lIns="0" tIns="0" rIns="0" bIns="0" rtlCol="0" anchor="ctr"/>
          <a:lstStyle/>
          <a:p>
            <a:pPr marL="0" indent="0">
              <a:buNone/>
            </a:pPr>
            <a:r>
              <a:rPr lang="en-US" sz="900" dirty="0">
                <a:solidFill>
                  <a:srgbClr val="9A9EB2"/>
                </a:solidFill>
                <a:latin typeface="Calibri" pitchFamily="34" charset="0"/>
                <a:ea typeface="Calibri" pitchFamily="34" charset="-122"/>
                <a:cs typeface="Calibri" pitchFamily="34" charset="-120"/>
              </a:rPr>
              <a:t>AvatarEngine · ISL</a:t>
            </a:r>
            <a:endParaRPr lang="en-US" sz="900" dirty="0"/>
          </a:p>
        </p:txBody>
      </p:sp>
      <p:sp>
        <p:nvSpPr>
          <p:cNvPr id="32" name="Text 30"/>
          <p:cNvSpPr txBox="1"/>
          <p:nvPr/>
        </p:nvSpPr>
        <p:spPr>
          <a:xfrm>
            <a:off x="11094415" y="6473952"/>
            <a:ext cx="548640" cy="274320"/>
          </a:xfrm>
          <a:prstGeom prst="rect">
            <a:avLst/>
          </a:prstGeom>
          <a:noFill/>
          <a:ln/>
        </p:spPr>
        <p:txBody>
          <a:bodyPr wrap="square" lIns="0" tIns="0" rIns="0" bIns="0" rtlCol="0" anchor="ctr"/>
          <a:lstStyle/>
          <a:p>
            <a:pPr marL="0" indent="0" algn="r">
              <a:buNone/>
            </a:pPr>
            <a:r>
              <a:rPr lang="en-US" sz="900" dirty="0">
                <a:solidFill>
                  <a:srgbClr val="9A9EB2"/>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02336"/>
            <a:ext cx="11094415" cy="274320"/>
          </a:xfrm>
          <a:prstGeom prst="rect">
            <a:avLst/>
          </a:prstGeom>
          <a:noFill/>
          <a:ln/>
        </p:spPr>
        <p:txBody>
          <a:bodyPr wrap="square" lIns="0" tIns="0" rIns="0" bIns="0" rtlCol="0" anchor="ctr"/>
          <a:lstStyle/>
          <a:p>
            <a:pPr marL="0" indent="0">
              <a:buNone/>
            </a:pPr>
            <a:r>
              <a:rPr lang="en-US" sz="1150" b="1" kern="0" spc="200" dirty="0">
                <a:solidFill>
                  <a:srgbClr val="B06712"/>
                </a:solidFill>
                <a:latin typeface="Calibri" pitchFamily="34" charset="0"/>
                <a:ea typeface="Calibri" pitchFamily="34" charset="-122"/>
                <a:cs typeface="Calibri" pitchFamily="34" charset="-120"/>
              </a:rPr>
              <a:t>LIMITATIONS — STATED HONESTLY</a:t>
            </a:r>
            <a:endParaRPr lang="en-US" sz="1150" dirty="0"/>
          </a:p>
        </p:txBody>
      </p:sp>
      <p:sp>
        <p:nvSpPr>
          <p:cNvPr id="3" name="Text 1"/>
          <p:cNvSpPr txBox="1"/>
          <p:nvPr/>
        </p:nvSpPr>
        <p:spPr>
          <a:xfrm>
            <a:off x="548640" y="694944"/>
            <a:ext cx="11094415" cy="914400"/>
          </a:xfrm>
          <a:prstGeom prst="rect">
            <a:avLst/>
          </a:prstGeom>
          <a:noFill/>
          <a:ln/>
        </p:spPr>
        <p:txBody>
          <a:bodyPr wrap="square" lIns="0" tIns="0" rIns="0" bIns="0" rtlCol="0" anchor="ctr"/>
          <a:lstStyle/>
          <a:p>
            <a:pPr marL="0" indent="0">
              <a:lnSpc>
                <a:spcPct val="98000"/>
              </a:lnSpc>
              <a:buNone/>
            </a:pPr>
            <a:r>
              <a:rPr lang="en-US" sz="2900" b="1" dirty="0">
                <a:solidFill>
                  <a:srgbClr val="1B1D29"/>
                </a:solidFill>
                <a:latin typeface="Calibri" pitchFamily="34" charset="0"/>
                <a:ea typeface="Calibri" pitchFamily="34" charset="-122"/>
                <a:cs typeface="Calibri" pitchFamily="34" charset="-120"/>
              </a:rPr>
              <a:t>What it can’t do yet, and why.</a:t>
            </a:r>
            <a:endParaRPr lang="en-US" sz="2900" dirty="0"/>
          </a:p>
        </p:txBody>
      </p:sp>
      <p:sp>
        <p:nvSpPr>
          <p:cNvPr id="4" name="Shape 2"/>
          <p:cNvSpPr/>
          <p:nvPr/>
        </p:nvSpPr>
        <p:spPr>
          <a:xfrm>
            <a:off x="548640" y="1737360"/>
            <a:ext cx="5410048" cy="1335024"/>
          </a:xfrm>
          <a:prstGeom prst="roundRect">
            <a:avLst>
              <a:gd name="adj" fmla="val 6164"/>
            </a:avLst>
          </a:prstGeom>
          <a:solidFill>
            <a:srgbClr val="F2F2F9"/>
          </a:solidFill>
          <a:ln/>
          <a:effectLst>
            <a:outerShdw blurRad="114300" dist="38100" dir="5400000" algn="bl" rotWithShape="0">
              <a:srgbClr val="9195AE">
                <a:alpha val="30000"/>
              </a:srgbClr>
            </a:outerShdw>
          </a:effectLst>
        </p:spPr>
      </p:sp>
      <p:sp>
        <p:nvSpPr>
          <p:cNvPr id="5" name="Text 3"/>
          <p:cNvSpPr txBox="1"/>
          <p:nvPr/>
        </p:nvSpPr>
        <p:spPr>
          <a:xfrm>
            <a:off x="768096" y="1920240"/>
            <a:ext cx="4971136" cy="219456"/>
          </a:xfrm>
          <a:prstGeom prst="rect">
            <a:avLst/>
          </a:prstGeom>
          <a:noFill/>
          <a:ln/>
        </p:spPr>
        <p:txBody>
          <a:bodyPr wrap="square" lIns="0" tIns="0" rIns="0" bIns="0" rtlCol="0" anchor="ctr"/>
          <a:lstStyle/>
          <a:p>
            <a:pPr marL="0" indent="0">
              <a:buNone/>
            </a:pPr>
            <a:r>
              <a:rPr lang="en-US" sz="950" b="1" kern="0" spc="140" dirty="0">
                <a:solidFill>
                  <a:srgbClr val="B06712"/>
                </a:solidFill>
                <a:latin typeface="Calibri" pitchFamily="34" charset="0"/>
                <a:ea typeface="Calibri" pitchFamily="34" charset="-122"/>
                <a:cs typeface="Calibri" pitchFamily="34" charset="-120"/>
              </a:rPr>
              <a:t>THE BINDING CONSTRAINT</a:t>
            </a:r>
            <a:endParaRPr lang="en-US" sz="950" dirty="0"/>
          </a:p>
        </p:txBody>
      </p:sp>
      <p:sp>
        <p:nvSpPr>
          <p:cNvPr id="6" name="Text 4"/>
          <p:cNvSpPr txBox="1"/>
          <p:nvPr/>
        </p:nvSpPr>
        <p:spPr>
          <a:xfrm>
            <a:off x="768096" y="2194560"/>
            <a:ext cx="4971136" cy="457200"/>
          </a:xfrm>
          <a:prstGeom prst="rect">
            <a:avLst/>
          </a:prstGeom>
          <a:noFill/>
          <a:ln/>
        </p:spPr>
        <p:txBody>
          <a:bodyPr wrap="square" lIns="0" tIns="0" rIns="0" bIns="0" rtlCol="0" anchor="t"/>
          <a:lstStyle/>
          <a:p>
            <a:pPr marL="0" indent="0">
              <a:lnSpc>
                <a:spcPct val="98000"/>
              </a:lnSpc>
              <a:buNone/>
            </a:pPr>
            <a:r>
              <a:rPr lang="en-US" sz="1500" b="1" dirty="0">
                <a:solidFill>
                  <a:srgbClr val="1B1D29"/>
                </a:solidFill>
                <a:latin typeface="Calibri" pitchFamily="34" charset="0"/>
                <a:ea typeface="Calibri" pitchFamily="34" charset="-122"/>
                <a:cs typeface="Calibri" pitchFamily="34" charset="-120"/>
              </a:rPr>
              <a:t>Vocabulary is only 17 signs</a:t>
            </a:r>
            <a:endParaRPr lang="en-US" sz="1500" dirty="0"/>
          </a:p>
        </p:txBody>
      </p:sp>
      <p:sp>
        <p:nvSpPr>
          <p:cNvPr id="7" name="Text 5"/>
          <p:cNvSpPr txBox="1"/>
          <p:nvPr/>
        </p:nvSpPr>
        <p:spPr>
          <a:xfrm>
            <a:off x="768096" y="2596896"/>
            <a:ext cx="4971136" cy="310896"/>
          </a:xfrm>
          <a:prstGeom prst="rect">
            <a:avLst/>
          </a:prstGeom>
          <a:noFill/>
          <a:ln/>
        </p:spPr>
        <p:txBody>
          <a:bodyPr wrap="square" lIns="0" tIns="0" rIns="0" bIns="0" rtlCol="0" anchor="t"/>
          <a:lstStyle/>
          <a:p>
            <a:pPr marL="0" indent="0">
              <a:lnSpc>
                <a:spcPct val="102000"/>
              </a:lnSpc>
              <a:buNone/>
            </a:pPr>
            <a:r>
              <a:rPr lang="en-US" sz="1150" dirty="0">
                <a:solidFill>
                  <a:srgbClr val="5A5E76"/>
                </a:solidFill>
                <a:latin typeface="Calibri" pitchFamily="34" charset="0"/>
                <a:ea typeface="Calibri" pitchFamily="34" charset="-122"/>
                <a:cs typeface="Calibri" pitchFamily="34" charset="-120"/>
              </a:rPr>
              <a:t>Any real sentence is mostly words with no sign, and those are skipped. Everything downstream is gated by how many signs exist.</a:t>
            </a:r>
            <a:endParaRPr lang="en-US" sz="1150" dirty="0"/>
          </a:p>
        </p:txBody>
      </p:sp>
      <p:sp>
        <p:nvSpPr>
          <p:cNvPr id="8" name="Shape 6"/>
          <p:cNvSpPr/>
          <p:nvPr/>
        </p:nvSpPr>
        <p:spPr>
          <a:xfrm>
            <a:off x="6233008" y="1737360"/>
            <a:ext cx="5410048" cy="1335024"/>
          </a:xfrm>
          <a:prstGeom prst="roundRect">
            <a:avLst>
              <a:gd name="adj" fmla="val 6164"/>
            </a:avLst>
          </a:prstGeom>
          <a:solidFill>
            <a:srgbClr val="F2F2F9"/>
          </a:solidFill>
          <a:ln/>
          <a:effectLst>
            <a:outerShdw blurRad="114300" dist="38100" dir="5400000" algn="bl" rotWithShape="0">
              <a:srgbClr val="9195AE">
                <a:alpha val="30000"/>
              </a:srgbClr>
            </a:outerShdw>
          </a:effectLst>
        </p:spPr>
      </p:sp>
      <p:sp>
        <p:nvSpPr>
          <p:cNvPr id="9" name="Text 7"/>
          <p:cNvSpPr txBox="1"/>
          <p:nvPr/>
        </p:nvSpPr>
        <p:spPr>
          <a:xfrm>
            <a:off x="6452464" y="1920240"/>
            <a:ext cx="4971136" cy="219456"/>
          </a:xfrm>
          <a:prstGeom prst="rect">
            <a:avLst/>
          </a:prstGeom>
          <a:noFill/>
          <a:ln/>
        </p:spPr>
        <p:txBody>
          <a:bodyPr wrap="square" lIns="0" tIns="0" rIns="0" bIns="0" rtlCol="0" anchor="ctr"/>
          <a:lstStyle/>
          <a:p>
            <a:pPr marL="0" indent="0">
              <a:buNone/>
            </a:pPr>
            <a:r>
              <a:rPr lang="en-US" sz="950" b="1" kern="0" spc="140" dirty="0">
                <a:solidFill>
                  <a:srgbClr val="33357A"/>
                </a:solidFill>
                <a:latin typeface="Calibri" pitchFamily="34" charset="0"/>
                <a:ea typeface="Calibri" pitchFamily="34" charset="-122"/>
                <a:cs typeface="Calibri" pitchFamily="34" charset="-120"/>
              </a:rPr>
              <a:t>PHYSICS OF ONE CAMERA</a:t>
            </a:r>
            <a:endParaRPr lang="en-US" sz="950" dirty="0"/>
          </a:p>
        </p:txBody>
      </p:sp>
      <p:sp>
        <p:nvSpPr>
          <p:cNvPr id="10" name="Text 8"/>
          <p:cNvSpPr txBox="1"/>
          <p:nvPr/>
        </p:nvSpPr>
        <p:spPr>
          <a:xfrm>
            <a:off x="6452464" y="2194560"/>
            <a:ext cx="4971136" cy="457200"/>
          </a:xfrm>
          <a:prstGeom prst="rect">
            <a:avLst/>
          </a:prstGeom>
          <a:noFill/>
          <a:ln/>
        </p:spPr>
        <p:txBody>
          <a:bodyPr wrap="square" lIns="0" tIns="0" rIns="0" bIns="0" rtlCol="0" anchor="t"/>
          <a:lstStyle/>
          <a:p>
            <a:pPr marL="0" indent="0">
              <a:lnSpc>
                <a:spcPct val="98000"/>
              </a:lnSpc>
              <a:buNone/>
            </a:pPr>
            <a:r>
              <a:rPr lang="en-US" sz="1500" b="1" dirty="0">
                <a:solidFill>
                  <a:srgbClr val="1B1D29"/>
                </a:solidFill>
                <a:latin typeface="Calibri" pitchFamily="34" charset="0"/>
                <a:ea typeface="Calibri" pitchFamily="34" charset="-122"/>
                <a:cs typeface="Calibri" pitchFamily="34" charset="-120"/>
              </a:rPr>
              <a:t>Depth is the weakest channel</a:t>
            </a:r>
            <a:endParaRPr lang="en-US" sz="1500" dirty="0"/>
          </a:p>
        </p:txBody>
      </p:sp>
      <p:sp>
        <p:nvSpPr>
          <p:cNvPr id="11" name="Text 9"/>
          <p:cNvSpPr txBox="1"/>
          <p:nvPr/>
        </p:nvSpPr>
        <p:spPr>
          <a:xfrm>
            <a:off x="6452464" y="2596896"/>
            <a:ext cx="4971136" cy="310896"/>
          </a:xfrm>
          <a:prstGeom prst="rect">
            <a:avLst/>
          </a:prstGeom>
          <a:noFill/>
          <a:ln/>
        </p:spPr>
        <p:txBody>
          <a:bodyPr wrap="square" lIns="0" tIns="0" rIns="0" bIns="0" rtlCol="0" anchor="t"/>
          <a:lstStyle/>
          <a:p>
            <a:pPr marL="0" indent="0">
              <a:lnSpc>
                <a:spcPct val="102000"/>
              </a:lnSpc>
              <a:buNone/>
            </a:pPr>
            <a:r>
              <a:rPr lang="en-US" sz="1150" dirty="0">
                <a:solidFill>
                  <a:srgbClr val="5A5E76"/>
                </a:solidFill>
                <a:latin typeface="Calibri" pitchFamily="34" charset="0"/>
                <a:ea typeface="Calibri" pitchFamily="34" charset="-122"/>
                <a:cs typeface="Calibri" pitchFamily="34" charset="-120"/>
              </a:rPr>
              <a:t>2.5-D capture means palm angle and distance-from-chest are inferred. Step 3 removes the impossible errors; it can’t recover unseen depth.</a:t>
            </a:r>
            <a:endParaRPr lang="en-US" sz="1150" dirty="0"/>
          </a:p>
        </p:txBody>
      </p:sp>
      <p:sp>
        <p:nvSpPr>
          <p:cNvPr id="12" name="Shape 10"/>
          <p:cNvSpPr/>
          <p:nvPr/>
        </p:nvSpPr>
        <p:spPr>
          <a:xfrm>
            <a:off x="548640" y="3200400"/>
            <a:ext cx="5410048" cy="1335024"/>
          </a:xfrm>
          <a:prstGeom prst="roundRect">
            <a:avLst>
              <a:gd name="adj" fmla="val 6164"/>
            </a:avLst>
          </a:prstGeom>
          <a:solidFill>
            <a:srgbClr val="F2F2F9"/>
          </a:solidFill>
          <a:ln/>
          <a:effectLst>
            <a:outerShdw blurRad="114300" dist="38100" dir="5400000" algn="bl" rotWithShape="0">
              <a:srgbClr val="9195AE">
                <a:alpha val="30000"/>
              </a:srgbClr>
            </a:outerShdw>
          </a:effectLst>
        </p:spPr>
      </p:sp>
      <p:sp>
        <p:nvSpPr>
          <p:cNvPr id="13" name="Text 11"/>
          <p:cNvSpPr txBox="1"/>
          <p:nvPr/>
        </p:nvSpPr>
        <p:spPr>
          <a:xfrm>
            <a:off x="768096" y="3383280"/>
            <a:ext cx="4971136" cy="219456"/>
          </a:xfrm>
          <a:prstGeom prst="rect">
            <a:avLst/>
          </a:prstGeom>
          <a:noFill/>
          <a:ln/>
        </p:spPr>
        <p:txBody>
          <a:bodyPr wrap="square" lIns="0" tIns="0" rIns="0" bIns="0" rtlCol="0" anchor="ctr"/>
          <a:lstStyle/>
          <a:p>
            <a:pPr marL="0" indent="0">
              <a:buNone/>
            </a:pPr>
            <a:r>
              <a:rPr lang="en-US" sz="950" b="1" kern="0" spc="140" dirty="0">
                <a:solidFill>
                  <a:srgbClr val="33357A"/>
                </a:solidFill>
                <a:latin typeface="Calibri" pitchFamily="34" charset="0"/>
                <a:ea typeface="Calibri" pitchFamily="34" charset="-122"/>
                <a:cs typeface="Calibri" pitchFamily="34" charset="-120"/>
              </a:rPr>
              <a:t>CAPTURE BIAS</a:t>
            </a:r>
            <a:endParaRPr lang="en-US" sz="950" dirty="0"/>
          </a:p>
        </p:txBody>
      </p:sp>
      <p:sp>
        <p:nvSpPr>
          <p:cNvPr id="14" name="Text 12"/>
          <p:cNvSpPr txBox="1"/>
          <p:nvPr/>
        </p:nvSpPr>
        <p:spPr>
          <a:xfrm>
            <a:off x="768096" y="3657600"/>
            <a:ext cx="4971136" cy="457200"/>
          </a:xfrm>
          <a:prstGeom prst="rect">
            <a:avLst/>
          </a:prstGeom>
          <a:noFill/>
          <a:ln/>
        </p:spPr>
        <p:txBody>
          <a:bodyPr wrap="square" lIns="0" tIns="0" rIns="0" bIns="0" rtlCol="0" anchor="t"/>
          <a:lstStyle/>
          <a:p>
            <a:pPr marL="0" indent="0">
              <a:lnSpc>
                <a:spcPct val="98000"/>
              </a:lnSpc>
              <a:buNone/>
            </a:pPr>
            <a:r>
              <a:rPr lang="en-US" sz="1500" b="1" dirty="0">
                <a:solidFill>
                  <a:srgbClr val="1B1D29"/>
                </a:solidFill>
                <a:latin typeface="Calibri" pitchFamily="34" charset="0"/>
                <a:ea typeface="Calibri" pitchFamily="34" charset="-122"/>
                <a:cs typeface="Calibri" pitchFamily="34" charset="-120"/>
              </a:rPr>
              <a:t>Arms come out under-elevated</a:t>
            </a:r>
            <a:endParaRPr lang="en-US" sz="1500" dirty="0"/>
          </a:p>
        </p:txBody>
      </p:sp>
      <p:sp>
        <p:nvSpPr>
          <p:cNvPr id="15" name="Text 13"/>
          <p:cNvSpPr txBox="1"/>
          <p:nvPr/>
        </p:nvSpPr>
        <p:spPr>
          <a:xfrm>
            <a:off x="768096" y="4059936"/>
            <a:ext cx="4971136" cy="310896"/>
          </a:xfrm>
          <a:prstGeom prst="rect">
            <a:avLst/>
          </a:prstGeom>
          <a:noFill/>
          <a:ln/>
        </p:spPr>
        <p:txBody>
          <a:bodyPr wrap="square" lIns="0" tIns="0" rIns="0" bIns="0" rtlCol="0" anchor="t"/>
          <a:lstStyle/>
          <a:p>
            <a:pPr marL="0" indent="0">
              <a:lnSpc>
                <a:spcPct val="102000"/>
              </a:lnSpc>
              <a:buNone/>
            </a:pPr>
            <a:r>
              <a:rPr lang="en-US" sz="1150" dirty="0">
                <a:solidFill>
                  <a:srgbClr val="5A5E76"/>
                </a:solidFill>
                <a:latin typeface="Calibri" pitchFamily="34" charset="0"/>
                <a:ea typeface="Calibri" pitchFamily="34" charset="-122"/>
                <a:cs typeface="Calibri" pitchFamily="34" charset="-120"/>
              </a:rPr>
              <a:t>A hand the video shows beside the face is extracted lower — a measured bias upstream of the model that IK can’t invent back.</a:t>
            </a:r>
            <a:endParaRPr lang="en-US" sz="1150" dirty="0"/>
          </a:p>
        </p:txBody>
      </p:sp>
      <p:sp>
        <p:nvSpPr>
          <p:cNvPr id="16" name="Shape 14"/>
          <p:cNvSpPr/>
          <p:nvPr/>
        </p:nvSpPr>
        <p:spPr>
          <a:xfrm>
            <a:off x="6233008" y="3200400"/>
            <a:ext cx="5410048" cy="1335024"/>
          </a:xfrm>
          <a:prstGeom prst="roundRect">
            <a:avLst>
              <a:gd name="adj" fmla="val 6164"/>
            </a:avLst>
          </a:prstGeom>
          <a:solidFill>
            <a:srgbClr val="F2F2F9"/>
          </a:solidFill>
          <a:ln/>
          <a:effectLst>
            <a:outerShdw blurRad="114300" dist="38100" dir="5400000" algn="bl" rotWithShape="0">
              <a:srgbClr val="9195AE">
                <a:alpha val="30000"/>
              </a:srgbClr>
            </a:outerShdw>
          </a:effectLst>
        </p:spPr>
      </p:sp>
      <p:sp>
        <p:nvSpPr>
          <p:cNvPr id="17" name="Text 15"/>
          <p:cNvSpPr txBox="1"/>
          <p:nvPr/>
        </p:nvSpPr>
        <p:spPr>
          <a:xfrm>
            <a:off x="6452464" y="3383280"/>
            <a:ext cx="4971136" cy="219456"/>
          </a:xfrm>
          <a:prstGeom prst="rect">
            <a:avLst/>
          </a:prstGeom>
          <a:noFill/>
          <a:ln/>
        </p:spPr>
        <p:txBody>
          <a:bodyPr wrap="square" lIns="0" tIns="0" rIns="0" bIns="0" rtlCol="0" anchor="ctr"/>
          <a:lstStyle/>
          <a:p>
            <a:pPr marL="0" indent="0">
              <a:buNone/>
            </a:pPr>
            <a:r>
              <a:rPr lang="en-US" sz="950" b="1" kern="0" spc="140" dirty="0">
                <a:solidFill>
                  <a:srgbClr val="33357A"/>
                </a:solidFill>
                <a:latin typeface="Calibri" pitchFamily="34" charset="0"/>
                <a:ea typeface="Calibri" pitchFamily="34" charset="-122"/>
                <a:cs typeface="Calibri" pitchFamily="34" charset="-120"/>
              </a:rPr>
              <a:t>NEEDS A HUMAN, NOT A METRIC</a:t>
            </a:r>
            <a:endParaRPr lang="en-US" sz="950" dirty="0"/>
          </a:p>
        </p:txBody>
      </p:sp>
      <p:sp>
        <p:nvSpPr>
          <p:cNvPr id="18" name="Text 16"/>
          <p:cNvSpPr txBox="1"/>
          <p:nvPr/>
        </p:nvSpPr>
        <p:spPr>
          <a:xfrm>
            <a:off x="6452464" y="3657600"/>
            <a:ext cx="4971136" cy="457200"/>
          </a:xfrm>
          <a:prstGeom prst="rect">
            <a:avLst/>
          </a:prstGeom>
          <a:noFill/>
          <a:ln/>
        </p:spPr>
        <p:txBody>
          <a:bodyPr wrap="square" lIns="0" tIns="0" rIns="0" bIns="0" rtlCol="0" anchor="t"/>
          <a:lstStyle/>
          <a:p>
            <a:pPr marL="0" indent="0">
              <a:lnSpc>
                <a:spcPct val="98000"/>
              </a:lnSpc>
              <a:buNone/>
            </a:pPr>
            <a:r>
              <a:rPr lang="en-US" sz="1500" b="1" dirty="0">
                <a:solidFill>
                  <a:srgbClr val="1B1D29"/>
                </a:solidFill>
                <a:latin typeface="Calibri" pitchFamily="34" charset="0"/>
                <a:ea typeface="Calibri" pitchFamily="34" charset="-122"/>
                <a:cs typeface="Calibri" pitchFamily="34" charset="-120"/>
              </a:rPr>
              <a:t>Every sign splits in two</a:t>
            </a:r>
            <a:endParaRPr lang="en-US" sz="1500" dirty="0"/>
          </a:p>
        </p:txBody>
      </p:sp>
      <p:sp>
        <p:nvSpPr>
          <p:cNvPr id="19" name="Text 17"/>
          <p:cNvSpPr txBox="1"/>
          <p:nvPr/>
        </p:nvSpPr>
        <p:spPr>
          <a:xfrm>
            <a:off x="6452464" y="4059936"/>
            <a:ext cx="4971136" cy="310896"/>
          </a:xfrm>
          <a:prstGeom prst="rect">
            <a:avLst/>
          </a:prstGeom>
          <a:noFill/>
          <a:ln/>
        </p:spPr>
        <p:txBody>
          <a:bodyPr wrap="square" lIns="0" tIns="0" rIns="0" bIns="0" rtlCol="0" anchor="t"/>
          <a:lstStyle/>
          <a:p>
            <a:pPr marL="0" indent="0">
              <a:lnSpc>
                <a:spcPct val="102000"/>
              </a:lnSpc>
              <a:buNone/>
            </a:pPr>
            <a:r>
              <a:rPr lang="en-US" sz="1150" dirty="0">
                <a:solidFill>
                  <a:srgbClr val="5A5E76"/>
                </a:solidFill>
                <a:latin typeface="Calibri" pitchFamily="34" charset="0"/>
                <a:ea typeface="Calibri" pitchFamily="34" charset="-122"/>
                <a:cs typeface="Calibri" pitchFamily="34" charset="-120"/>
              </a:rPr>
              <a:t>Each sign’s takes fall into two clusters. Artefact or real regional variant? That needs someone who reads ISL to settle.</a:t>
            </a:r>
            <a:endParaRPr lang="en-US" sz="1150" dirty="0"/>
          </a:p>
        </p:txBody>
      </p:sp>
      <p:sp>
        <p:nvSpPr>
          <p:cNvPr id="20" name="Text 18"/>
          <p:cNvSpPr txBox="1"/>
          <p:nvPr/>
        </p:nvSpPr>
        <p:spPr>
          <a:xfrm>
            <a:off x="548640" y="4709160"/>
            <a:ext cx="11094415" cy="640080"/>
          </a:xfrm>
          <a:prstGeom prst="rect">
            <a:avLst/>
          </a:prstGeom>
          <a:noFill/>
          <a:ln/>
        </p:spPr>
        <p:txBody>
          <a:bodyPr wrap="square" lIns="0" tIns="0" rIns="0" bIns="0" rtlCol="0" anchor="t"/>
          <a:lstStyle/>
          <a:p>
            <a:pPr marL="0" indent="0">
              <a:lnSpc>
                <a:spcPct val="104000"/>
              </a:lnSpc>
              <a:buNone/>
            </a:pPr>
            <a:r>
              <a:rPr lang="en-US" sz="1350" b="1" dirty="0">
                <a:solidFill>
                  <a:srgbClr val="1B1D29"/>
                </a:solidFill>
                <a:latin typeface="Calibri" pitchFamily="34" charset="0"/>
                <a:ea typeface="Calibri" pitchFamily="34" charset="-122"/>
                <a:cs typeface="Calibri" pitchFamily="34" charset="-120"/>
              </a:rPr>
              <a:t>The avatar’s proportions don’t match the signers either</a:t>
            </a:r>
            <a:r>
              <a:rPr lang="en-US" sz="1350" dirty="0">
                <a:solidFill>
                  <a:srgbClr val="5A5E76"/>
                </a:solidFill>
                <a:latin typeface="Calibri" pitchFamily="34" charset="0"/>
                <a:ea typeface="Calibri" pitchFamily="34" charset="-122"/>
                <a:cs typeface="Calibri" pitchFamily="34" charset="-120"/>
              </a:rPr>
              <a:t> — corrected at playback by IK today, which is exactly why a purpose-built avatar is on the roadmap.</a:t>
            </a:r>
            <a:endParaRPr lang="en-US" sz="1350" dirty="0"/>
          </a:p>
        </p:txBody>
      </p:sp>
      <p:sp>
        <p:nvSpPr>
          <p:cNvPr id="21" name="Text 19"/>
          <p:cNvSpPr txBox="1"/>
          <p:nvPr/>
        </p:nvSpPr>
        <p:spPr>
          <a:xfrm>
            <a:off x="548640" y="6473952"/>
            <a:ext cx="4572000" cy="274320"/>
          </a:xfrm>
          <a:prstGeom prst="rect">
            <a:avLst/>
          </a:prstGeom>
          <a:noFill/>
          <a:ln/>
        </p:spPr>
        <p:txBody>
          <a:bodyPr wrap="square" lIns="0" tIns="0" rIns="0" bIns="0" rtlCol="0" anchor="ctr"/>
          <a:lstStyle/>
          <a:p>
            <a:pPr marL="0" indent="0">
              <a:buNone/>
            </a:pPr>
            <a:r>
              <a:rPr lang="en-US" sz="900" dirty="0">
                <a:solidFill>
                  <a:srgbClr val="9A9EB2"/>
                </a:solidFill>
                <a:latin typeface="Calibri" pitchFamily="34" charset="0"/>
                <a:ea typeface="Calibri" pitchFamily="34" charset="-122"/>
                <a:cs typeface="Calibri" pitchFamily="34" charset="-120"/>
              </a:rPr>
              <a:t>AvatarEngine · ISL</a:t>
            </a:r>
            <a:endParaRPr lang="en-US" sz="900" dirty="0"/>
          </a:p>
        </p:txBody>
      </p:sp>
      <p:sp>
        <p:nvSpPr>
          <p:cNvPr id="22" name="Text 20"/>
          <p:cNvSpPr txBox="1"/>
          <p:nvPr/>
        </p:nvSpPr>
        <p:spPr>
          <a:xfrm>
            <a:off x="11094415" y="6473952"/>
            <a:ext cx="548640" cy="274320"/>
          </a:xfrm>
          <a:prstGeom prst="rect">
            <a:avLst/>
          </a:prstGeom>
          <a:noFill/>
          <a:ln/>
        </p:spPr>
        <p:txBody>
          <a:bodyPr wrap="square" lIns="0" tIns="0" rIns="0" bIns="0" rtlCol="0" anchor="ctr"/>
          <a:lstStyle/>
          <a:p>
            <a:pPr marL="0" indent="0" algn="r">
              <a:buNone/>
            </a:pPr>
            <a:r>
              <a:rPr lang="en-US" sz="900" dirty="0">
                <a:solidFill>
                  <a:srgbClr val="9A9EB2"/>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02336"/>
            <a:ext cx="11094415" cy="274320"/>
          </a:xfrm>
          <a:prstGeom prst="rect">
            <a:avLst/>
          </a:prstGeom>
          <a:noFill/>
          <a:ln/>
        </p:spPr>
        <p:txBody>
          <a:bodyPr wrap="square" lIns="0" tIns="0" rIns="0" bIns="0" rtlCol="0" anchor="ctr"/>
          <a:lstStyle/>
          <a:p>
            <a:pPr marL="0" indent="0">
              <a:buNone/>
            </a:pPr>
            <a:r>
              <a:rPr lang="en-US" sz="1150" b="1" kern="0" spc="200" dirty="0">
                <a:solidFill>
                  <a:srgbClr val="B06712"/>
                </a:solidFill>
                <a:latin typeface="Calibri" pitchFamily="34" charset="0"/>
                <a:ea typeface="Calibri" pitchFamily="34" charset="-122"/>
                <a:cs typeface="Calibri" pitchFamily="34" charset="-120"/>
              </a:rPr>
              <a:t>FUTURE WORK — WHERE DEVELOPMENT CONTINUES</a:t>
            </a:r>
            <a:endParaRPr lang="en-US" sz="1150" dirty="0"/>
          </a:p>
        </p:txBody>
      </p:sp>
      <p:sp>
        <p:nvSpPr>
          <p:cNvPr id="3" name="Text 1"/>
          <p:cNvSpPr txBox="1"/>
          <p:nvPr/>
        </p:nvSpPr>
        <p:spPr>
          <a:xfrm>
            <a:off x="548640" y="694944"/>
            <a:ext cx="11094415" cy="914400"/>
          </a:xfrm>
          <a:prstGeom prst="rect">
            <a:avLst/>
          </a:prstGeom>
          <a:noFill/>
          <a:ln/>
        </p:spPr>
        <p:txBody>
          <a:bodyPr wrap="square" lIns="0" tIns="0" rIns="0" bIns="0" rtlCol="0" anchor="ctr"/>
          <a:lstStyle/>
          <a:p>
            <a:pPr marL="0" indent="0">
              <a:lnSpc>
                <a:spcPct val="98000"/>
              </a:lnSpc>
              <a:buNone/>
            </a:pPr>
            <a:r>
              <a:rPr lang="en-US" sz="2900" b="1" dirty="0">
                <a:solidFill>
                  <a:srgbClr val="1B1D29"/>
                </a:solidFill>
                <a:latin typeface="Calibri" pitchFamily="34" charset="0"/>
                <a:ea typeface="Calibri" pitchFamily="34" charset="-122"/>
                <a:cs typeface="Calibri" pitchFamily="34" charset="-120"/>
              </a:rPr>
              <a:t>The road ahead.</a:t>
            </a:r>
            <a:endParaRPr lang="en-US" sz="2900" dirty="0"/>
          </a:p>
        </p:txBody>
      </p:sp>
      <p:sp>
        <p:nvSpPr>
          <p:cNvPr id="4" name="Shape 2"/>
          <p:cNvSpPr/>
          <p:nvPr/>
        </p:nvSpPr>
        <p:spPr>
          <a:xfrm>
            <a:off x="548640" y="1737360"/>
            <a:ext cx="502920" cy="502920"/>
          </a:xfrm>
          <a:prstGeom prst="ellipse">
            <a:avLst/>
          </a:prstGeom>
          <a:solidFill>
            <a:srgbClr val="B06712"/>
          </a:solidFill>
          <a:ln/>
        </p:spPr>
      </p:sp>
      <p:sp>
        <p:nvSpPr>
          <p:cNvPr id="5" name="Text 3"/>
          <p:cNvSpPr txBox="1"/>
          <p:nvPr/>
        </p:nvSpPr>
        <p:spPr>
          <a:xfrm>
            <a:off x="548640" y="1737360"/>
            <a:ext cx="502920" cy="50292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A</a:t>
            </a:r>
            <a:endParaRPr lang="en-US" sz="1500" dirty="0"/>
          </a:p>
        </p:txBody>
      </p:sp>
      <p:sp>
        <p:nvSpPr>
          <p:cNvPr id="6" name="Text 4"/>
          <p:cNvSpPr txBox="1"/>
          <p:nvPr/>
        </p:nvSpPr>
        <p:spPr>
          <a:xfrm>
            <a:off x="1280160" y="1719072"/>
            <a:ext cx="10362895" cy="329184"/>
          </a:xfrm>
          <a:prstGeom prst="rect">
            <a:avLst/>
          </a:prstGeom>
          <a:noFill/>
          <a:ln/>
        </p:spPr>
        <p:txBody>
          <a:bodyPr wrap="square" lIns="0" tIns="0" rIns="0" bIns="0" rtlCol="0" anchor="ctr"/>
          <a:lstStyle/>
          <a:p>
            <a:pPr marL="0" indent="0">
              <a:buNone/>
            </a:pPr>
            <a:r>
              <a:rPr lang="en-US" sz="1600" b="1" dirty="0">
                <a:solidFill>
                  <a:srgbClr val="1B1D29"/>
                </a:solidFill>
                <a:latin typeface="Calibri" pitchFamily="34" charset="0"/>
                <a:ea typeface="Calibri" pitchFamily="34" charset="-122"/>
                <a:cs typeface="Calibri" pitchFamily="34" charset="-120"/>
              </a:rPr>
              <a:t>Grow the sign library — the priority</a:t>
            </a:r>
            <a:endParaRPr lang="en-US" sz="1600" dirty="0"/>
          </a:p>
        </p:txBody>
      </p:sp>
      <p:sp>
        <p:nvSpPr>
          <p:cNvPr id="7" name="Text 5"/>
          <p:cNvSpPr txBox="1"/>
          <p:nvPr/>
        </p:nvSpPr>
        <p:spPr>
          <a:xfrm>
            <a:off x="1280160" y="2048256"/>
            <a:ext cx="10362895" cy="640080"/>
          </a:xfrm>
          <a:prstGeom prst="rect">
            <a:avLst/>
          </a:prstGeom>
          <a:noFill/>
          <a:ln/>
        </p:spPr>
        <p:txBody>
          <a:bodyPr wrap="square" lIns="0" tIns="0" rIns="0" bIns="0" rtlCol="0" anchor="t"/>
          <a:lstStyle/>
          <a:p>
            <a:pPr marL="0" indent="0">
              <a:lnSpc>
                <a:spcPct val="102000"/>
              </a:lnSpc>
              <a:buNone/>
            </a:pPr>
            <a:r>
              <a:rPr lang="en-US" sz="1250" dirty="0">
                <a:solidFill>
                  <a:srgbClr val="5A5E76"/>
                </a:solidFill>
                <a:latin typeface="Calibri" pitchFamily="34" charset="0"/>
                <a:ea typeface="Calibri" pitchFamily="34" charset="-122"/>
                <a:cs typeface="Calibri" pitchFamily="34" charset="-120"/>
              </a:rPr>
              <a:t>From 17 toward hundreds, then thousands. The method scales linearly — one video, one extraction, one row per sign — but that volume is the long pole and the biggest unlock.</a:t>
            </a:r>
            <a:endParaRPr lang="en-US" sz="1250" dirty="0"/>
          </a:p>
        </p:txBody>
      </p:sp>
      <p:sp>
        <p:nvSpPr>
          <p:cNvPr id="8" name="Shape 6"/>
          <p:cNvSpPr/>
          <p:nvPr/>
        </p:nvSpPr>
        <p:spPr>
          <a:xfrm>
            <a:off x="548640" y="2834640"/>
            <a:ext cx="502920" cy="502920"/>
          </a:xfrm>
          <a:prstGeom prst="ellipse">
            <a:avLst/>
          </a:prstGeom>
          <a:solidFill>
            <a:srgbClr val="B06712"/>
          </a:solidFill>
          <a:ln/>
        </p:spPr>
      </p:sp>
      <p:sp>
        <p:nvSpPr>
          <p:cNvPr id="9" name="Text 7"/>
          <p:cNvSpPr txBox="1"/>
          <p:nvPr/>
        </p:nvSpPr>
        <p:spPr>
          <a:xfrm>
            <a:off x="548640" y="2834640"/>
            <a:ext cx="502920" cy="50292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B</a:t>
            </a:r>
            <a:endParaRPr lang="en-US" sz="1500" dirty="0"/>
          </a:p>
        </p:txBody>
      </p:sp>
      <p:sp>
        <p:nvSpPr>
          <p:cNvPr id="10" name="Text 8"/>
          <p:cNvSpPr txBox="1"/>
          <p:nvPr/>
        </p:nvSpPr>
        <p:spPr>
          <a:xfrm>
            <a:off x="1280160" y="2816352"/>
            <a:ext cx="10362895" cy="329184"/>
          </a:xfrm>
          <a:prstGeom prst="rect">
            <a:avLst/>
          </a:prstGeom>
          <a:noFill/>
          <a:ln/>
        </p:spPr>
        <p:txBody>
          <a:bodyPr wrap="square" lIns="0" tIns="0" rIns="0" bIns="0" rtlCol="0" anchor="ctr"/>
          <a:lstStyle/>
          <a:p>
            <a:pPr marL="0" indent="0">
              <a:buNone/>
            </a:pPr>
            <a:r>
              <a:rPr lang="en-US" sz="1600" b="1" dirty="0">
                <a:solidFill>
                  <a:srgbClr val="1B1D29"/>
                </a:solidFill>
                <a:latin typeface="Calibri" pitchFamily="34" charset="0"/>
                <a:ea typeface="Calibri" pitchFamily="34" charset="-122"/>
                <a:cs typeface="Calibri" pitchFamily="34" charset="-120"/>
              </a:rPr>
              <a:t>A better, purpose-built avatar</a:t>
            </a:r>
            <a:endParaRPr lang="en-US" sz="1600" dirty="0"/>
          </a:p>
        </p:txBody>
      </p:sp>
      <p:sp>
        <p:nvSpPr>
          <p:cNvPr id="11" name="Text 9"/>
          <p:cNvSpPr txBox="1"/>
          <p:nvPr/>
        </p:nvSpPr>
        <p:spPr>
          <a:xfrm>
            <a:off x="1280160" y="3145536"/>
            <a:ext cx="10362895" cy="640080"/>
          </a:xfrm>
          <a:prstGeom prst="rect">
            <a:avLst/>
          </a:prstGeom>
          <a:noFill/>
          <a:ln/>
        </p:spPr>
        <p:txBody>
          <a:bodyPr wrap="square" lIns="0" tIns="0" rIns="0" bIns="0" rtlCol="0" anchor="t"/>
          <a:lstStyle/>
          <a:p>
            <a:pPr marL="0" indent="0">
              <a:lnSpc>
                <a:spcPct val="102000"/>
              </a:lnSpc>
              <a:buNone/>
            </a:pPr>
            <a:r>
              <a:rPr lang="en-US" sz="1250" dirty="0">
                <a:solidFill>
                  <a:srgbClr val="5A5E76"/>
                </a:solidFill>
                <a:latin typeface="Calibri" pitchFamily="34" charset="0"/>
                <a:ea typeface="Calibri" pitchFamily="34" charset="-122"/>
                <a:cs typeface="Calibri" pitchFamily="34" charset="-120"/>
              </a:rPr>
              <a:t>A VRM whose proportions match real signers, with better hands and face — so motion is right at the source instead of corrected by IK at playback.</a:t>
            </a:r>
            <a:endParaRPr lang="en-US" sz="1250" dirty="0"/>
          </a:p>
        </p:txBody>
      </p:sp>
      <p:sp>
        <p:nvSpPr>
          <p:cNvPr id="12" name="Shape 10"/>
          <p:cNvSpPr/>
          <p:nvPr/>
        </p:nvSpPr>
        <p:spPr>
          <a:xfrm>
            <a:off x="548640" y="3931920"/>
            <a:ext cx="502920" cy="502920"/>
          </a:xfrm>
          <a:prstGeom prst="ellipse">
            <a:avLst/>
          </a:prstGeom>
          <a:solidFill>
            <a:srgbClr val="33357A"/>
          </a:solidFill>
          <a:ln/>
        </p:spPr>
      </p:sp>
      <p:sp>
        <p:nvSpPr>
          <p:cNvPr id="13" name="Text 11"/>
          <p:cNvSpPr txBox="1"/>
          <p:nvPr/>
        </p:nvSpPr>
        <p:spPr>
          <a:xfrm>
            <a:off x="548640" y="3931920"/>
            <a:ext cx="502920" cy="50292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C</a:t>
            </a:r>
            <a:endParaRPr lang="en-US" sz="1500" dirty="0"/>
          </a:p>
        </p:txBody>
      </p:sp>
      <p:sp>
        <p:nvSpPr>
          <p:cNvPr id="14" name="Text 12"/>
          <p:cNvSpPr txBox="1"/>
          <p:nvPr/>
        </p:nvSpPr>
        <p:spPr>
          <a:xfrm>
            <a:off x="1280160" y="3913632"/>
            <a:ext cx="10362895" cy="329184"/>
          </a:xfrm>
          <a:prstGeom prst="rect">
            <a:avLst/>
          </a:prstGeom>
          <a:noFill/>
          <a:ln/>
        </p:spPr>
        <p:txBody>
          <a:bodyPr wrap="square" lIns="0" tIns="0" rIns="0" bIns="0" rtlCol="0" anchor="ctr"/>
          <a:lstStyle/>
          <a:p>
            <a:pPr marL="0" indent="0">
              <a:buNone/>
            </a:pPr>
            <a:r>
              <a:rPr lang="en-US" sz="1600" b="1" dirty="0">
                <a:solidFill>
                  <a:srgbClr val="1B1D29"/>
                </a:solidFill>
                <a:latin typeface="Calibri" pitchFamily="34" charset="0"/>
                <a:ea typeface="Calibri" pitchFamily="34" charset="-122"/>
                <a:cs typeface="Calibri" pitchFamily="34" charset="-120"/>
              </a:rPr>
              <a:t>A learned motion model — at scale</a:t>
            </a:r>
            <a:endParaRPr lang="en-US" sz="1600" dirty="0"/>
          </a:p>
        </p:txBody>
      </p:sp>
      <p:sp>
        <p:nvSpPr>
          <p:cNvPr id="15" name="Text 13"/>
          <p:cNvSpPr txBox="1"/>
          <p:nvPr/>
        </p:nvSpPr>
        <p:spPr>
          <a:xfrm>
            <a:off x="1280160" y="4242816"/>
            <a:ext cx="10362895" cy="640080"/>
          </a:xfrm>
          <a:prstGeom prst="rect">
            <a:avLst/>
          </a:prstGeom>
          <a:noFill/>
          <a:ln/>
        </p:spPr>
        <p:txBody>
          <a:bodyPr wrap="square" lIns="0" tIns="0" rIns="0" bIns="0" rtlCol="0" anchor="t"/>
          <a:lstStyle/>
          <a:p>
            <a:pPr marL="0" indent="0">
              <a:lnSpc>
                <a:spcPct val="102000"/>
              </a:lnSpc>
              <a:buNone/>
            </a:pPr>
            <a:r>
              <a:rPr lang="en-US" sz="1250" dirty="0">
                <a:solidFill>
                  <a:srgbClr val="5A5E76"/>
                </a:solidFill>
                <a:latin typeface="Calibri" pitchFamily="34" charset="0"/>
                <a:ea typeface="Calibri" pitchFamily="34" charset="-122"/>
                <a:cs typeface="Calibri" pitchFamily="34" charset="-120"/>
              </a:rPr>
              <a:t>Once there are thousands of sequences, revisit a neural motion prior. The trigger is written down: a data-volume decision, made on evidence.</a:t>
            </a:r>
            <a:endParaRPr lang="en-US" sz="1250" dirty="0"/>
          </a:p>
        </p:txBody>
      </p:sp>
      <p:sp>
        <p:nvSpPr>
          <p:cNvPr id="16" name="Shape 14"/>
          <p:cNvSpPr/>
          <p:nvPr/>
        </p:nvSpPr>
        <p:spPr>
          <a:xfrm>
            <a:off x="548640" y="5029200"/>
            <a:ext cx="502920" cy="502920"/>
          </a:xfrm>
          <a:prstGeom prst="ellipse">
            <a:avLst/>
          </a:prstGeom>
          <a:solidFill>
            <a:srgbClr val="33357A"/>
          </a:solidFill>
          <a:ln/>
        </p:spPr>
      </p:sp>
      <p:sp>
        <p:nvSpPr>
          <p:cNvPr id="17" name="Text 15"/>
          <p:cNvSpPr txBox="1"/>
          <p:nvPr/>
        </p:nvSpPr>
        <p:spPr>
          <a:xfrm>
            <a:off x="548640" y="5029200"/>
            <a:ext cx="502920" cy="50292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D</a:t>
            </a:r>
            <a:endParaRPr lang="en-US" sz="1500" dirty="0"/>
          </a:p>
        </p:txBody>
      </p:sp>
      <p:sp>
        <p:nvSpPr>
          <p:cNvPr id="18" name="Text 16"/>
          <p:cNvSpPr txBox="1"/>
          <p:nvPr/>
        </p:nvSpPr>
        <p:spPr>
          <a:xfrm>
            <a:off x="1280160" y="5010912"/>
            <a:ext cx="10362895" cy="329184"/>
          </a:xfrm>
          <a:prstGeom prst="rect">
            <a:avLst/>
          </a:prstGeom>
          <a:noFill/>
          <a:ln/>
        </p:spPr>
        <p:txBody>
          <a:bodyPr wrap="square" lIns="0" tIns="0" rIns="0" bIns="0" rtlCol="0" anchor="ctr"/>
          <a:lstStyle/>
          <a:p>
            <a:pPr marL="0" indent="0">
              <a:buNone/>
            </a:pPr>
            <a:r>
              <a:rPr lang="en-US" sz="1600" b="1" dirty="0">
                <a:solidFill>
                  <a:srgbClr val="1B1D29"/>
                </a:solidFill>
                <a:latin typeface="Calibri" pitchFamily="34" charset="0"/>
                <a:ea typeface="Calibri" pitchFamily="34" charset="-122"/>
                <a:cs typeface="Calibri" pitchFamily="34" charset="-120"/>
              </a:rPr>
              <a:t>Richer language &amp; grammar</a:t>
            </a:r>
            <a:endParaRPr lang="en-US" sz="1600" dirty="0"/>
          </a:p>
        </p:txBody>
      </p:sp>
      <p:sp>
        <p:nvSpPr>
          <p:cNvPr id="19" name="Text 17"/>
          <p:cNvSpPr txBox="1"/>
          <p:nvPr/>
        </p:nvSpPr>
        <p:spPr>
          <a:xfrm>
            <a:off x="1280160" y="5340096"/>
            <a:ext cx="10362895" cy="640080"/>
          </a:xfrm>
          <a:prstGeom prst="rect">
            <a:avLst/>
          </a:prstGeom>
          <a:noFill/>
          <a:ln/>
        </p:spPr>
        <p:txBody>
          <a:bodyPr wrap="square" lIns="0" tIns="0" rIns="0" bIns="0" rtlCol="0" anchor="t"/>
          <a:lstStyle/>
          <a:p>
            <a:pPr marL="0" indent="0">
              <a:lnSpc>
                <a:spcPct val="102000"/>
              </a:lnSpc>
              <a:buNone/>
            </a:pPr>
            <a:r>
              <a:rPr lang="en-US" sz="1250" dirty="0">
                <a:solidFill>
                  <a:srgbClr val="5A5E76"/>
                </a:solidFill>
                <a:latin typeface="Calibri" pitchFamily="34" charset="0"/>
                <a:ea typeface="Calibri" pitchFamily="34" charset="-122"/>
                <a:cs typeface="Calibri" pitchFamily="34" charset="-120"/>
              </a:rPr>
              <a:t>Multi-word phrases, fuller ISL word order, non-manual markers (the face) — plus tests and a deployment pipeline.</a:t>
            </a:r>
            <a:endParaRPr lang="en-US" sz="1250" dirty="0"/>
          </a:p>
        </p:txBody>
      </p:sp>
      <p:sp>
        <p:nvSpPr>
          <p:cNvPr id="20" name="Text 18"/>
          <p:cNvSpPr txBox="1"/>
          <p:nvPr/>
        </p:nvSpPr>
        <p:spPr>
          <a:xfrm>
            <a:off x="548640" y="6473952"/>
            <a:ext cx="4572000" cy="274320"/>
          </a:xfrm>
          <a:prstGeom prst="rect">
            <a:avLst/>
          </a:prstGeom>
          <a:noFill/>
          <a:ln/>
        </p:spPr>
        <p:txBody>
          <a:bodyPr wrap="square" lIns="0" tIns="0" rIns="0" bIns="0" rtlCol="0" anchor="ctr"/>
          <a:lstStyle/>
          <a:p>
            <a:pPr marL="0" indent="0">
              <a:buNone/>
            </a:pPr>
            <a:r>
              <a:rPr lang="en-US" sz="900" dirty="0">
                <a:solidFill>
                  <a:srgbClr val="9A9EB2"/>
                </a:solidFill>
                <a:latin typeface="Calibri" pitchFamily="34" charset="0"/>
                <a:ea typeface="Calibri" pitchFamily="34" charset="-122"/>
                <a:cs typeface="Calibri" pitchFamily="34" charset="-120"/>
              </a:rPr>
              <a:t>AvatarEngine · ISL</a:t>
            </a:r>
            <a:endParaRPr lang="en-US" sz="900" dirty="0"/>
          </a:p>
        </p:txBody>
      </p:sp>
      <p:sp>
        <p:nvSpPr>
          <p:cNvPr id="21" name="Text 19"/>
          <p:cNvSpPr txBox="1"/>
          <p:nvPr/>
        </p:nvSpPr>
        <p:spPr>
          <a:xfrm>
            <a:off x="11094415" y="6473952"/>
            <a:ext cx="548640" cy="274320"/>
          </a:xfrm>
          <a:prstGeom prst="rect">
            <a:avLst/>
          </a:prstGeom>
          <a:noFill/>
          <a:ln/>
        </p:spPr>
        <p:txBody>
          <a:bodyPr wrap="square" lIns="0" tIns="0" rIns="0" bIns="0" rtlCol="0" anchor="ctr"/>
          <a:lstStyle/>
          <a:p>
            <a:pPr marL="0" indent="0" algn="r">
              <a:buNone/>
            </a:pPr>
            <a:r>
              <a:rPr lang="en-US" sz="900" dirty="0">
                <a:solidFill>
                  <a:srgbClr val="9A9EB2"/>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202250"/>
        </a:solidFill>
        <a:effectLst/>
      </p:bgPr>
    </p:bg>
    <p:spTree>
      <p:nvGrpSpPr>
        <p:cNvPr id="1" name=""/>
        <p:cNvGrpSpPr/>
        <p:nvPr/>
      </p:nvGrpSpPr>
      <p:grpSpPr>
        <a:xfrm>
          <a:off x="0" y="0"/>
          <a:ext cx="0" cy="0"/>
          <a:chOff x="0" y="0"/>
          <a:chExt cx="0" cy="0"/>
        </a:xfrm>
      </p:grpSpPr>
      <p:sp>
        <p:nvSpPr>
          <p:cNvPr id="2" name="Text 0"/>
          <p:cNvSpPr txBox="1"/>
          <p:nvPr/>
        </p:nvSpPr>
        <p:spPr>
          <a:xfrm>
            <a:off x="548640" y="402336"/>
            <a:ext cx="11094415" cy="274320"/>
          </a:xfrm>
          <a:prstGeom prst="rect">
            <a:avLst/>
          </a:prstGeom>
          <a:noFill/>
          <a:ln/>
        </p:spPr>
        <p:txBody>
          <a:bodyPr wrap="square" lIns="0" tIns="0" rIns="0" bIns="0" rtlCol="0" anchor="ctr"/>
          <a:lstStyle/>
          <a:p>
            <a:pPr marL="0" indent="0">
              <a:buNone/>
            </a:pPr>
            <a:r>
              <a:rPr lang="en-US" sz="1150" b="1" kern="0" spc="200" dirty="0">
                <a:solidFill>
                  <a:srgbClr val="E6A64A"/>
                </a:solidFill>
                <a:latin typeface="Calibri" pitchFamily="34" charset="0"/>
                <a:ea typeface="Calibri" pitchFamily="34" charset="-122"/>
                <a:cs typeface="Calibri" pitchFamily="34" charset="-120"/>
              </a:rPr>
              <a:t>IN CONCLUSION</a:t>
            </a:r>
            <a:endParaRPr lang="en-US" sz="1150" dirty="0"/>
          </a:p>
        </p:txBody>
      </p:sp>
      <p:sp>
        <p:nvSpPr>
          <p:cNvPr id="3" name="Text 1"/>
          <p:cNvSpPr txBox="1"/>
          <p:nvPr/>
        </p:nvSpPr>
        <p:spPr>
          <a:xfrm>
            <a:off x="548640" y="694944"/>
            <a:ext cx="11094415" cy="914400"/>
          </a:xfrm>
          <a:prstGeom prst="rect">
            <a:avLst/>
          </a:prstGeom>
          <a:noFill/>
          <a:ln/>
        </p:spPr>
        <p:txBody>
          <a:bodyPr wrap="square" lIns="0" tIns="0" rIns="0" bIns="0" rtlCol="0" anchor="ctr"/>
          <a:lstStyle/>
          <a:p>
            <a:pPr marL="0" indent="0">
              <a:lnSpc>
                <a:spcPct val="98000"/>
              </a:lnSpc>
              <a:buNone/>
            </a:pPr>
            <a:r>
              <a:rPr lang="en-US" sz="2900" b="1" dirty="0">
                <a:solidFill>
                  <a:srgbClr val="FFFFFF"/>
                </a:solidFill>
                <a:latin typeface="Calibri" pitchFamily="34" charset="0"/>
                <a:ea typeface="Calibri" pitchFamily="34" charset="-122"/>
                <a:cs typeface="Calibri" pitchFamily="34" charset="-120"/>
              </a:rPr>
              <a:t>From hand-animating one sign to averaging real motion —</a:t>
            </a:r>
            <a:endParaRPr lang="en-US" sz="2900" dirty="0"/>
          </a:p>
          <a:p>
            <a:pPr marL="0" indent="0">
              <a:lnSpc>
                <a:spcPct val="98000"/>
              </a:lnSpc>
              <a:buNone/>
            </a:pPr>
            <a:r>
              <a:rPr lang="en-US" sz="2900" b="1" dirty="0">
                <a:solidFill>
                  <a:srgbClr val="FFFFFF"/>
                </a:solidFill>
                <a:latin typeface="Calibri" pitchFamily="34" charset="0"/>
                <a:ea typeface="Calibri" pitchFamily="34" charset="-122"/>
                <a:cs typeface="Calibri" pitchFamily="34" charset="-120"/>
              </a:rPr>
              <a:t>and from a laptop to a pocket.</a:t>
            </a:r>
            <a:endParaRPr lang="en-US" sz="2900" dirty="0"/>
          </a:p>
        </p:txBody>
      </p:sp>
      <p:sp>
        <p:nvSpPr>
          <p:cNvPr id="4" name="Text 2"/>
          <p:cNvSpPr txBox="1"/>
          <p:nvPr/>
        </p:nvSpPr>
        <p:spPr>
          <a:xfrm>
            <a:off x="548640" y="1920240"/>
            <a:ext cx="6675120" cy="3291840"/>
          </a:xfrm>
          <a:prstGeom prst="rect">
            <a:avLst/>
          </a:prstGeom>
          <a:noFill/>
          <a:ln/>
        </p:spPr>
        <p:txBody>
          <a:bodyPr wrap="square" lIns="0" tIns="0" rIns="0" bIns="0" rtlCol="0" anchor="t"/>
          <a:lstStyle/>
          <a:p>
            <a:pPr marL="203200" indent="-203200">
              <a:lnSpc>
                <a:spcPct val="103000"/>
              </a:lnSpc>
              <a:buSzPct val="100000"/>
              <a:buChar char="•"/>
            </a:pPr>
            <a:r>
              <a:rPr lang="en-US" sz="1500" b="1" dirty="0">
                <a:solidFill>
                  <a:srgbClr val="FFFFFF"/>
                </a:solidFill>
                <a:latin typeface="Calibri" pitchFamily="34" charset="0"/>
                <a:ea typeface="Calibri" pitchFamily="34" charset="-122"/>
                <a:cs typeface="Calibri" pitchFamily="34" charset="-120"/>
              </a:rPr>
              <a:t>A working three-way engine  </a:t>
            </a:r>
            <a:r>
              <a:rPr lang="en-US" sz="1500" dirty="0">
                <a:solidFill>
                  <a:srgbClr val="CBD3F2"/>
                </a:solidFill>
                <a:latin typeface="Calibri" pitchFamily="34" charset="0"/>
                <a:ea typeface="Calibri" pitchFamily="34" charset="-122"/>
                <a:cs typeface="Calibri" pitchFamily="34" charset="-120"/>
              </a:rPr>
              <a:t>— text, speech and lecture video all become a signing avatar, on web and Android.</a:t>
            </a:r>
            <a:endParaRPr lang="en-US" sz="1500" dirty="0"/>
          </a:p>
          <a:p>
            <a:pPr marL="203200" indent="-203200">
              <a:lnSpc>
                <a:spcPct val="103000"/>
              </a:lnSpc>
              <a:buSzPct val="100000"/>
              <a:buChar char="•"/>
            </a:pPr>
            <a:r>
              <a:rPr lang="en-US" sz="1500" b="1" dirty="0">
                <a:solidFill>
                  <a:srgbClr val="FFFFFF"/>
                </a:solidFill>
                <a:latin typeface="Calibri" pitchFamily="34" charset="0"/>
                <a:ea typeface="Calibri" pitchFamily="34" charset="-122"/>
                <a:cs typeface="Calibri" pitchFamily="34" charset="-120"/>
              </a:rPr>
              <a:t>A genuine research result  </a:t>
            </a:r>
            <a:r>
              <a:rPr lang="en-US" sz="1500" dirty="0">
                <a:solidFill>
                  <a:srgbClr val="CBD3F2"/>
                </a:solidFill>
                <a:latin typeface="Calibri" pitchFamily="34" charset="0"/>
                <a:ea typeface="Calibri" pitchFamily="34" charset="-122"/>
                <a:cs typeface="Calibri" pitchFamily="34" charset="-120"/>
              </a:rPr>
              <a:t>— averaging beats the best single recording on every sign, with the right method for the data.</a:t>
            </a:r>
            <a:endParaRPr lang="en-US" sz="1500" dirty="0"/>
          </a:p>
          <a:p>
            <a:pPr marL="203200" indent="-203200">
              <a:lnSpc>
                <a:spcPct val="103000"/>
              </a:lnSpc>
              <a:buSzPct val="100000"/>
              <a:buChar char="•"/>
            </a:pPr>
            <a:r>
              <a:rPr lang="en-US" sz="1500" b="1" dirty="0">
                <a:solidFill>
                  <a:srgbClr val="FFFFFF"/>
                </a:solidFill>
                <a:latin typeface="Calibri" pitchFamily="34" charset="0"/>
                <a:ea typeface="Calibri" pitchFamily="34" charset="-122"/>
                <a:cs typeface="Calibri" pitchFamily="34" charset="-120"/>
              </a:rPr>
              <a:t>An engineering ethos  </a:t>
            </a:r>
            <a:r>
              <a:rPr lang="en-US" sz="1500" dirty="0">
                <a:solidFill>
                  <a:srgbClr val="CBD3F2"/>
                </a:solidFill>
                <a:latin typeface="Calibri" pitchFamily="34" charset="0"/>
                <a:ea typeface="Calibri" pitchFamily="34" charset="-122"/>
                <a:cs typeface="Calibri" pitchFamily="34" charset="-120"/>
              </a:rPr>
              <a:t>— measure everything; average, don’t fake; correct, don’t hide. Every claim has a number behind it.</a:t>
            </a:r>
            <a:endParaRPr lang="en-US" sz="1500" dirty="0"/>
          </a:p>
        </p:txBody>
      </p:sp>
      <p:sp>
        <p:nvSpPr>
          <p:cNvPr id="5" name="Shape 3"/>
          <p:cNvSpPr/>
          <p:nvPr/>
        </p:nvSpPr>
        <p:spPr>
          <a:xfrm>
            <a:off x="7498080" y="1965960"/>
            <a:ext cx="4144975" cy="2834640"/>
          </a:xfrm>
          <a:prstGeom prst="roundRect">
            <a:avLst>
              <a:gd name="adj" fmla="val 2903"/>
            </a:avLst>
          </a:prstGeom>
          <a:solidFill>
            <a:srgbClr val="2A2C63"/>
          </a:solidFill>
          <a:ln/>
          <a:effectLst>
            <a:outerShdw blurRad="114300" dist="38100" dir="5400000" algn="bl" rotWithShape="0">
              <a:srgbClr val="9195AE">
                <a:alpha val="30000"/>
              </a:srgbClr>
            </a:outerShdw>
          </a:effectLst>
        </p:spPr>
      </p:sp>
      <p:sp>
        <p:nvSpPr>
          <p:cNvPr id="6" name="Text 4"/>
          <p:cNvSpPr txBox="1"/>
          <p:nvPr/>
        </p:nvSpPr>
        <p:spPr>
          <a:xfrm>
            <a:off x="7726680" y="2194560"/>
            <a:ext cx="3687775" cy="274320"/>
          </a:xfrm>
          <a:prstGeom prst="rect">
            <a:avLst/>
          </a:prstGeom>
          <a:noFill/>
          <a:ln/>
        </p:spPr>
        <p:txBody>
          <a:bodyPr wrap="square" lIns="0" tIns="0" rIns="0" bIns="0" rtlCol="0" anchor="ctr"/>
          <a:lstStyle/>
          <a:p>
            <a:pPr marL="0" indent="0">
              <a:buNone/>
            </a:pPr>
            <a:r>
              <a:rPr lang="en-US" sz="1000" b="1" kern="0" spc="140" dirty="0">
                <a:solidFill>
                  <a:srgbClr val="E6A64A"/>
                </a:solidFill>
                <a:latin typeface="Calibri" pitchFamily="34" charset="0"/>
                <a:ea typeface="Calibri" pitchFamily="34" charset="-122"/>
                <a:cs typeface="Calibri" pitchFamily="34" charset="-120"/>
              </a:rPr>
              <a:t>THE ONE-LINE TAKEAWAY</a:t>
            </a:r>
            <a:endParaRPr lang="en-US" sz="1000" dirty="0"/>
          </a:p>
        </p:txBody>
      </p:sp>
      <p:sp>
        <p:nvSpPr>
          <p:cNvPr id="7" name="Text 5"/>
          <p:cNvSpPr txBox="1"/>
          <p:nvPr/>
        </p:nvSpPr>
        <p:spPr>
          <a:xfrm>
            <a:off x="7726680" y="2606040"/>
            <a:ext cx="3687775" cy="2011680"/>
          </a:xfrm>
          <a:prstGeom prst="rect">
            <a:avLst/>
          </a:prstGeom>
          <a:noFill/>
          <a:ln/>
        </p:spPr>
        <p:txBody>
          <a:bodyPr wrap="square" lIns="0" tIns="0" rIns="0" bIns="0" rtlCol="0" anchor="t"/>
          <a:lstStyle/>
          <a:p>
            <a:pPr marL="0" indent="0">
              <a:lnSpc>
                <a:spcPct val="110000"/>
              </a:lnSpc>
              <a:buNone/>
            </a:pPr>
            <a:r>
              <a:rPr lang="en-US" sz="1700" b="1" dirty="0">
                <a:solidFill>
                  <a:srgbClr val="FFFFFF"/>
                </a:solidFill>
                <a:latin typeface="Calibri" pitchFamily="34" charset="0"/>
                <a:ea typeface="Calibri" pitchFamily="34" charset="-122"/>
                <a:cs typeface="Calibri" pitchFamily="34" charset="-120"/>
              </a:rPr>
              <a:t>The engine is a foundation that works end-to-end today. </a:t>
            </a:r>
            <a:r>
              <a:rPr lang="en-US" sz="1700" dirty="0">
                <a:solidFill>
                  <a:srgbClr val="CBD3F2"/>
                </a:solidFill>
                <a:latin typeface="Calibri" pitchFamily="34" charset="0"/>
                <a:ea typeface="Calibri" pitchFamily="34" charset="-122"/>
                <a:cs typeface="Calibri" pitchFamily="34" charset="-120"/>
              </a:rPr>
              <a:t>The vocabulary is the road — and the road is walkable.</a:t>
            </a:r>
            <a:endParaRPr lang="en-US" sz="1700" dirty="0"/>
          </a:p>
        </p:txBody>
      </p:sp>
      <p:sp>
        <p:nvSpPr>
          <p:cNvPr id="8" name="Text 6"/>
          <p:cNvSpPr txBox="1"/>
          <p:nvPr/>
        </p:nvSpPr>
        <p:spPr>
          <a:xfrm>
            <a:off x="548640" y="6473952"/>
            <a:ext cx="4572000" cy="274320"/>
          </a:xfrm>
          <a:prstGeom prst="rect">
            <a:avLst/>
          </a:prstGeom>
          <a:noFill/>
          <a:ln/>
        </p:spPr>
        <p:txBody>
          <a:bodyPr wrap="square" lIns="0" tIns="0" rIns="0" bIns="0" rtlCol="0" anchor="ctr"/>
          <a:lstStyle/>
          <a:p>
            <a:pPr marL="0" indent="0">
              <a:buNone/>
            </a:pPr>
            <a:r>
              <a:rPr lang="en-US" sz="900" dirty="0">
                <a:solidFill>
                  <a:srgbClr val="6D74A0"/>
                </a:solidFill>
                <a:latin typeface="Calibri" pitchFamily="34" charset="0"/>
                <a:ea typeface="Calibri" pitchFamily="34" charset="-122"/>
                <a:cs typeface="Calibri" pitchFamily="34" charset="-120"/>
              </a:rPr>
              <a:t>AvatarEngine · ISL</a:t>
            </a:r>
            <a:endParaRPr lang="en-US" sz="900" dirty="0"/>
          </a:p>
        </p:txBody>
      </p:sp>
      <p:sp>
        <p:nvSpPr>
          <p:cNvPr id="9" name="Text 7"/>
          <p:cNvSpPr txBox="1"/>
          <p:nvPr/>
        </p:nvSpPr>
        <p:spPr>
          <a:xfrm>
            <a:off x="11094415" y="6473952"/>
            <a:ext cx="548640" cy="274320"/>
          </a:xfrm>
          <a:prstGeom prst="rect">
            <a:avLst/>
          </a:prstGeom>
          <a:noFill/>
          <a:ln/>
        </p:spPr>
        <p:txBody>
          <a:bodyPr wrap="square" lIns="0" tIns="0" rIns="0" bIns="0" rtlCol="0" anchor="ctr"/>
          <a:lstStyle/>
          <a:p>
            <a:pPr marL="0" indent="0" algn="r">
              <a:buNone/>
            </a:pPr>
            <a:r>
              <a:rPr lang="en-US" sz="900" dirty="0">
                <a:solidFill>
                  <a:srgbClr val="6D74A0"/>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202250"/>
        </a:solidFill>
        <a:effectLst/>
      </p:bgPr>
    </p:bg>
    <p:spTree>
      <p:nvGrpSpPr>
        <p:cNvPr id="1" name=""/>
        <p:cNvGrpSpPr/>
        <p:nvPr/>
      </p:nvGrpSpPr>
      <p:grpSpPr>
        <a:xfrm>
          <a:off x="0" y="0"/>
          <a:ext cx="0" cy="0"/>
          <a:chOff x="0" y="0"/>
          <a:chExt cx="0" cy="0"/>
        </a:xfrm>
      </p:grpSpPr>
      <p:sp>
        <p:nvSpPr>
          <p:cNvPr id="2" name="Text 0"/>
          <p:cNvSpPr txBox="1"/>
          <p:nvPr/>
        </p:nvSpPr>
        <p:spPr>
          <a:xfrm>
            <a:off x="548640" y="1554480"/>
            <a:ext cx="11094415" cy="365760"/>
          </a:xfrm>
          <a:prstGeom prst="rect">
            <a:avLst/>
          </a:prstGeom>
          <a:noFill/>
          <a:ln/>
        </p:spPr>
        <p:txBody>
          <a:bodyPr wrap="square" lIns="0" tIns="0" rIns="0" bIns="0" rtlCol="0" anchor="ctr"/>
          <a:lstStyle/>
          <a:p>
            <a:pPr marL="0" indent="0">
              <a:buNone/>
            </a:pPr>
            <a:r>
              <a:rPr lang="en-US" sz="1400" b="1" kern="0" spc="300" dirty="0">
                <a:solidFill>
                  <a:srgbClr val="E6A64A"/>
                </a:solidFill>
                <a:latin typeface="Calibri" pitchFamily="34" charset="0"/>
                <a:ea typeface="Calibri" pitchFamily="34" charset="-122"/>
                <a:cs typeface="Calibri" pitchFamily="34" charset="-120"/>
              </a:rPr>
              <a:t>THANK YOU</a:t>
            </a:r>
            <a:endParaRPr lang="en-US" sz="1400" dirty="0"/>
          </a:p>
        </p:txBody>
      </p:sp>
      <p:sp>
        <p:nvSpPr>
          <p:cNvPr id="3" name="Text 1"/>
          <p:cNvSpPr txBox="1"/>
          <p:nvPr/>
        </p:nvSpPr>
        <p:spPr>
          <a:xfrm>
            <a:off x="548640" y="1965960"/>
            <a:ext cx="11094415" cy="1188720"/>
          </a:xfrm>
          <a:prstGeom prst="rect">
            <a:avLst/>
          </a:prstGeom>
          <a:noFill/>
          <a:ln/>
        </p:spPr>
        <p:txBody>
          <a:bodyPr wrap="square" lIns="0" tIns="0" rIns="0" bIns="0" rtlCol="0" anchor="ctr"/>
          <a:lstStyle/>
          <a:p>
            <a:pPr marL="0" indent="0">
              <a:buNone/>
            </a:pPr>
            <a:r>
              <a:rPr lang="en-US" sz="5800" b="1" dirty="0">
                <a:solidFill>
                  <a:srgbClr val="FFFFFF"/>
                </a:solidFill>
                <a:latin typeface="Calibri" pitchFamily="34" charset="0"/>
                <a:ea typeface="Calibri" pitchFamily="34" charset="-122"/>
                <a:cs typeface="Calibri" pitchFamily="34" charset="-120"/>
              </a:rPr>
              <a:t>Questions?</a:t>
            </a:r>
            <a:endParaRPr lang="en-US" sz="5800" dirty="0"/>
          </a:p>
        </p:txBody>
      </p:sp>
      <p:sp>
        <p:nvSpPr>
          <p:cNvPr id="4" name="Text 2"/>
          <p:cNvSpPr txBox="1"/>
          <p:nvPr/>
        </p:nvSpPr>
        <p:spPr>
          <a:xfrm>
            <a:off x="548640" y="3291840"/>
            <a:ext cx="8686800" cy="731520"/>
          </a:xfrm>
          <a:prstGeom prst="rect">
            <a:avLst/>
          </a:prstGeom>
          <a:noFill/>
          <a:ln/>
        </p:spPr>
        <p:txBody>
          <a:bodyPr wrap="square" lIns="0" tIns="0" rIns="0" bIns="0" rtlCol="0" anchor="ctr"/>
          <a:lstStyle/>
          <a:p>
            <a:pPr marL="0" indent="0">
              <a:lnSpc>
                <a:spcPct val="105000"/>
              </a:lnSpc>
              <a:buNone/>
            </a:pPr>
            <a:r>
              <a:rPr lang="en-US" sz="1700" dirty="0">
                <a:solidFill>
                  <a:srgbClr val="CBD3F2"/>
                </a:solidFill>
                <a:latin typeface="Calibri" pitchFamily="34" charset="0"/>
                <a:ea typeface="Calibri" pitchFamily="34" charset="-122"/>
                <a:cs typeface="Calibri" pitchFamily="34" charset="-120"/>
              </a:rPr>
              <a:t>Happy to go deeper on the motion model, the lecture pipeline, or the honest limits — and to run the handset demo live.</a:t>
            </a:r>
            <a:endParaRPr lang="en-US" sz="1700" dirty="0"/>
          </a:p>
        </p:txBody>
      </p:sp>
      <p:sp>
        <p:nvSpPr>
          <p:cNvPr id="5" name="Shape 3"/>
          <p:cNvSpPr/>
          <p:nvPr/>
        </p:nvSpPr>
        <p:spPr>
          <a:xfrm>
            <a:off x="548640" y="4297680"/>
            <a:ext cx="1677010" cy="411480"/>
          </a:xfrm>
          <a:prstGeom prst="roundRect">
            <a:avLst>
              <a:gd name="adj" fmla="val 48889"/>
            </a:avLst>
          </a:prstGeom>
          <a:solidFill>
            <a:srgbClr val="2A2C63"/>
          </a:solidFill>
          <a:ln/>
        </p:spPr>
      </p:sp>
      <p:sp>
        <p:nvSpPr>
          <p:cNvPr id="6" name="Text 4"/>
          <p:cNvSpPr txBox="1"/>
          <p:nvPr/>
        </p:nvSpPr>
        <p:spPr>
          <a:xfrm>
            <a:off x="548640" y="4297680"/>
            <a:ext cx="1677010" cy="411480"/>
          </a:xfrm>
          <a:prstGeom prst="rect">
            <a:avLst/>
          </a:prstGeom>
          <a:noFill/>
          <a:ln/>
        </p:spPr>
        <p:txBody>
          <a:bodyPr wrap="square" lIns="0" tIns="0" rIns="0" bIns="0" rtlCol="0" anchor="ctr"/>
          <a:lstStyle/>
          <a:p>
            <a:pPr marL="0" indent="0" algn="ctr">
              <a:buNone/>
            </a:pPr>
            <a:r>
              <a:rPr lang="en-US" sz="1200" dirty="0">
                <a:solidFill>
                  <a:srgbClr val="CBD3F2"/>
                </a:solidFill>
                <a:latin typeface="Calibri" pitchFamily="34" charset="0"/>
                <a:ea typeface="Calibri" pitchFamily="34" charset="-122"/>
                <a:cs typeface="Calibri" pitchFamily="34" charset="-120"/>
              </a:rPr>
              <a:t>1 · Authored signs</a:t>
            </a:r>
            <a:endParaRPr lang="en-US" sz="1200" dirty="0"/>
          </a:p>
        </p:txBody>
      </p:sp>
      <p:sp>
        <p:nvSpPr>
          <p:cNvPr id="7" name="Shape 5"/>
          <p:cNvSpPr/>
          <p:nvPr/>
        </p:nvSpPr>
        <p:spPr>
          <a:xfrm>
            <a:off x="2408530" y="4297680"/>
            <a:ext cx="1677010" cy="411480"/>
          </a:xfrm>
          <a:prstGeom prst="roundRect">
            <a:avLst>
              <a:gd name="adj" fmla="val 48889"/>
            </a:avLst>
          </a:prstGeom>
          <a:solidFill>
            <a:srgbClr val="2A2C63"/>
          </a:solidFill>
          <a:ln/>
        </p:spPr>
      </p:sp>
      <p:sp>
        <p:nvSpPr>
          <p:cNvPr id="8" name="Text 6"/>
          <p:cNvSpPr txBox="1"/>
          <p:nvPr/>
        </p:nvSpPr>
        <p:spPr>
          <a:xfrm>
            <a:off x="2408530" y="4297680"/>
            <a:ext cx="1677010" cy="411480"/>
          </a:xfrm>
          <a:prstGeom prst="rect">
            <a:avLst/>
          </a:prstGeom>
          <a:noFill/>
          <a:ln/>
        </p:spPr>
        <p:txBody>
          <a:bodyPr wrap="square" lIns="0" tIns="0" rIns="0" bIns="0" rtlCol="0" anchor="ctr"/>
          <a:lstStyle/>
          <a:p>
            <a:pPr marL="0" indent="0" algn="ctr">
              <a:buNone/>
            </a:pPr>
            <a:r>
              <a:rPr lang="en-US" sz="1200" dirty="0">
                <a:solidFill>
                  <a:srgbClr val="CBD3F2"/>
                </a:solidFill>
                <a:latin typeface="Calibri" pitchFamily="34" charset="0"/>
                <a:ea typeface="Calibri" pitchFamily="34" charset="-122"/>
                <a:cs typeface="Calibri" pitchFamily="34" charset="-120"/>
              </a:rPr>
              <a:t>2 · Motion capture</a:t>
            </a:r>
            <a:endParaRPr lang="en-US" sz="1200" dirty="0"/>
          </a:p>
        </p:txBody>
      </p:sp>
      <p:sp>
        <p:nvSpPr>
          <p:cNvPr id="9" name="Shape 7"/>
          <p:cNvSpPr/>
          <p:nvPr/>
        </p:nvSpPr>
        <p:spPr>
          <a:xfrm>
            <a:off x="4268419" y="4297680"/>
            <a:ext cx="1525219" cy="411480"/>
          </a:xfrm>
          <a:prstGeom prst="roundRect">
            <a:avLst>
              <a:gd name="adj" fmla="val 48889"/>
            </a:avLst>
          </a:prstGeom>
          <a:solidFill>
            <a:srgbClr val="2A2C63"/>
          </a:solidFill>
          <a:ln/>
        </p:spPr>
      </p:sp>
      <p:sp>
        <p:nvSpPr>
          <p:cNvPr id="10" name="Text 8"/>
          <p:cNvSpPr txBox="1"/>
          <p:nvPr/>
        </p:nvSpPr>
        <p:spPr>
          <a:xfrm>
            <a:off x="4268419" y="4297680"/>
            <a:ext cx="1525219" cy="411480"/>
          </a:xfrm>
          <a:prstGeom prst="rect">
            <a:avLst/>
          </a:prstGeom>
          <a:noFill/>
          <a:ln/>
        </p:spPr>
        <p:txBody>
          <a:bodyPr wrap="square" lIns="0" tIns="0" rIns="0" bIns="0" rtlCol="0" anchor="ctr"/>
          <a:lstStyle/>
          <a:p>
            <a:pPr marL="0" indent="0" algn="ctr">
              <a:buNone/>
            </a:pPr>
            <a:r>
              <a:rPr lang="en-US" sz="1200" b="1" dirty="0">
                <a:solidFill>
                  <a:srgbClr val="E6A64A"/>
                </a:solidFill>
                <a:latin typeface="Calibri" pitchFamily="34" charset="0"/>
                <a:ea typeface="Calibri" pitchFamily="34" charset="-122"/>
                <a:cs typeface="Calibri" pitchFamily="34" charset="-120"/>
              </a:rPr>
              <a:t>3 · ML averaging</a:t>
            </a:r>
            <a:endParaRPr lang="en-US" sz="1200" dirty="0"/>
          </a:p>
        </p:txBody>
      </p:sp>
      <p:sp>
        <p:nvSpPr>
          <p:cNvPr id="11" name="Shape 9"/>
          <p:cNvSpPr/>
          <p:nvPr/>
        </p:nvSpPr>
        <p:spPr>
          <a:xfrm>
            <a:off x="5976518" y="4297680"/>
            <a:ext cx="1828800" cy="411480"/>
          </a:xfrm>
          <a:prstGeom prst="roundRect">
            <a:avLst>
              <a:gd name="adj" fmla="val 48889"/>
            </a:avLst>
          </a:prstGeom>
          <a:solidFill>
            <a:srgbClr val="2A2C63"/>
          </a:solidFill>
          <a:ln/>
        </p:spPr>
      </p:sp>
      <p:sp>
        <p:nvSpPr>
          <p:cNvPr id="12" name="Text 10"/>
          <p:cNvSpPr txBox="1"/>
          <p:nvPr/>
        </p:nvSpPr>
        <p:spPr>
          <a:xfrm>
            <a:off x="5976518" y="4297680"/>
            <a:ext cx="1828800" cy="411480"/>
          </a:xfrm>
          <a:prstGeom prst="rect">
            <a:avLst/>
          </a:prstGeom>
          <a:noFill/>
          <a:ln/>
        </p:spPr>
        <p:txBody>
          <a:bodyPr wrap="square" lIns="0" tIns="0" rIns="0" bIns="0" rtlCol="0" anchor="ctr"/>
          <a:lstStyle/>
          <a:p>
            <a:pPr marL="0" indent="0" algn="ctr">
              <a:buNone/>
            </a:pPr>
            <a:r>
              <a:rPr lang="en-US" sz="1200" dirty="0">
                <a:solidFill>
                  <a:srgbClr val="CBD3F2"/>
                </a:solidFill>
                <a:latin typeface="Calibri" pitchFamily="34" charset="0"/>
                <a:ea typeface="Calibri" pitchFamily="34" charset="-122"/>
                <a:cs typeface="Calibri" pitchFamily="34" charset="-120"/>
              </a:rPr>
              <a:t>4 · Speech &amp; lecture</a:t>
            </a:r>
            <a:endParaRPr lang="en-US" sz="1200" dirty="0"/>
          </a:p>
        </p:txBody>
      </p:sp>
      <p:sp>
        <p:nvSpPr>
          <p:cNvPr id="13" name="Shape 11"/>
          <p:cNvSpPr/>
          <p:nvPr/>
        </p:nvSpPr>
        <p:spPr>
          <a:xfrm>
            <a:off x="7988198" y="4297680"/>
            <a:ext cx="1069848" cy="411480"/>
          </a:xfrm>
          <a:prstGeom prst="roundRect">
            <a:avLst>
              <a:gd name="adj" fmla="val 48889"/>
            </a:avLst>
          </a:prstGeom>
          <a:solidFill>
            <a:srgbClr val="2A2C63"/>
          </a:solidFill>
          <a:ln/>
        </p:spPr>
      </p:sp>
      <p:sp>
        <p:nvSpPr>
          <p:cNvPr id="14" name="Text 12"/>
          <p:cNvSpPr txBox="1"/>
          <p:nvPr/>
        </p:nvSpPr>
        <p:spPr>
          <a:xfrm>
            <a:off x="7988198" y="4297680"/>
            <a:ext cx="1069848" cy="411480"/>
          </a:xfrm>
          <a:prstGeom prst="rect">
            <a:avLst/>
          </a:prstGeom>
          <a:noFill/>
          <a:ln/>
        </p:spPr>
        <p:txBody>
          <a:bodyPr wrap="square" lIns="0" tIns="0" rIns="0" bIns="0" rtlCol="0" anchor="ctr"/>
          <a:lstStyle/>
          <a:p>
            <a:pPr marL="0" indent="0" algn="ctr">
              <a:buNone/>
            </a:pPr>
            <a:r>
              <a:rPr lang="en-US" sz="1200" dirty="0">
                <a:solidFill>
                  <a:srgbClr val="CBD3F2"/>
                </a:solidFill>
                <a:latin typeface="Calibri" pitchFamily="34" charset="0"/>
                <a:ea typeface="Calibri" pitchFamily="34" charset="-122"/>
                <a:cs typeface="Calibri" pitchFamily="34" charset="-120"/>
              </a:rPr>
              <a:t>5 · Mobile</a:t>
            </a:r>
            <a:endParaRPr lang="en-US" sz="1200" dirty="0"/>
          </a:p>
        </p:txBody>
      </p:sp>
      <p:sp>
        <p:nvSpPr>
          <p:cNvPr id="15" name="Text 13"/>
          <p:cNvSpPr txBox="1"/>
          <p:nvPr/>
        </p:nvSpPr>
        <p:spPr>
          <a:xfrm>
            <a:off x="548640" y="6473952"/>
            <a:ext cx="4572000" cy="274320"/>
          </a:xfrm>
          <a:prstGeom prst="rect">
            <a:avLst/>
          </a:prstGeom>
          <a:noFill/>
          <a:ln/>
        </p:spPr>
        <p:txBody>
          <a:bodyPr wrap="square" lIns="0" tIns="0" rIns="0" bIns="0" rtlCol="0" anchor="ctr"/>
          <a:lstStyle/>
          <a:p>
            <a:pPr marL="0" indent="0">
              <a:buNone/>
            </a:pPr>
            <a:r>
              <a:rPr lang="en-US" sz="900" dirty="0">
                <a:solidFill>
                  <a:srgbClr val="6D74A0"/>
                </a:solidFill>
                <a:latin typeface="Calibri" pitchFamily="34" charset="0"/>
                <a:ea typeface="Calibri" pitchFamily="34" charset="-122"/>
                <a:cs typeface="Calibri" pitchFamily="34" charset="-120"/>
              </a:rPr>
              <a:t>AvatarEngine · ISL</a:t>
            </a:r>
            <a:endParaRPr lang="en-US" sz="900" dirty="0"/>
          </a:p>
        </p:txBody>
      </p:sp>
      <p:sp>
        <p:nvSpPr>
          <p:cNvPr id="16" name="Text 14"/>
          <p:cNvSpPr txBox="1"/>
          <p:nvPr/>
        </p:nvSpPr>
        <p:spPr>
          <a:xfrm>
            <a:off x="11094415" y="6473952"/>
            <a:ext cx="548640" cy="274320"/>
          </a:xfrm>
          <a:prstGeom prst="rect">
            <a:avLst/>
          </a:prstGeom>
          <a:noFill/>
          <a:ln/>
        </p:spPr>
        <p:txBody>
          <a:bodyPr wrap="square" lIns="0" tIns="0" rIns="0" bIns="0" rtlCol="0" anchor="ctr"/>
          <a:lstStyle/>
          <a:p>
            <a:pPr marL="0" indent="0" algn="r">
              <a:buNone/>
            </a:pPr>
            <a:r>
              <a:rPr lang="en-US" sz="900" dirty="0">
                <a:solidFill>
                  <a:srgbClr val="6D74A0"/>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203</TotalTime>
  <Words>5305</Words>
  <Application>Microsoft Office PowerPoint</Application>
  <PresentationFormat>Widescreen</PresentationFormat>
  <Paragraphs>326</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AvatarEngine-ISL</dc:creator>
  <cp:lastModifiedBy>DELL</cp:lastModifiedBy>
  <cp:revision>7</cp:revision>
  <dcterms:created xsi:type="dcterms:W3CDTF">2026-09-15T15:31:54Z</dcterms:created>
  <dcterms:modified xsi:type="dcterms:W3CDTF">2026-09-15T19:17:23Z</dcterms:modified>
</cp:coreProperties>
</file>