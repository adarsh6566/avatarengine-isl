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Casual open. Quick version: this project turns English — typed, spoken, or pulled from a lecture video — into a 3-D avatar that signs it in Indian Sign Language. I will spend two minutes on what it is, then most of the time on what I got done this past week — which was a good week: the signing motion finally looks right, the vocabulary doubled, the lecture page got usable, and it now runs as a phone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Twenty-second context. The engine takes English and signs it with a 3-D avatar, and you can feed it three ways — type, speak, or a lecture video. The important bit: the signs are real motion captured from video of actual signers, not animation I keyed by hand. Where it stood a week ago: the plumbing worked, but the captured motion still looked wrong in places — hands passing through each other, palms flipping — and there were only nine signs. That is what this week was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menu for the rest of the talk. Four things this week. One, the big one — I fixed the captured signing motion so it is physically believable; that took most of the week. Two, I doubled the sign vocabulary from nine to seventeen by adding the pronouns. Three, I made the lecture page actually usable. Four, I wrapped the whole thing into a phone app. I will spend a slide on the motion work, then one slide on the other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week — and the most fun to explain. A captured sign is real motion, but the tracker is noisy and a naive average of it breaks the body. Four fixes. Palms were flipping 180 degrees between frames because depth from one camera is ambiguous — I reject the impossible frames. Fingers were folding into shapes no hand can make because I was averaging positions — now I average each bone’s rotation. Hands were passing through each other because the avatar’s arms are longer than the signers’ — I solve the elbow with inverse kinematics and push the wrists apart by exactly enough. And shaky clips were shipping shaky, so smoothing is now judged on jerk. The numbers on the right are the receipts — worst-case wrist snap from 177 degrees a frame to about 20, zero physically-impossible frames, and on the sign “we”, where the hands meet, they went from overlapping on 21 of 59 frames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three, quickly. First, eight new signs — all the pronouns — taking the vocabulary from nine to seventeen. The nice part is there is no new code per sign: capture the video, average it, add one row to the library. Second, the lecture page went from a demo to something usable — you can orbit and zoom the avatar, it lags a touch to stay in sync with the playing video and stops cleanly if it falls behind, and when a video fetch fails it now tells you why instead of just spinning. Third, I wrapped it as a phone — a real Android build, plus a handset shell I can project so the audience sees it as a phone being used, not a website in a phone-shaped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it up casually. So, a good week: the signing motion is clean now — hands, palms and fingers all behave — the vocabulary is at seventeen signs with fingerspelling as a backstop, speech and lecture-along both work, and it runs on a phone, so it finally reads as a product rather than a demo in a browser tab. Next up: more signs, because seventeen is still the real ceiling on ordinary sentences; a purpose-built avatar whose proportions match the signers so the motion is right at the source; and hardening the lecture flow end to end. Thanks — and I am happy to show it running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250"/>
        </a:solidFill>
      </p:bgPr>
    </p:bg>
    <p:spTree>
      <p:nvGrpSpPr>
        <p:cNvPr id="1" name=""/>
        <p:cNvGrpSpPr/>
        <p:nvPr/>
      </p:nvGrpSpPr>
      <p:grpSpPr>
        <a:xfrm>
          <a:off x="0" y="0"/>
          <a:ext cx="0" cy="0"/>
          <a:chOff x="0" y="0"/>
          <a:chExt cx="0" cy="0"/>
        </a:xfrm>
      </p:grpSpPr>
      <p:sp>
        <p:nvSpPr>
          <p:cNvPr id="2" name="Text 0"/>
          <p:cNvSpPr txBox="1"/>
          <p:nvPr/>
        </p:nvSpPr>
        <p:spPr>
          <a:xfrm>
            <a:off x="548640" y="914400"/>
            <a:ext cx="11094415" cy="274320"/>
          </a:xfrm>
          <a:prstGeom prst="rect">
            <a:avLst/>
          </a:prstGeom>
          <a:noFill/>
          <a:ln/>
        </p:spPr>
        <p:txBody>
          <a:bodyPr wrap="square" lIns="0" tIns="0" rIns="0" bIns="0" rtlCol="0" anchor="ctr"/>
          <a:lstStyle/>
          <a:p>
            <a:pPr indent="0" marL="0">
              <a:buNone/>
            </a:pPr>
            <a:r>
              <a:rPr lang="en-US" sz="1300" b="1" spc="300" kern="0" dirty="0">
                <a:solidFill>
                  <a:srgbClr val="E6A64A"/>
                </a:solidFill>
                <a:latin typeface="Calibri" pitchFamily="34" charset="0"/>
                <a:ea typeface="Calibri" pitchFamily="34" charset="-122"/>
                <a:cs typeface="Calibri" pitchFamily="34" charset="-120"/>
              </a:rPr>
              <a:t>PROJECT UPDATE · WEEK OF SEP 8–11</a:t>
            </a:r>
            <a:endParaRPr lang="en-US" sz="1300" dirty="0"/>
          </a:p>
        </p:txBody>
      </p:sp>
      <p:sp>
        <p:nvSpPr>
          <p:cNvPr id="3" name="Text 1"/>
          <p:cNvSpPr txBox="1"/>
          <p:nvPr/>
        </p:nvSpPr>
        <p:spPr>
          <a:xfrm>
            <a:off x="548640" y="1371600"/>
            <a:ext cx="11094415" cy="1188720"/>
          </a:xfrm>
          <a:prstGeom prst="rect">
            <a:avLst/>
          </a:prstGeom>
          <a:noFill/>
          <a:ln/>
        </p:spPr>
        <p:txBody>
          <a:bodyPr wrap="square" lIns="0" tIns="0" rIns="0" bIns="0" rtlCol="0" anchor="ctr"/>
          <a:lstStyle/>
          <a:p>
            <a:pPr indent="0" marL="0">
              <a:buNone/>
            </a:pPr>
            <a:r>
              <a:rPr lang="en-US" sz="5600" b="1" dirty="0">
                <a:solidFill>
                  <a:srgbClr val="FFFFFF"/>
                </a:solidFill>
                <a:latin typeface="Calibri" pitchFamily="34" charset="0"/>
                <a:ea typeface="Calibri" pitchFamily="34" charset="-122"/>
                <a:cs typeface="Calibri" pitchFamily="34" charset="-120"/>
              </a:rPr>
              <a:t>AvatarEngine</a:t>
            </a:r>
            <a:pPr indent="0" marL="0">
              <a:buNone/>
            </a:pPr>
            <a:r>
              <a:rPr lang="en-US" sz="5600" b="1" dirty="0">
                <a:solidFill>
                  <a:srgbClr val="E6A64A"/>
                </a:solidFill>
                <a:latin typeface="Calibri" pitchFamily="34" charset="0"/>
                <a:ea typeface="Calibri" pitchFamily="34" charset="-122"/>
                <a:cs typeface="Calibri" pitchFamily="34" charset="-120"/>
              </a:rPr>
              <a:t> · </a:t>
            </a:r>
            <a:pPr indent="0" marL="0">
              <a:buNone/>
            </a:pPr>
            <a:r>
              <a:rPr lang="en-US" sz="5600" b="1" dirty="0">
                <a:solidFill>
                  <a:srgbClr val="CBD3F2"/>
                </a:solidFill>
                <a:latin typeface="Calibri" pitchFamily="34" charset="0"/>
                <a:ea typeface="Calibri" pitchFamily="34" charset="-122"/>
                <a:cs typeface="Calibri" pitchFamily="34" charset="-120"/>
              </a:rPr>
              <a:t>ISL</a:t>
            </a:r>
            <a:endParaRPr lang="en-US" sz="5600" dirty="0"/>
          </a:p>
        </p:txBody>
      </p:sp>
      <p:sp>
        <p:nvSpPr>
          <p:cNvPr id="4" name="Text 2"/>
          <p:cNvSpPr txBox="1"/>
          <p:nvPr/>
        </p:nvSpPr>
        <p:spPr>
          <a:xfrm>
            <a:off x="548640" y="2606040"/>
            <a:ext cx="8961120" cy="548640"/>
          </a:xfrm>
          <a:prstGeom prst="rect">
            <a:avLst/>
          </a:prstGeom>
          <a:noFill/>
          <a:ln/>
        </p:spPr>
        <p:txBody>
          <a:bodyPr wrap="square" lIns="0" tIns="0" rIns="0" bIns="0" rtlCol="0" anchor="ctr"/>
          <a:lstStyle/>
          <a:p>
            <a:pPr indent="0" marL="0">
              <a:buNone/>
            </a:pPr>
            <a:r>
              <a:rPr lang="en-US" sz="2000" dirty="0">
                <a:solidFill>
                  <a:srgbClr val="CBD3F2"/>
                </a:solidFill>
                <a:latin typeface="Calibri" pitchFamily="34" charset="0"/>
                <a:ea typeface="Calibri" pitchFamily="34" charset="-122"/>
                <a:cs typeface="Calibri" pitchFamily="34" charset="-120"/>
              </a:rPr>
              <a:t>A week of progress — what I built and fixed.</a:t>
            </a:r>
            <a:endParaRPr lang="en-US" sz="2000" dirty="0"/>
          </a:p>
        </p:txBody>
      </p:sp>
      <p:sp>
        <p:nvSpPr>
          <p:cNvPr id="5" name="Text 3"/>
          <p:cNvSpPr txBox="1"/>
          <p:nvPr/>
        </p:nvSpPr>
        <p:spPr>
          <a:xfrm>
            <a:off x="548640" y="3200400"/>
            <a:ext cx="7863840" cy="731520"/>
          </a:xfrm>
          <a:prstGeom prst="rect">
            <a:avLst/>
          </a:prstGeom>
          <a:noFill/>
          <a:ln/>
        </p:spPr>
        <p:txBody>
          <a:bodyPr wrap="square" lIns="0" tIns="0" rIns="0" bIns="0" rtlCol="0" anchor="ctr"/>
          <a:lstStyle/>
          <a:p>
            <a:pPr indent="0" marL="0">
              <a:lnSpc>
                <a:spcPct val="110000"/>
              </a:lnSpc>
              <a:buNone/>
            </a:pPr>
            <a:r>
              <a:rPr lang="en-US" sz="1400" dirty="0">
                <a:solidFill>
                  <a:srgbClr val="9AA0C8"/>
                </a:solidFill>
                <a:latin typeface="Calibri" pitchFamily="34" charset="0"/>
                <a:ea typeface="Calibri" pitchFamily="34" charset="-122"/>
                <a:cs typeface="Calibri" pitchFamily="34" charset="-120"/>
              </a:rPr>
              <a:t>The project: turn English — typed, spoken, or from a lecture video — into a 3-D avatar signing Indian Sign Language.</a:t>
            </a:r>
            <a:endParaRPr lang="en-US" sz="1400" dirty="0"/>
          </a:p>
        </p:txBody>
      </p:sp>
      <p:pic>
        <p:nvPicPr>
          <p:cNvPr id="6" name="Image 0" descr="preencoded.png">    </p:cNvPr>
          <p:cNvPicPr>
            <a:picLocks noChangeAspect="1"/>
          </p:cNvPicPr>
          <p:nvPr/>
        </p:nvPicPr>
        <p:blipFill>
          <a:blip r:embed="rId1"/>
          <a:stretch>
            <a:fillRect/>
          </a:stretch>
        </p:blipFill>
        <p:spPr>
          <a:xfrm>
            <a:off x="548640" y="3977640"/>
            <a:ext cx="4754880" cy="1490472"/>
          </a:xfrm>
          <a:prstGeom prst="rect">
            <a:avLst/>
          </a:prstGeom>
        </p:spPr>
      </p:pic>
      <p:sp>
        <p:nvSpPr>
          <p:cNvPr id="7" name="Shape 4"/>
          <p:cNvSpPr/>
          <p:nvPr/>
        </p:nvSpPr>
        <p:spPr>
          <a:xfrm>
            <a:off x="548640" y="5669280"/>
            <a:ext cx="1904695" cy="384048"/>
          </a:xfrm>
          <a:prstGeom prst="roundRect">
            <a:avLst>
              <a:gd name="adj" fmla="val 47619"/>
            </a:avLst>
          </a:prstGeom>
          <a:solidFill>
            <a:srgbClr val="2A2C63"/>
          </a:solidFill>
          <a:ln w="12700">
            <a:solidFill>
              <a:srgbClr val="3E4180"/>
            </a:solidFill>
            <a:prstDash val="solid"/>
          </a:ln>
        </p:spPr>
      </p:sp>
      <p:sp>
        <p:nvSpPr>
          <p:cNvPr id="8" name="Text 5"/>
          <p:cNvSpPr txBox="1"/>
          <p:nvPr/>
        </p:nvSpPr>
        <p:spPr>
          <a:xfrm>
            <a:off x="548640" y="5669280"/>
            <a:ext cx="1904695" cy="384048"/>
          </a:xfrm>
          <a:prstGeom prst="rect">
            <a:avLst/>
          </a:prstGeom>
          <a:noFill/>
          <a:ln/>
        </p:spPr>
        <p:txBody>
          <a:bodyPr wrap="square" lIns="0" tIns="0" rIns="0" bIns="0" rtlCol="0" anchor="ctr"/>
          <a:lstStyle/>
          <a:p>
            <a:pPr algn="ctr" indent="0" marL="0">
              <a:buNone/>
            </a:pPr>
            <a:r>
              <a:rPr lang="en-US" sz="1100" dirty="0">
                <a:solidFill>
                  <a:srgbClr val="CBD3F2"/>
                </a:solidFill>
                <a:latin typeface="Calibri" pitchFamily="34" charset="0"/>
                <a:ea typeface="Calibri" pitchFamily="34" charset="-122"/>
                <a:cs typeface="Calibri" pitchFamily="34" charset="-120"/>
              </a:rPr>
              <a:t>Presenter · your name</a:t>
            </a:r>
            <a:endParaRPr lang="en-US" sz="1100" dirty="0"/>
          </a:p>
        </p:txBody>
      </p:sp>
      <p:sp>
        <p:nvSpPr>
          <p:cNvPr id="9" name="Shape 6"/>
          <p:cNvSpPr/>
          <p:nvPr/>
        </p:nvSpPr>
        <p:spPr>
          <a:xfrm>
            <a:off x="2617927" y="5669280"/>
            <a:ext cx="1677010" cy="384048"/>
          </a:xfrm>
          <a:prstGeom prst="roundRect">
            <a:avLst>
              <a:gd name="adj" fmla="val 47619"/>
            </a:avLst>
          </a:prstGeom>
          <a:solidFill>
            <a:srgbClr val="2A2C63"/>
          </a:solidFill>
          <a:ln w="12700">
            <a:solidFill>
              <a:srgbClr val="3E4180"/>
            </a:solidFill>
            <a:prstDash val="solid"/>
          </a:ln>
        </p:spPr>
      </p:sp>
      <p:sp>
        <p:nvSpPr>
          <p:cNvPr id="10" name="Text 7"/>
          <p:cNvSpPr txBox="1"/>
          <p:nvPr/>
        </p:nvSpPr>
        <p:spPr>
          <a:xfrm>
            <a:off x="2617927" y="5669280"/>
            <a:ext cx="1677010" cy="384048"/>
          </a:xfrm>
          <a:prstGeom prst="rect">
            <a:avLst/>
          </a:prstGeom>
          <a:noFill/>
          <a:ln/>
        </p:spPr>
        <p:txBody>
          <a:bodyPr wrap="square" lIns="0" tIns="0" rIns="0" bIns="0" rtlCol="0" anchor="ctr"/>
          <a:lstStyle/>
          <a:p>
            <a:pPr algn="ctr" indent="0" marL="0">
              <a:buNone/>
            </a:pPr>
            <a:r>
              <a:rPr lang="en-US" sz="1100" dirty="0">
                <a:solidFill>
                  <a:srgbClr val="CBD3F2"/>
                </a:solidFill>
                <a:latin typeface="Calibri" pitchFamily="34" charset="0"/>
                <a:ea typeface="Calibri" pitchFamily="34" charset="-122"/>
                <a:cs typeface="Calibri" pitchFamily="34" charset="-120"/>
              </a:rPr>
              <a:t>BITS Pilani · WILP</a:t>
            </a:r>
            <a:endParaRPr lang="en-US" sz="1100" dirty="0"/>
          </a:p>
        </p:txBody>
      </p:sp>
      <p:sp>
        <p:nvSpPr>
          <p:cNvPr id="11" name="Shape 8"/>
          <p:cNvSpPr/>
          <p:nvPr/>
        </p:nvSpPr>
        <p:spPr>
          <a:xfrm>
            <a:off x="4459529" y="5669280"/>
            <a:ext cx="918058" cy="384048"/>
          </a:xfrm>
          <a:prstGeom prst="roundRect">
            <a:avLst>
              <a:gd name="adj" fmla="val 47619"/>
            </a:avLst>
          </a:prstGeom>
          <a:solidFill>
            <a:srgbClr val="2A2C63"/>
          </a:solidFill>
          <a:ln w="12700">
            <a:solidFill>
              <a:srgbClr val="3E4180"/>
            </a:solidFill>
            <a:prstDash val="solid"/>
          </a:ln>
        </p:spPr>
      </p:sp>
      <p:sp>
        <p:nvSpPr>
          <p:cNvPr id="12" name="Text 9"/>
          <p:cNvSpPr txBox="1"/>
          <p:nvPr/>
        </p:nvSpPr>
        <p:spPr>
          <a:xfrm>
            <a:off x="4459529" y="5669280"/>
            <a:ext cx="918058" cy="384048"/>
          </a:xfrm>
          <a:prstGeom prst="rect">
            <a:avLst/>
          </a:prstGeom>
          <a:noFill/>
          <a:ln/>
        </p:spPr>
        <p:txBody>
          <a:bodyPr wrap="square" lIns="0" tIns="0" rIns="0" bIns="0" rtlCol="0" anchor="ctr"/>
          <a:lstStyle/>
          <a:p>
            <a:pPr algn="ctr" indent="0" marL="0">
              <a:buNone/>
            </a:pPr>
            <a:r>
              <a:rPr lang="en-US" sz="1100" dirty="0">
                <a:solidFill>
                  <a:srgbClr val="CBD3F2"/>
                </a:solidFill>
                <a:latin typeface="Calibri" pitchFamily="34" charset="0"/>
                <a:ea typeface="Calibri" pitchFamily="34" charset="-122"/>
                <a:cs typeface="Calibri" pitchFamily="34" charset="-120"/>
              </a:rPr>
              <a:t>Sep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11094415" cy="274320"/>
          </a:xfrm>
          <a:prstGeom prst="rect">
            <a:avLst/>
          </a:prstGeom>
          <a:noFill/>
          <a:ln/>
        </p:spPr>
        <p:txBody>
          <a:bodyPr wrap="square" lIns="0" tIns="0" rIns="0" bIns="0" rtlCol="0" anchor="ctr"/>
          <a:lstStyle/>
          <a:p>
            <a:pPr indent="0" marL="0">
              <a:buNone/>
            </a:pPr>
            <a:r>
              <a:rPr lang="en-US" sz="1200" b="1" spc="200" kern="0" dirty="0">
                <a:solidFill>
                  <a:srgbClr val="B06712"/>
                </a:solidFill>
                <a:latin typeface="Calibri" pitchFamily="34" charset="0"/>
                <a:ea typeface="Calibri" pitchFamily="34" charset="-122"/>
                <a:cs typeface="Calibri" pitchFamily="34" charset="-120"/>
              </a:rPr>
              <a:t>QUICK CONTEXT</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ctr"/>
          <a:lstStyle/>
          <a:p>
            <a:pPr indent="0" marL="0">
              <a:lnSpc>
                <a:spcPct val="98000"/>
              </a:lnSpc>
              <a:buNone/>
            </a:pPr>
            <a:r>
              <a:rPr lang="en-US" sz="3100" b="1" dirty="0">
                <a:solidFill>
                  <a:srgbClr val="1B1D29"/>
                </a:solidFill>
                <a:latin typeface="Calibri" pitchFamily="34" charset="0"/>
                <a:ea typeface="Calibri" pitchFamily="34" charset="-122"/>
                <a:cs typeface="Calibri" pitchFamily="34" charset="-120"/>
              </a:rPr>
              <a:t>First, what this actually is.</a:t>
            </a:r>
            <a:endParaRPr lang="en-US" sz="3100" dirty="0"/>
          </a:p>
        </p:txBody>
      </p:sp>
      <p:sp>
        <p:nvSpPr>
          <p:cNvPr id="4" name="Text 2"/>
          <p:cNvSpPr txBox="1"/>
          <p:nvPr/>
        </p:nvSpPr>
        <p:spPr>
          <a:xfrm>
            <a:off x="548640" y="1691640"/>
            <a:ext cx="11094415" cy="822960"/>
          </a:xfrm>
          <a:prstGeom prst="rect">
            <a:avLst/>
          </a:prstGeom>
          <a:noFill/>
          <a:ln/>
        </p:spPr>
        <p:txBody>
          <a:bodyPr wrap="square" lIns="0" tIns="0" rIns="0" bIns="0" rtlCol="0" anchor="t"/>
          <a:lstStyle/>
          <a:p>
            <a:pPr indent="0" marL="0">
              <a:lnSpc>
                <a:spcPct val="110000"/>
              </a:lnSpc>
              <a:buNone/>
            </a:pPr>
            <a:r>
              <a:rPr lang="en-US" sz="1600" dirty="0">
                <a:solidFill>
                  <a:srgbClr val="5A5E76"/>
                </a:solidFill>
                <a:latin typeface="Calibri" pitchFamily="34" charset="0"/>
                <a:ea typeface="Calibri" pitchFamily="34" charset="-122"/>
                <a:cs typeface="Calibri" pitchFamily="34" charset="-120"/>
              </a:rPr>
              <a:t>An engine that takes English and makes a 3-D avatar sign it in Indian Sign Language. Three ways in, one signing avatar out — and every sign is real motion captured from video, not hand-animation.</a:t>
            </a:r>
            <a:endParaRPr lang="en-US" sz="1600" dirty="0"/>
          </a:p>
        </p:txBody>
      </p:sp>
      <p:sp>
        <p:nvSpPr>
          <p:cNvPr id="5" name="Shape 3"/>
          <p:cNvSpPr/>
          <p:nvPr/>
        </p:nvSpPr>
        <p:spPr>
          <a:xfrm>
            <a:off x="548640" y="2788920"/>
            <a:ext cx="3454298" cy="1965960"/>
          </a:xfrm>
          <a:prstGeom prst="roundRect">
            <a:avLst>
              <a:gd name="adj" fmla="val 4186"/>
            </a:avLst>
          </a:prstGeom>
          <a:solidFill>
            <a:srgbClr val="F2F2F9"/>
          </a:solidFill>
          <a:ln/>
          <a:effectLst>
            <a:outerShdw sx="100000" sy="100000" kx="0" ky="0" algn="bl" rotWithShape="0" blurRad="114300" dist="38100" dir="5400000">
              <a:srgbClr val="9195AE">
                <a:alpha val="30000"/>
              </a:srgbClr>
            </a:outerShdw>
          </a:effectLst>
        </p:spPr>
      </p:sp>
      <p:sp>
        <p:nvSpPr>
          <p:cNvPr id="6" name="Text 4"/>
          <p:cNvSpPr txBox="1"/>
          <p:nvPr/>
        </p:nvSpPr>
        <p:spPr>
          <a:xfrm>
            <a:off x="768096" y="2971800"/>
            <a:ext cx="3015386" cy="219456"/>
          </a:xfrm>
          <a:prstGeom prst="rect">
            <a:avLst/>
          </a:prstGeom>
          <a:noFill/>
          <a:ln/>
        </p:spPr>
        <p:txBody>
          <a:bodyPr wrap="square" lIns="0" tIns="0" rIns="0" bIns="0" rtlCol="0" anchor="ctr"/>
          <a:lstStyle/>
          <a:p>
            <a:pPr indent="0" marL="0">
              <a:buNone/>
            </a:pPr>
            <a:r>
              <a:rPr lang="en-US" sz="950" b="1" spc="140" kern="0" dirty="0">
                <a:solidFill>
                  <a:srgbClr val="33357A"/>
                </a:solidFill>
                <a:latin typeface="Calibri" pitchFamily="34" charset="0"/>
                <a:ea typeface="Calibri" pitchFamily="34" charset="-122"/>
                <a:cs typeface="Calibri" pitchFamily="34" charset="-120"/>
              </a:rPr>
              <a:t>TYPE IT</a:t>
            </a:r>
            <a:endParaRPr lang="en-US" sz="950" dirty="0"/>
          </a:p>
        </p:txBody>
      </p:sp>
      <p:sp>
        <p:nvSpPr>
          <p:cNvPr id="7" name="Text 5"/>
          <p:cNvSpPr txBox="1"/>
          <p:nvPr/>
        </p:nvSpPr>
        <p:spPr>
          <a:xfrm>
            <a:off x="768096" y="3246120"/>
            <a:ext cx="3015386" cy="1362456"/>
          </a:xfrm>
          <a:prstGeom prst="rect">
            <a:avLst/>
          </a:prstGeom>
          <a:noFill/>
          <a:ln/>
        </p:spPr>
        <p:txBody>
          <a:bodyPr wrap="square" lIns="0" tIns="0" rIns="0" bIns="0" rtlCol="0" anchor="t"/>
          <a:lstStyle/>
          <a:p>
            <a:pPr indent="0" marL="0">
              <a:lnSpc>
                <a:spcPct val="103000"/>
              </a:lnSpc>
              <a:buNone/>
            </a:pPr>
            <a:r>
              <a:rPr lang="en-US" sz="1300" dirty="0">
                <a:solidFill>
                  <a:srgbClr val="5A5E76"/>
                </a:solidFill>
                <a:latin typeface="Calibri" pitchFamily="34" charset="0"/>
                <a:ea typeface="Calibri" pitchFamily="34" charset="-122"/>
                <a:cs typeface="Calibri" pitchFamily="34" charset="-120"/>
              </a:rPr>
              <a:t>A sentence in the box → the avatar signs it, spelling out anything it has no sign for.</a:t>
            </a:r>
            <a:endParaRPr lang="en-US" sz="1300" dirty="0"/>
          </a:p>
        </p:txBody>
      </p:sp>
      <p:sp>
        <p:nvSpPr>
          <p:cNvPr id="8" name="Shape 6"/>
          <p:cNvSpPr/>
          <p:nvPr/>
        </p:nvSpPr>
        <p:spPr>
          <a:xfrm>
            <a:off x="4368698" y="2788920"/>
            <a:ext cx="3454298" cy="1965960"/>
          </a:xfrm>
          <a:prstGeom prst="roundRect">
            <a:avLst>
              <a:gd name="adj" fmla="val 4186"/>
            </a:avLst>
          </a:prstGeom>
          <a:solidFill>
            <a:srgbClr val="F2F2F9"/>
          </a:solidFill>
          <a:ln/>
          <a:effectLst>
            <a:outerShdw sx="100000" sy="100000" kx="0" ky="0" algn="bl" rotWithShape="0" blurRad="114300" dist="38100" dir="5400000">
              <a:srgbClr val="9195AE">
                <a:alpha val="30000"/>
              </a:srgbClr>
            </a:outerShdw>
          </a:effectLst>
        </p:spPr>
      </p:sp>
      <p:sp>
        <p:nvSpPr>
          <p:cNvPr id="9" name="Text 7"/>
          <p:cNvSpPr txBox="1"/>
          <p:nvPr/>
        </p:nvSpPr>
        <p:spPr>
          <a:xfrm>
            <a:off x="4588154" y="2971800"/>
            <a:ext cx="3015386" cy="219456"/>
          </a:xfrm>
          <a:prstGeom prst="rect">
            <a:avLst/>
          </a:prstGeom>
          <a:noFill/>
          <a:ln/>
        </p:spPr>
        <p:txBody>
          <a:bodyPr wrap="square" lIns="0" tIns="0" rIns="0" bIns="0" rtlCol="0" anchor="ctr"/>
          <a:lstStyle/>
          <a:p>
            <a:pPr indent="0" marL="0">
              <a:buNone/>
            </a:pPr>
            <a:r>
              <a:rPr lang="en-US" sz="950" b="1" spc="140" kern="0" dirty="0">
                <a:solidFill>
                  <a:srgbClr val="2F7D6B"/>
                </a:solidFill>
                <a:latin typeface="Calibri" pitchFamily="34" charset="0"/>
                <a:ea typeface="Calibri" pitchFamily="34" charset="-122"/>
                <a:cs typeface="Calibri" pitchFamily="34" charset="-120"/>
              </a:rPr>
              <a:t>SPEAK IT</a:t>
            </a:r>
            <a:endParaRPr lang="en-US" sz="950" dirty="0"/>
          </a:p>
        </p:txBody>
      </p:sp>
      <p:sp>
        <p:nvSpPr>
          <p:cNvPr id="10" name="Text 8"/>
          <p:cNvSpPr txBox="1"/>
          <p:nvPr/>
        </p:nvSpPr>
        <p:spPr>
          <a:xfrm>
            <a:off x="4588154" y="3246120"/>
            <a:ext cx="3015386" cy="1362456"/>
          </a:xfrm>
          <a:prstGeom prst="rect">
            <a:avLst/>
          </a:prstGeom>
          <a:noFill/>
          <a:ln/>
        </p:spPr>
        <p:txBody>
          <a:bodyPr wrap="square" lIns="0" tIns="0" rIns="0" bIns="0" rtlCol="0" anchor="t"/>
          <a:lstStyle/>
          <a:p>
            <a:pPr indent="0" marL="0">
              <a:lnSpc>
                <a:spcPct val="103000"/>
              </a:lnSpc>
              <a:buNone/>
            </a:pPr>
            <a:r>
              <a:rPr lang="en-US" sz="1300" dirty="0">
                <a:solidFill>
                  <a:srgbClr val="5A5E76"/>
                </a:solidFill>
                <a:latin typeface="Calibri" pitchFamily="34" charset="0"/>
                <a:ea typeface="Calibri" pitchFamily="34" charset="-122"/>
                <a:cs typeface="Calibri" pitchFamily="34" charset="-120"/>
              </a:rPr>
              <a:t>Talk, and speech recognition drives the same path.</a:t>
            </a:r>
            <a:endParaRPr lang="en-US" sz="1300" dirty="0"/>
          </a:p>
        </p:txBody>
      </p:sp>
      <p:sp>
        <p:nvSpPr>
          <p:cNvPr id="11" name="Shape 9"/>
          <p:cNvSpPr/>
          <p:nvPr/>
        </p:nvSpPr>
        <p:spPr>
          <a:xfrm>
            <a:off x="8188757" y="2788920"/>
            <a:ext cx="3454298" cy="1965960"/>
          </a:xfrm>
          <a:prstGeom prst="roundRect">
            <a:avLst>
              <a:gd name="adj" fmla="val 4186"/>
            </a:avLst>
          </a:prstGeom>
          <a:solidFill>
            <a:srgbClr val="F2F2F9"/>
          </a:solidFill>
          <a:ln/>
          <a:effectLst>
            <a:outerShdw sx="100000" sy="100000" kx="0" ky="0" algn="bl" rotWithShape="0" blurRad="114300" dist="38100" dir="5400000">
              <a:srgbClr val="9195AE">
                <a:alpha val="30000"/>
              </a:srgbClr>
            </a:outerShdw>
          </a:effectLst>
        </p:spPr>
      </p:sp>
      <p:sp>
        <p:nvSpPr>
          <p:cNvPr id="12" name="Text 10"/>
          <p:cNvSpPr txBox="1"/>
          <p:nvPr/>
        </p:nvSpPr>
        <p:spPr>
          <a:xfrm>
            <a:off x="8408213" y="2971800"/>
            <a:ext cx="3015386" cy="219456"/>
          </a:xfrm>
          <a:prstGeom prst="rect">
            <a:avLst/>
          </a:prstGeom>
          <a:noFill/>
          <a:ln/>
        </p:spPr>
        <p:txBody>
          <a:bodyPr wrap="square" lIns="0" tIns="0" rIns="0" bIns="0" rtlCol="0" anchor="ctr"/>
          <a:lstStyle/>
          <a:p>
            <a:pPr indent="0" marL="0">
              <a:buNone/>
            </a:pPr>
            <a:r>
              <a:rPr lang="en-US" sz="950" b="1" spc="140" kern="0" dirty="0">
                <a:solidFill>
                  <a:srgbClr val="B06712"/>
                </a:solidFill>
                <a:latin typeface="Calibri" pitchFamily="34" charset="0"/>
                <a:ea typeface="Calibri" pitchFamily="34" charset="-122"/>
                <a:cs typeface="Calibri" pitchFamily="34" charset="-120"/>
              </a:rPr>
              <a:t>LECTURE VIDEO</a:t>
            </a:r>
            <a:endParaRPr lang="en-US" sz="950" dirty="0"/>
          </a:p>
        </p:txBody>
      </p:sp>
      <p:sp>
        <p:nvSpPr>
          <p:cNvPr id="13" name="Text 11"/>
          <p:cNvSpPr txBox="1"/>
          <p:nvPr/>
        </p:nvSpPr>
        <p:spPr>
          <a:xfrm>
            <a:off x="8408213" y="3246120"/>
            <a:ext cx="3015386" cy="1362456"/>
          </a:xfrm>
          <a:prstGeom prst="rect">
            <a:avLst/>
          </a:prstGeom>
          <a:noFill/>
          <a:ln/>
        </p:spPr>
        <p:txBody>
          <a:bodyPr wrap="square" lIns="0" tIns="0" rIns="0" bIns="0" rtlCol="0" anchor="t"/>
          <a:lstStyle/>
          <a:p>
            <a:pPr indent="0" marL="0">
              <a:lnSpc>
                <a:spcPct val="103000"/>
              </a:lnSpc>
              <a:buNone/>
            </a:pPr>
            <a:r>
              <a:rPr lang="en-US" sz="1300" dirty="0">
                <a:solidFill>
                  <a:srgbClr val="5A5E76"/>
                </a:solidFill>
                <a:latin typeface="Calibri" pitchFamily="34" charset="0"/>
                <a:ea typeface="Calibri" pitchFamily="34" charset="-122"/>
                <a:cs typeface="Calibri" pitchFamily="34" charset="-120"/>
              </a:rPr>
              <a:t>Hand it a lecture; it transcribes and the avatar signs along, in time.</a:t>
            </a:r>
            <a:endParaRPr lang="en-US" sz="1300" dirty="0"/>
          </a:p>
        </p:txBody>
      </p:sp>
      <p:sp>
        <p:nvSpPr>
          <p:cNvPr id="14" name="Text 12"/>
          <p:cNvSpPr txBox="1"/>
          <p:nvPr/>
        </p:nvSpPr>
        <p:spPr>
          <a:xfrm>
            <a:off x="548640" y="5029200"/>
            <a:ext cx="11094415" cy="640080"/>
          </a:xfrm>
          <a:prstGeom prst="rect">
            <a:avLst/>
          </a:prstGeom>
          <a:noFill/>
          <a:ln/>
        </p:spPr>
        <p:txBody>
          <a:bodyPr wrap="square" lIns="0" tIns="0" rIns="0" bIns="0" rtlCol="0" anchor="t"/>
          <a:lstStyle/>
          <a:p>
            <a:pPr indent="0" marL="0">
              <a:lnSpc>
                <a:spcPct val="104000"/>
              </a:lnSpc>
              <a:buNone/>
            </a:pPr>
            <a:r>
              <a:rPr lang="en-US" sz="1400" b="1" dirty="0">
                <a:solidFill>
                  <a:srgbClr val="1B1D29"/>
                </a:solidFill>
                <a:latin typeface="Calibri" pitchFamily="34" charset="0"/>
                <a:ea typeface="Calibri" pitchFamily="34" charset="-122"/>
                <a:cs typeface="Calibri" pitchFamily="34" charset="-120"/>
              </a:rPr>
              <a:t>Where it was a week ago:  </a:t>
            </a:r>
            <a:pPr indent="0" marL="0">
              <a:lnSpc>
                <a:spcPct val="104000"/>
              </a:lnSpc>
              <a:buNone/>
            </a:pPr>
            <a:r>
              <a:rPr lang="en-US" sz="1400" dirty="0">
                <a:solidFill>
                  <a:srgbClr val="5A5E76"/>
                </a:solidFill>
                <a:latin typeface="Calibri" pitchFamily="34" charset="0"/>
                <a:ea typeface="Calibri" pitchFamily="34" charset="-122"/>
                <a:cs typeface="Calibri" pitchFamily="34" charset="-120"/>
              </a:rPr>
              <a:t>the signing pipeline worked, but the captured motion still looked off — and there were only 9 signs.</a:t>
            </a:r>
            <a:endParaRPr lang="en-US" sz="1400" dirty="0"/>
          </a:p>
        </p:txBody>
      </p:sp>
      <p:sp>
        <p:nvSpPr>
          <p:cNvPr id="15" name="Text 13"/>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9A9EB2"/>
                </a:solidFill>
                <a:latin typeface="Calibri" pitchFamily="34" charset="0"/>
                <a:ea typeface="Calibri" pitchFamily="34" charset="-122"/>
                <a:cs typeface="Calibri" pitchFamily="34" charset="-120"/>
              </a:rPr>
              <a:t>AvatarEngine · ISL — weekly update</a:t>
            </a:r>
            <a:endParaRPr lang="en-US" sz="900" dirty="0"/>
          </a:p>
        </p:txBody>
      </p:sp>
      <p:sp>
        <p:nvSpPr>
          <p:cNvPr id="16" name="Text 14"/>
          <p:cNvSpPr txBox="1"/>
          <p:nvPr/>
        </p:nvSpPr>
        <p:spPr>
          <a:xfrm>
            <a:off x="10820095" y="6473952"/>
            <a:ext cx="822960" cy="274320"/>
          </a:xfrm>
          <a:prstGeom prst="rect">
            <a:avLst/>
          </a:prstGeom>
          <a:noFill/>
          <a:ln/>
        </p:spPr>
        <p:txBody>
          <a:bodyPr wrap="square" lIns="0" tIns="0" rIns="0" bIns="0" rtlCol="0" anchor="ctr"/>
          <a:lstStyle/>
          <a:p>
            <a:pPr algn="r" indent="0" marL="0">
              <a:buNone/>
            </a:pPr>
            <a:r>
              <a:rPr lang="en-US" sz="900" dirty="0">
                <a:solidFill>
                  <a:srgbClr val="9A9EB2"/>
                </a:solidFill>
                <a:latin typeface="Calibri" pitchFamily="34" charset="0"/>
                <a:ea typeface="Calibri" pitchFamily="34" charset="-122"/>
                <a:cs typeface="Calibri" pitchFamily="34" charset="-120"/>
              </a:rPr>
              <a:t>2 / 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11094415" cy="274320"/>
          </a:xfrm>
          <a:prstGeom prst="rect">
            <a:avLst/>
          </a:prstGeom>
          <a:noFill/>
          <a:ln/>
        </p:spPr>
        <p:txBody>
          <a:bodyPr wrap="square" lIns="0" tIns="0" rIns="0" bIns="0" rtlCol="0" anchor="ctr"/>
          <a:lstStyle/>
          <a:p>
            <a:pPr indent="0" marL="0">
              <a:buNone/>
            </a:pPr>
            <a:r>
              <a:rPr lang="en-US" sz="1200" b="1" spc="200" kern="0" dirty="0">
                <a:solidFill>
                  <a:srgbClr val="B06712"/>
                </a:solidFill>
                <a:latin typeface="Calibri" pitchFamily="34" charset="0"/>
                <a:ea typeface="Calibri" pitchFamily="34" charset="-122"/>
                <a:cs typeface="Calibri" pitchFamily="34" charset="-120"/>
              </a:rPr>
              <a:t>THE PAST WEEK</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ctr"/>
          <a:lstStyle/>
          <a:p>
            <a:pPr indent="0" marL="0">
              <a:lnSpc>
                <a:spcPct val="98000"/>
              </a:lnSpc>
              <a:buNone/>
            </a:pPr>
            <a:r>
              <a:rPr lang="en-US" sz="3100" b="1" dirty="0">
                <a:solidFill>
                  <a:srgbClr val="1B1D29"/>
                </a:solidFill>
                <a:latin typeface="Calibri" pitchFamily="34" charset="0"/>
                <a:ea typeface="Calibri" pitchFamily="34" charset="-122"/>
                <a:cs typeface="Calibri" pitchFamily="34" charset="-120"/>
              </a:rPr>
              <a:t>Four things — one line each.</a:t>
            </a:r>
            <a:endParaRPr lang="en-US" sz="3100" dirty="0"/>
          </a:p>
        </p:txBody>
      </p:sp>
      <p:sp>
        <p:nvSpPr>
          <p:cNvPr id="4" name="Shape 2"/>
          <p:cNvSpPr/>
          <p:nvPr/>
        </p:nvSpPr>
        <p:spPr>
          <a:xfrm>
            <a:off x="548640" y="1783080"/>
            <a:ext cx="475488" cy="475488"/>
          </a:xfrm>
          <a:prstGeom prst="ellipse">
            <a:avLst/>
          </a:prstGeom>
          <a:solidFill>
            <a:srgbClr val="33357A"/>
          </a:solidFill>
          <a:ln/>
        </p:spPr>
      </p:sp>
      <p:sp>
        <p:nvSpPr>
          <p:cNvPr id="5" name="Text 3"/>
          <p:cNvSpPr txBox="1"/>
          <p:nvPr/>
        </p:nvSpPr>
        <p:spPr>
          <a:xfrm>
            <a:off x="548640" y="178308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61872" y="1764792"/>
            <a:ext cx="10381183" cy="347472"/>
          </a:xfrm>
          <a:prstGeom prst="rect">
            <a:avLst/>
          </a:prstGeom>
          <a:noFill/>
          <a:ln/>
        </p:spPr>
        <p:txBody>
          <a:bodyPr wrap="square" lIns="0" tIns="0" rIns="0" bIns="0" rtlCol="0" anchor="ctr"/>
          <a:lstStyle/>
          <a:p>
            <a:pPr indent="0" marL="0">
              <a:buNone/>
            </a:pPr>
            <a:r>
              <a:rPr lang="en-US" sz="1650" b="1" dirty="0">
                <a:solidFill>
                  <a:srgbClr val="1B1D29"/>
                </a:solidFill>
                <a:latin typeface="Calibri" pitchFamily="34" charset="0"/>
                <a:ea typeface="Calibri" pitchFamily="34" charset="-122"/>
                <a:cs typeface="Calibri" pitchFamily="34" charset="-120"/>
              </a:rPr>
              <a:t>The captured signs finally look right</a:t>
            </a:r>
            <a:endParaRPr lang="en-US" sz="1650" dirty="0"/>
          </a:p>
        </p:txBody>
      </p:sp>
      <p:sp>
        <p:nvSpPr>
          <p:cNvPr id="7" name="Text 5"/>
          <p:cNvSpPr txBox="1"/>
          <p:nvPr/>
        </p:nvSpPr>
        <p:spPr>
          <a:xfrm>
            <a:off x="1261872" y="2112264"/>
            <a:ext cx="10381183" cy="548640"/>
          </a:xfrm>
          <a:prstGeom prst="rect">
            <a:avLst/>
          </a:prstGeom>
          <a:noFill/>
          <a:ln/>
        </p:spPr>
        <p:txBody>
          <a:bodyPr wrap="square" lIns="0" tIns="0" rIns="0" bIns="0" rtlCol="0" anchor="t"/>
          <a:lstStyle/>
          <a:p>
            <a:pPr indent="0" marL="0">
              <a:lnSpc>
                <a:spcPct val="102000"/>
              </a:lnSpc>
              <a:buNone/>
            </a:pPr>
            <a:r>
              <a:rPr lang="en-US" sz="1300" dirty="0">
                <a:solidFill>
                  <a:srgbClr val="5A5E76"/>
                </a:solidFill>
                <a:latin typeface="Calibri" pitchFamily="34" charset="0"/>
                <a:ea typeface="Calibri" pitchFamily="34" charset="-122"/>
                <a:cs typeface="Calibri" pitchFamily="34" charset="-120"/>
              </a:rPr>
              <a:t>Fixed the motion so hands stop passing through each other and palms stop flipping.</a:t>
            </a:r>
            <a:endParaRPr lang="en-US" sz="1300" dirty="0"/>
          </a:p>
        </p:txBody>
      </p:sp>
      <p:sp>
        <p:nvSpPr>
          <p:cNvPr id="8" name="Shape 6"/>
          <p:cNvSpPr/>
          <p:nvPr/>
        </p:nvSpPr>
        <p:spPr>
          <a:xfrm>
            <a:off x="548640" y="2807208"/>
            <a:ext cx="475488" cy="475488"/>
          </a:xfrm>
          <a:prstGeom prst="ellipse">
            <a:avLst/>
          </a:prstGeom>
          <a:solidFill>
            <a:srgbClr val="33357A"/>
          </a:solidFill>
          <a:ln/>
        </p:spPr>
      </p:sp>
      <p:sp>
        <p:nvSpPr>
          <p:cNvPr id="9" name="Text 7"/>
          <p:cNvSpPr txBox="1"/>
          <p:nvPr/>
        </p:nvSpPr>
        <p:spPr>
          <a:xfrm>
            <a:off x="548640" y="280720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261872" y="2788920"/>
            <a:ext cx="10381183" cy="347472"/>
          </a:xfrm>
          <a:prstGeom prst="rect">
            <a:avLst/>
          </a:prstGeom>
          <a:noFill/>
          <a:ln/>
        </p:spPr>
        <p:txBody>
          <a:bodyPr wrap="square" lIns="0" tIns="0" rIns="0" bIns="0" rtlCol="0" anchor="ctr"/>
          <a:lstStyle/>
          <a:p>
            <a:pPr indent="0" marL="0">
              <a:buNone/>
            </a:pPr>
            <a:r>
              <a:rPr lang="en-US" sz="1650" b="1" dirty="0">
                <a:solidFill>
                  <a:srgbClr val="1B1D29"/>
                </a:solidFill>
                <a:latin typeface="Calibri" pitchFamily="34" charset="0"/>
                <a:ea typeface="Calibri" pitchFamily="34" charset="-122"/>
                <a:cs typeface="Calibri" pitchFamily="34" charset="-120"/>
              </a:rPr>
              <a:t>Doubled the vocabulary: 9 → 17 signs</a:t>
            </a:r>
            <a:endParaRPr lang="en-US" sz="1650" dirty="0"/>
          </a:p>
        </p:txBody>
      </p:sp>
      <p:sp>
        <p:nvSpPr>
          <p:cNvPr id="11" name="Text 9"/>
          <p:cNvSpPr txBox="1"/>
          <p:nvPr/>
        </p:nvSpPr>
        <p:spPr>
          <a:xfrm>
            <a:off x="1261872" y="3136392"/>
            <a:ext cx="10381183" cy="548640"/>
          </a:xfrm>
          <a:prstGeom prst="rect">
            <a:avLst/>
          </a:prstGeom>
          <a:noFill/>
          <a:ln/>
        </p:spPr>
        <p:txBody>
          <a:bodyPr wrap="square" lIns="0" tIns="0" rIns="0" bIns="0" rtlCol="0" anchor="t"/>
          <a:lstStyle/>
          <a:p>
            <a:pPr indent="0" marL="0">
              <a:lnSpc>
                <a:spcPct val="102000"/>
              </a:lnSpc>
              <a:buNone/>
            </a:pPr>
            <a:r>
              <a:rPr lang="en-US" sz="1300" dirty="0">
                <a:solidFill>
                  <a:srgbClr val="5A5E76"/>
                </a:solidFill>
                <a:latin typeface="Calibri" pitchFamily="34" charset="0"/>
                <a:ea typeface="Calibri" pitchFamily="34" charset="-122"/>
                <a:cs typeface="Calibri" pitchFamily="34" charset="-120"/>
              </a:rPr>
              <a:t>Added the eight pronouns through the same capture-and-average pipeline.</a:t>
            </a:r>
            <a:endParaRPr lang="en-US" sz="1300" dirty="0"/>
          </a:p>
        </p:txBody>
      </p:sp>
      <p:sp>
        <p:nvSpPr>
          <p:cNvPr id="12" name="Shape 10"/>
          <p:cNvSpPr/>
          <p:nvPr/>
        </p:nvSpPr>
        <p:spPr>
          <a:xfrm>
            <a:off x="548640" y="3831336"/>
            <a:ext cx="475488" cy="475488"/>
          </a:xfrm>
          <a:prstGeom prst="ellipse">
            <a:avLst/>
          </a:prstGeom>
          <a:solidFill>
            <a:srgbClr val="33357A"/>
          </a:solidFill>
          <a:ln/>
        </p:spPr>
      </p:sp>
      <p:sp>
        <p:nvSpPr>
          <p:cNvPr id="13" name="Text 11"/>
          <p:cNvSpPr txBox="1"/>
          <p:nvPr/>
        </p:nvSpPr>
        <p:spPr>
          <a:xfrm>
            <a:off x="548640" y="383133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261872" y="3813048"/>
            <a:ext cx="10381183" cy="347472"/>
          </a:xfrm>
          <a:prstGeom prst="rect">
            <a:avLst/>
          </a:prstGeom>
          <a:noFill/>
          <a:ln/>
        </p:spPr>
        <p:txBody>
          <a:bodyPr wrap="square" lIns="0" tIns="0" rIns="0" bIns="0" rtlCol="0" anchor="ctr"/>
          <a:lstStyle/>
          <a:p>
            <a:pPr indent="0" marL="0">
              <a:buNone/>
            </a:pPr>
            <a:r>
              <a:rPr lang="en-US" sz="1650" b="1" dirty="0">
                <a:solidFill>
                  <a:srgbClr val="1B1D29"/>
                </a:solidFill>
                <a:latin typeface="Calibri" pitchFamily="34" charset="0"/>
                <a:ea typeface="Calibri" pitchFamily="34" charset="-122"/>
                <a:cs typeface="Calibri" pitchFamily="34" charset="-120"/>
              </a:rPr>
              <a:t>Made the lecture page usable</a:t>
            </a:r>
            <a:endParaRPr lang="en-US" sz="1650" dirty="0"/>
          </a:p>
        </p:txBody>
      </p:sp>
      <p:sp>
        <p:nvSpPr>
          <p:cNvPr id="15" name="Text 13"/>
          <p:cNvSpPr txBox="1"/>
          <p:nvPr/>
        </p:nvSpPr>
        <p:spPr>
          <a:xfrm>
            <a:off x="1261872" y="4160520"/>
            <a:ext cx="10381183" cy="548640"/>
          </a:xfrm>
          <a:prstGeom prst="rect">
            <a:avLst/>
          </a:prstGeom>
          <a:noFill/>
          <a:ln/>
        </p:spPr>
        <p:txBody>
          <a:bodyPr wrap="square" lIns="0" tIns="0" rIns="0" bIns="0" rtlCol="0" anchor="t"/>
          <a:lstStyle/>
          <a:p>
            <a:pPr indent="0" marL="0">
              <a:lnSpc>
                <a:spcPct val="102000"/>
              </a:lnSpc>
              <a:buNone/>
            </a:pPr>
            <a:r>
              <a:rPr lang="en-US" sz="1300" dirty="0">
                <a:solidFill>
                  <a:srgbClr val="5A5E76"/>
                </a:solidFill>
                <a:latin typeface="Calibri" pitchFamily="34" charset="0"/>
                <a:ea typeface="Calibri" pitchFamily="34" charset="-122"/>
                <a:cs typeface="Calibri" pitchFamily="34" charset="-120"/>
              </a:rPr>
              <a:t>Orbit &amp; zoom, kept the avatar in sync, and made failures say what went wrong.</a:t>
            </a:r>
            <a:endParaRPr lang="en-US" sz="1300" dirty="0"/>
          </a:p>
        </p:txBody>
      </p:sp>
      <p:sp>
        <p:nvSpPr>
          <p:cNvPr id="16" name="Shape 14"/>
          <p:cNvSpPr/>
          <p:nvPr/>
        </p:nvSpPr>
        <p:spPr>
          <a:xfrm>
            <a:off x="548640" y="4855464"/>
            <a:ext cx="475488" cy="475488"/>
          </a:xfrm>
          <a:prstGeom prst="ellipse">
            <a:avLst/>
          </a:prstGeom>
          <a:solidFill>
            <a:srgbClr val="B06712"/>
          </a:solidFill>
          <a:ln/>
        </p:spPr>
      </p:sp>
      <p:sp>
        <p:nvSpPr>
          <p:cNvPr id="17" name="Text 15"/>
          <p:cNvSpPr txBox="1"/>
          <p:nvPr/>
        </p:nvSpPr>
        <p:spPr>
          <a:xfrm>
            <a:off x="548640" y="485546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261872" y="4837176"/>
            <a:ext cx="10381183" cy="347472"/>
          </a:xfrm>
          <a:prstGeom prst="rect">
            <a:avLst/>
          </a:prstGeom>
          <a:noFill/>
          <a:ln/>
        </p:spPr>
        <p:txBody>
          <a:bodyPr wrap="square" lIns="0" tIns="0" rIns="0" bIns="0" rtlCol="0" anchor="ctr"/>
          <a:lstStyle/>
          <a:p>
            <a:pPr indent="0" marL="0">
              <a:buNone/>
            </a:pPr>
            <a:r>
              <a:rPr lang="en-US" sz="1650" b="1" dirty="0">
                <a:solidFill>
                  <a:srgbClr val="1B1D29"/>
                </a:solidFill>
                <a:latin typeface="Calibri" pitchFamily="34" charset="0"/>
                <a:ea typeface="Calibri" pitchFamily="34" charset="-122"/>
                <a:cs typeface="Calibri" pitchFamily="34" charset="-120"/>
              </a:rPr>
              <a:t>Turned it into a phone</a:t>
            </a:r>
            <a:endParaRPr lang="en-US" sz="1650" dirty="0"/>
          </a:p>
        </p:txBody>
      </p:sp>
      <p:sp>
        <p:nvSpPr>
          <p:cNvPr id="19" name="Text 17"/>
          <p:cNvSpPr txBox="1"/>
          <p:nvPr/>
        </p:nvSpPr>
        <p:spPr>
          <a:xfrm>
            <a:off x="1261872" y="5184648"/>
            <a:ext cx="10381183" cy="548640"/>
          </a:xfrm>
          <a:prstGeom prst="rect">
            <a:avLst/>
          </a:prstGeom>
          <a:noFill/>
          <a:ln/>
        </p:spPr>
        <p:txBody>
          <a:bodyPr wrap="square" lIns="0" tIns="0" rIns="0" bIns="0" rtlCol="0" anchor="t"/>
          <a:lstStyle/>
          <a:p>
            <a:pPr indent="0" marL="0">
              <a:lnSpc>
                <a:spcPct val="102000"/>
              </a:lnSpc>
              <a:buNone/>
            </a:pPr>
            <a:r>
              <a:rPr lang="en-US" sz="1300" dirty="0">
                <a:solidFill>
                  <a:srgbClr val="5A5E76"/>
                </a:solidFill>
                <a:latin typeface="Calibri" pitchFamily="34" charset="0"/>
                <a:ea typeface="Calibri" pitchFamily="34" charset="-122"/>
                <a:cs typeface="Calibri" pitchFamily="34" charset="-120"/>
              </a:rPr>
              <a:t>Wrapped the app as a handset demo you can project from a laptop.</a:t>
            </a:r>
            <a:endParaRPr lang="en-US" sz="1300" dirty="0"/>
          </a:p>
        </p:txBody>
      </p:sp>
      <p:sp>
        <p:nvSpPr>
          <p:cNvPr id="20" name="Text 18"/>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9A9EB2"/>
                </a:solidFill>
                <a:latin typeface="Calibri" pitchFamily="34" charset="0"/>
                <a:ea typeface="Calibri" pitchFamily="34" charset="-122"/>
                <a:cs typeface="Calibri" pitchFamily="34" charset="-120"/>
              </a:rPr>
              <a:t>AvatarEngine · ISL — weekly update</a:t>
            </a:r>
            <a:endParaRPr lang="en-US" sz="900" dirty="0"/>
          </a:p>
        </p:txBody>
      </p:sp>
      <p:sp>
        <p:nvSpPr>
          <p:cNvPr id="21" name="Text 19"/>
          <p:cNvSpPr txBox="1"/>
          <p:nvPr/>
        </p:nvSpPr>
        <p:spPr>
          <a:xfrm>
            <a:off x="10820095" y="6473952"/>
            <a:ext cx="822960" cy="274320"/>
          </a:xfrm>
          <a:prstGeom prst="rect">
            <a:avLst/>
          </a:prstGeom>
          <a:noFill/>
          <a:ln/>
        </p:spPr>
        <p:txBody>
          <a:bodyPr wrap="square" lIns="0" tIns="0" rIns="0" bIns="0" rtlCol="0" anchor="ctr"/>
          <a:lstStyle/>
          <a:p>
            <a:pPr algn="r" indent="0" marL="0">
              <a:buNone/>
            </a:pPr>
            <a:r>
              <a:rPr lang="en-US" sz="900" dirty="0">
                <a:solidFill>
                  <a:srgbClr val="9A9EB2"/>
                </a:solidFill>
                <a:latin typeface="Calibri" pitchFamily="34" charset="0"/>
                <a:ea typeface="Calibri" pitchFamily="34" charset="-122"/>
                <a:cs typeface="Calibri" pitchFamily="34" charset="-120"/>
              </a:rPr>
              <a:t>3 / 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11094415" cy="274320"/>
          </a:xfrm>
          <a:prstGeom prst="rect">
            <a:avLst/>
          </a:prstGeom>
          <a:noFill/>
          <a:ln/>
        </p:spPr>
        <p:txBody>
          <a:bodyPr wrap="square" lIns="0" tIns="0" rIns="0" bIns="0" rtlCol="0" anchor="ctr"/>
          <a:lstStyle/>
          <a:p>
            <a:pPr indent="0" marL="0">
              <a:buNone/>
            </a:pPr>
            <a:r>
              <a:rPr lang="en-US" sz="1200" b="1" spc="200" kern="0" dirty="0">
                <a:solidFill>
                  <a:srgbClr val="B06712"/>
                </a:solidFill>
                <a:latin typeface="Calibri" pitchFamily="34" charset="0"/>
                <a:ea typeface="Calibri" pitchFamily="34" charset="-122"/>
                <a:cs typeface="Calibri" pitchFamily="34" charset="-120"/>
              </a:rPr>
              <a:t>THE MAIN EVENT</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ctr"/>
          <a:lstStyle/>
          <a:p>
            <a:pPr indent="0" marL="0">
              <a:lnSpc>
                <a:spcPct val="98000"/>
              </a:lnSpc>
              <a:buNone/>
            </a:pPr>
            <a:r>
              <a:rPr lang="en-US" sz="3100" b="1" dirty="0">
                <a:solidFill>
                  <a:srgbClr val="1B1D29"/>
                </a:solidFill>
                <a:latin typeface="Calibri" pitchFamily="34" charset="0"/>
                <a:ea typeface="Calibri" pitchFamily="34" charset="-122"/>
                <a:cs typeface="Calibri" pitchFamily="34" charset="-120"/>
              </a:rPr>
              <a:t>The captured signs finally look right.</a:t>
            </a:r>
            <a:endParaRPr lang="en-US" sz="3100" dirty="0"/>
          </a:p>
        </p:txBody>
      </p:sp>
      <p:sp>
        <p:nvSpPr>
          <p:cNvPr id="4" name="Text 2"/>
          <p:cNvSpPr txBox="1"/>
          <p:nvPr/>
        </p:nvSpPr>
        <p:spPr>
          <a:xfrm>
            <a:off x="548640" y="1737360"/>
            <a:ext cx="6400800" cy="4114800"/>
          </a:xfrm>
          <a:prstGeom prst="rect">
            <a:avLst/>
          </a:prstGeom>
          <a:noFill/>
          <a:ln/>
        </p:spPr>
        <p:txBody>
          <a:bodyPr wrap="square" lIns="0" tIns="0" rIns="0" bIns="0" rtlCol="0" anchor="t"/>
          <a:lstStyle/>
          <a:p>
            <a:pPr marL="203200" indent="-203200">
              <a:lnSpc>
                <a:spcPct val="103000"/>
              </a:lnSpc>
              <a:buSzPct val="100000"/>
              <a:buChar char="•"/>
            </a:pPr>
            <a:r>
              <a:rPr lang="en-US" sz="1350" b="1" dirty="0">
                <a:solidFill>
                  <a:srgbClr val="1B1D29"/>
                </a:solidFill>
                <a:latin typeface="Calibri" pitchFamily="34" charset="0"/>
                <a:ea typeface="Calibri" pitchFamily="34" charset="-122"/>
                <a:cs typeface="Calibri" pitchFamily="34" charset="-120"/>
              </a:rPr>
              <a:t>Palms stopped flipping.  </a:t>
            </a:r>
            <a:pPr indent="0" marL="0">
              <a:lnSpc>
                <a:spcPct val="103000"/>
              </a:lnSpc>
              <a:spcAft>
                <a:spcPts val="1300"/>
              </a:spcAft>
              <a:buNone/>
            </a:pPr>
            <a:r>
              <a:rPr lang="en-US" sz="1350" dirty="0">
                <a:solidFill>
                  <a:srgbClr val="5A5E76"/>
                </a:solidFill>
                <a:latin typeface="Calibri" pitchFamily="34" charset="0"/>
                <a:ea typeface="Calibri" pitchFamily="34" charset="-122"/>
                <a:cs typeface="Calibri" pitchFamily="34" charset="-120"/>
              </a:rPr>
              <a:t>The tracker flipped the hand 180° between frames; I now reject the physically-impossible frames.</a:t>
            </a:r>
            <a:endParaRPr lang="en-US" sz="1350" dirty="0"/>
          </a:p>
          <a:p>
            <a:pPr marL="203200" indent="-203200">
              <a:lnSpc>
                <a:spcPct val="103000"/>
              </a:lnSpc>
              <a:buSzPct val="100000"/>
              <a:buChar char="•"/>
            </a:pPr>
            <a:r>
              <a:rPr lang="en-US" sz="1350" b="1" dirty="0">
                <a:solidFill>
                  <a:srgbClr val="1B1D29"/>
                </a:solidFill>
                <a:latin typeface="Calibri" pitchFamily="34" charset="0"/>
                <a:ea typeface="Calibri" pitchFamily="34" charset="-122"/>
                <a:cs typeface="Calibri" pitchFamily="34" charset="-120"/>
              </a:rPr>
              <a:t>Fingers stopped folding.  </a:t>
            </a:r>
            <a:pPr indent="0" marL="0">
              <a:lnSpc>
                <a:spcPct val="103000"/>
              </a:lnSpc>
              <a:spcAft>
                <a:spcPts val="1300"/>
              </a:spcAft>
              <a:buNone/>
            </a:pPr>
            <a:r>
              <a:rPr lang="en-US" sz="1350" dirty="0">
                <a:solidFill>
                  <a:srgbClr val="5A5E76"/>
                </a:solidFill>
                <a:latin typeface="Calibri" pitchFamily="34" charset="0"/>
                <a:ea typeface="Calibri" pitchFamily="34" charset="-122"/>
                <a:cs typeface="Calibri" pitchFamily="34" charset="-120"/>
              </a:rPr>
              <a:t>Averaging hand positions curled them into impossible shapes — I average rotations instead.</a:t>
            </a:r>
            <a:endParaRPr lang="en-US" sz="1350" dirty="0"/>
          </a:p>
          <a:p>
            <a:pPr marL="203200" indent="-203200">
              <a:lnSpc>
                <a:spcPct val="103000"/>
              </a:lnSpc>
              <a:buSzPct val="100000"/>
              <a:buChar char="•"/>
            </a:pPr>
            <a:r>
              <a:rPr lang="en-US" sz="1350" b="1" dirty="0">
                <a:solidFill>
                  <a:srgbClr val="1B1D29"/>
                </a:solidFill>
                <a:latin typeface="Calibri" pitchFamily="34" charset="0"/>
                <a:ea typeface="Calibri" pitchFamily="34" charset="-122"/>
                <a:cs typeface="Calibri" pitchFamily="34" charset="-120"/>
              </a:rPr>
              <a:t>Hands stopped passing through each other.  </a:t>
            </a:r>
            <a:pPr indent="0" marL="0">
              <a:lnSpc>
                <a:spcPct val="103000"/>
              </a:lnSpc>
              <a:spcAft>
                <a:spcPts val="1300"/>
              </a:spcAft>
              <a:buNone/>
            </a:pPr>
            <a:r>
              <a:rPr lang="en-US" sz="1350" dirty="0">
                <a:solidFill>
                  <a:srgbClr val="5A5E76"/>
                </a:solidFill>
                <a:latin typeface="Calibri" pitchFamily="34" charset="0"/>
                <a:ea typeface="Calibri" pitchFamily="34" charset="-122"/>
                <a:cs typeface="Calibri" pitchFamily="34" charset="-120"/>
              </a:rPr>
              <a:t>I solve the elbow (IK) and push the wrists apart by exactly enough to clear the hands.</a:t>
            </a:r>
            <a:endParaRPr lang="en-US" sz="1350" dirty="0"/>
          </a:p>
          <a:p>
            <a:pPr marL="203200" indent="-203200">
              <a:lnSpc>
                <a:spcPct val="103000"/>
              </a:lnSpc>
              <a:buSzPct val="100000"/>
              <a:buChar char="•"/>
            </a:pPr>
            <a:r>
              <a:rPr lang="en-US" sz="1350" b="1" dirty="0">
                <a:solidFill>
                  <a:srgbClr val="1B1D29"/>
                </a:solidFill>
                <a:latin typeface="Calibri" pitchFamily="34" charset="0"/>
                <a:ea typeface="Calibri" pitchFamily="34" charset="-122"/>
                <a:cs typeface="Calibri" pitchFamily="34" charset="-120"/>
              </a:rPr>
              <a:t>Shaky signs stopped shipping shaky.  </a:t>
            </a:r>
            <a:pPr indent="0" marL="0">
              <a:lnSpc>
                <a:spcPct val="103000"/>
              </a:lnSpc>
              <a:buNone/>
            </a:pPr>
            <a:r>
              <a:rPr lang="en-US" sz="1350" dirty="0">
                <a:solidFill>
                  <a:srgbClr val="5A5E76"/>
                </a:solidFill>
                <a:latin typeface="Calibri" pitchFamily="34" charset="0"/>
                <a:ea typeface="Calibri" pitchFamily="34" charset="-122"/>
                <a:cs typeface="Calibri" pitchFamily="34" charset="-120"/>
              </a:rPr>
              <a:t>Smoothing is now judged on jerk, so a trembling clip gets damped before it ships.</a:t>
            </a:r>
            <a:endParaRPr lang="en-US" sz="1350" dirty="0"/>
          </a:p>
        </p:txBody>
      </p:sp>
      <p:sp>
        <p:nvSpPr>
          <p:cNvPr id="5" name="Text 3"/>
          <p:cNvSpPr txBox="1"/>
          <p:nvPr/>
        </p:nvSpPr>
        <p:spPr>
          <a:xfrm>
            <a:off x="7223760" y="1783080"/>
            <a:ext cx="4419295" cy="274320"/>
          </a:xfrm>
          <a:prstGeom prst="rect">
            <a:avLst/>
          </a:prstGeom>
          <a:noFill/>
          <a:ln/>
        </p:spPr>
        <p:txBody>
          <a:bodyPr wrap="square" lIns="0" tIns="0" rIns="0" bIns="0" rtlCol="0" anchor="ctr"/>
          <a:lstStyle/>
          <a:p>
            <a:pPr indent="0" marL="0">
              <a:buNone/>
            </a:pPr>
            <a:r>
              <a:rPr lang="en-US" sz="1100" b="1" spc="150" kern="0" dirty="0">
                <a:solidFill>
                  <a:srgbClr val="B06712"/>
                </a:solidFill>
                <a:latin typeface="Calibri" pitchFamily="34" charset="0"/>
                <a:ea typeface="Calibri" pitchFamily="34" charset="-122"/>
                <a:cs typeface="Calibri" pitchFamily="34" charset="-120"/>
              </a:rPr>
              <a:t>BEFORE  →  AFTER</a:t>
            </a:r>
            <a:endParaRPr lang="en-US" sz="1100" dirty="0"/>
          </a:p>
        </p:txBody>
      </p:sp>
      <p:sp>
        <p:nvSpPr>
          <p:cNvPr id="6" name="Text 4"/>
          <p:cNvSpPr txBox="1"/>
          <p:nvPr/>
        </p:nvSpPr>
        <p:spPr>
          <a:xfrm>
            <a:off x="7223760" y="2148840"/>
            <a:ext cx="4419295" cy="548640"/>
          </a:xfrm>
          <a:prstGeom prst="rect">
            <a:avLst/>
          </a:prstGeom>
          <a:noFill/>
          <a:ln/>
        </p:spPr>
        <p:txBody>
          <a:bodyPr wrap="square" lIns="0" tIns="0" rIns="0" bIns="0" rtlCol="0" anchor="ctr"/>
          <a:lstStyle/>
          <a:p>
            <a:pPr indent="0" marL="0">
              <a:buNone/>
            </a:pPr>
            <a:r>
              <a:rPr lang="en-US" sz="2800" b="1" dirty="0">
                <a:solidFill>
                  <a:srgbClr val="33357A"/>
                </a:solidFill>
                <a:latin typeface="Calibri" pitchFamily="34" charset="0"/>
                <a:ea typeface="Calibri" pitchFamily="34" charset="-122"/>
                <a:cs typeface="Calibri" pitchFamily="34" charset="-120"/>
              </a:rPr>
              <a:t>177° → ~20°</a:t>
            </a:r>
            <a:endParaRPr lang="en-US" sz="2800" dirty="0"/>
          </a:p>
        </p:txBody>
      </p:sp>
      <p:sp>
        <p:nvSpPr>
          <p:cNvPr id="7" name="Text 5"/>
          <p:cNvSpPr txBox="1"/>
          <p:nvPr/>
        </p:nvSpPr>
        <p:spPr>
          <a:xfrm>
            <a:off x="7223760" y="2697480"/>
            <a:ext cx="4419295" cy="548640"/>
          </a:xfrm>
          <a:prstGeom prst="rect">
            <a:avLst/>
          </a:prstGeom>
          <a:noFill/>
          <a:ln/>
        </p:spPr>
        <p:txBody>
          <a:bodyPr wrap="square" lIns="0" tIns="0" rIns="0" bIns="0" rtlCol="0" anchor="t"/>
          <a:lstStyle/>
          <a:p>
            <a:pPr indent="0" marL="0">
              <a:lnSpc>
                <a:spcPct val="100000"/>
              </a:lnSpc>
              <a:buNone/>
            </a:pPr>
            <a:r>
              <a:rPr lang="en-US" sz="1200" dirty="0">
                <a:solidFill>
                  <a:srgbClr val="5A5E76"/>
                </a:solidFill>
                <a:latin typeface="Calibri" pitchFamily="34" charset="0"/>
                <a:ea typeface="Calibri" pitchFamily="34" charset="-122"/>
                <a:cs typeface="Calibri" pitchFamily="34" charset="-120"/>
              </a:rPr>
              <a:t>worst-case wrist snap, per frame</a:t>
            </a:r>
            <a:endParaRPr lang="en-US" sz="1200" dirty="0"/>
          </a:p>
        </p:txBody>
      </p:sp>
      <p:sp>
        <p:nvSpPr>
          <p:cNvPr id="8" name="Text 6"/>
          <p:cNvSpPr txBox="1"/>
          <p:nvPr/>
        </p:nvSpPr>
        <p:spPr>
          <a:xfrm>
            <a:off x="7223760" y="3383280"/>
            <a:ext cx="4419295" cy="548640"/>
          </a:xfrm>
          <a:prstGeom prst="rect">
            <a:avLst/>
          </a:prstGeom>
          <a:noFill/>
          <a:ln/>
        </p:spPr>
        <p:txBody>
          <a:bodyPr wrap="square" lIns="0" tIns="0" rIns="0" bIns="0" rtlCol="0" anchor="ctr"/>
          <a:lstStyle/>
          <a:p>
            <a:pPr indent="0" marL="0">
              <a:buNone/>
            </a:pPr>
            <a:r>
              <a:rPr lang="en-US" sz="2800" b="1" dirty="0">
                <a:solidFill>
                  <a:srgbClr val="2F7D6B"/>
                </a:solidFill>
                <a:latin typeface="Calibri" pitchFamily="34" charset="0"/>
                <a:ea typeface="Calibri" pitchFamily="34" charset="-122"/>
                <a:cs typeface="Calibri" pitchFamily="34" charset="-120"/>
              </a:rPr>
              <a:t>6.2% → 0%</a:t>
            </a:r>
            <a:endParaRPr lang="en-US" sz="2800" dirty="0"/>
          </a:p>
        </p:txBody>
      </p:sp>
      <p:sp>
        <p:nvSpPr>
          <p:cNvPr id="9" name="Text 7"/>
          <p:cNvSpPr txBox="1"/>
          <p:nvPr/>
        </p:nvSpPr>
        <p:spPr>
          <a:xfrm>
            <a:off x="7223760" y="3931920"/>
            <a:ext cx="4419295" cy="548640"/>
          </a:xfrm>
          <a:prstGeom prst="rect">
            <a:avLst/>
          </a:prstGeom>
          <a:noFill/>
          <a:ln/>
        </p:spPr>
        <p:txBody>
          <a:bodyPr wrap="square" lIns="0" tIns="0" rIns="0" bIns="0" rtlCol="0" anchor="t"/>
          <a:lstStyle/>
          <a:p>
            <a:pPr indent="0" marL="0">
              <a:lnSpc>
                <a:spcPct val="100000"/>
              </a:lnSpc>
              <a:buNone/>
            </a:pPr>
            <a:r>
              <a:rPr lang="en-US" sz="1200" dirty="0">
                <a:solidFill>
                  <a:srgbClr val="5A5E76"/>
                </a:solidFill>
                <a:latin typeface="Calibri" pitchFamily="34" charset="0"/>
                <a:ea typeface="Calibri" pitchFamily="34" charset="-122"/>
                <a:cs typeface="Calibri" pitchFamily="34" charset="-120"/>
              </a:rPr>
              <a:t>frames that were physically impossible</a:t>
            </a:r>
            <a:endParaRPr lang="en-US" sz="1200" dirty="0"/>
          </a:p>
        </p:txBody>
      </p:sp>
      <p:sp>
        <p:nvSpPr>
          <p:cNvPr id="10" name="Text 8"/>
          <p:cNvSpPr txBox="1"/>
          <p:nvPr/>
        </p:nvSpPr>
        <p:spPr>
          <a:xfrm>
            <a:off x="7223760" y="4617720"/>
            <a:ext cx="4419295" cy="548640"/>
          </a:xfrm>
          <a:prstGeom prst="rect">
            <a:avLst/>
          </a:prstGeom>
          <a:noFill/>
          <a:ln/>
        </p:spPr>
        <p:txBody>
          <a:bodyPr wrap="square" lIns="0" tIns="0" rIns="0" bIns="0" rtlCol="0" anchor="ctr"/>
          <a:lstStyle/>
          <a:p>
            <a:pPr indent="0" marL="0">
              <a:buNone/>
            </a:pPr>
            <a:r>
              <a:rPr lang="en-US" sz="2800" b="1" dirty="0">
                <a:solidFill>
                  <a:srgbClr val="B06712"/>
                </a:solidFill>
                <a:latin typeface="Calibri" pitchFamily="34" charset="0"/>
                <a:ea typeface="Calibri" pitchFamily="34" charset="-122"/>
                <a:cs typeface="Calibri" pitchFamily="34" charset="-120"/>
              </a:rPr>
              <a:t>21 → 0</a:t>
            </a:r>
            <a:endParaRPr lang="en-US" sz="2800" dirty="0"/>
          </a:p>
        </p:txBody>
      </p:sp>
      <p:sp>
        <p:nvSpPr>
          <p:cNvPr id="11" name="Text 9"/>
          <p:cNvSpPr txBox="1"/>
          <p:nvPr/>
        </p:nvSpPr>
        <p:spPr>
          <a:xfrm>
            <a:off x="7223760" y="5166360"/>
            <a:ext cx="4419295" cy="548640"/>
          </a:xfrm>
          <a:prstGeom prst="rect">
            <a:avLst/>
          </a:prstGeom>
          <a:noFill/>
          <a:ln/>
        </p:spPr>
        <p:txBody>
          <a:bodyPr wrap="square" lIns="0" tIns="0" rIns="0" bIns="0" rtlCol="0" anchor="t"/>
          <a:lstStyle/>
          <a:p>
            <a:pPr indent="0" marL="0">
              <a:lnSpc>
                <a:spcPct val="100000"/>
              </a:lnSpc>
              <a:buNone/>
            </a:pPr>
            <a:r>
              <a:rPr lang="en-US" sz="1200" dirty="0">
                <a:solidFill>
                  <a:srgbClr val="5A5E76"/>
                </a:solidFill>
                <a:latin typeface="Calibri" pitchFamily="34" charset="0"/>
                <a:ea typeface="Calibri" pitchFamily="34" charset="-122"/>
                <a:cs typeface="Calibri" pitchFamily="34" charset="-120"/>
              </a:rPr>
              <a:t>frames where the two hands overlapped on “we”</a:t>
            </a:r>
            <a:endParaRPr lang="en-US" sz="1200" dirty="0"/>
          </a:p>
        </p:txBody>
      </p:sp>
      <p:sp>
        <p:nvSpPr>
          <p:cNvPr id="12" name="Text 10"/>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9A9EB2"/>
                </a:solidFill>
                <a:latin typeface="Calibri" pitchFamily="34" charset="0"/>
                <a:ea typeface="Calibri" pitchFamily="34" charset="-122"/>
                <a:cs typeface="Calibri" pitchFamily="34" charset="-120"/>
              </a:rPr>
              <a:t>AvatarEngine · ISL — weekly update</a:t>
            </a:r>
            <a:endParaRPr lang="en-US" sz="900" dirty="0"/>
          </a:p>
        </p:txBody>
      </p:sp>
      <p:sp>
        <p:nvSpPr>
          <p:cNvPr id="13" name="Text 11"/>
          <p:cNvSpPr txBox="1"/>
          <p:nvPr/>
        </p:nvSpPr>
        <p:spPr>
          <a:xfrm>
            <a:off x="10820095" y="6473952"/>
            <a:ext cx="822960" cy="274320"/>
          </a:xfrm>
          <a:prstGeom prst="rect">
            <a:avLst/>
          </a:prstGeom>
          <a:noFill/>
          <a:ln/>
        </p:spPr>
        <p:txBody>
          <a:bodyPr wrap="square" lIns="0" tIns="0" rIns="0" bIns="0" rtlCol="0" anchor="ctr"/>
          <a:lstStyle/>
          <a:p>
            <a:pPr algn="r" indent="0" marL="0">
              <a:buNone/>
            </a:pPr>
            <a:r>
              <a:rPr lang="en-US" sz="900" dirty="0">
                <a:solidFill>
                  <a:srgbClr val="9A9EB2"/>
                </a:solidFill>
                <a:latin typeface="Calibri" pitchFamily="34" charset="0"/>
                <a:ea typeface="Calibri" pitchFamily="34" charset="-122"/>
                <a:cs typeface="Calibri" pitchFamily="34" charset="-120"/>
              </a:rPr>
              <a:t>4 / 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20624"/>
            <a:ext cx="11094415" cy="274320"/>
          </a:xfrm>
          <a:prstGeom prst="rect">
            <a:avLst/>
          </a:prstGeom>
          <a:noFill/>
          <a:ln/>
        </p:spPr>
        <p:txBody>
          <a:bodyPr wrap="square" lIns="0" tIns="0" rIns="0" bIns="0" rtlCol="0" anchor="ctr"/>
          <a:lstStyle/>
          <a:p>
            <a:pPr indent="0" marL="0">
              <a:buNone/>
            </a:pPr>
            <a:r>
              <a:rPr lang="en-US" sz="1200" b="1" spc="200" kern="0" dirty="0">
                <a:solidFill>
                  <a:srgbClr val="B06712"/>
                </a:solidFill>
                <a:latin typeface="Calibri" pitchFamily="34" charset="0"/>
                <a:ea typeface="Calibri" pitchFamily="34" charset="-122"/>
                <a:cs typeface="Calibri" pitchFamily="34" charset="-120"/>
              </a:rPr>
              <a:t>THE REST OF THE WEEK</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ctr"/>
          <a:lstStyle/>
          <a:p>
            <a:pPr indent="0" marL="0">
              <a:lnSpc>
                <a:spcPct val="98000"/>
              </a:lnSpc>
              <a:buNone/>
            </a:pPr>
            <a:r>
              <a:rPr lang="en-US" sz="3100" b="1" dirty="0">
                <a:solidFill>
                  <a:srgbClr val="1B1D29"/>
                </a:solidFill>
                <a:latin typeface="Calibri" pitchFamily="34" charset="0"/>
                <a:ea typeface="Calibri" pitchFamily="34" charset="-122"/>
                <a:cs typeface="Calibri" pitchFamily="34" charset="-120"/>
              </a:rPr>
              <a:t>New signs, a better lecture page, and a phone.</a:t>
            </a:r>
            <a:endParaRPr lang="en-US" sz="3100" dirty="0"/>
          </a:p>
        </p:txBody>
      </p:sp>
      <p:sp>
        <p:nvSpPr>
          <p:cNvPr id="4" name="Shape 2"/>
          <p:cNvSpPr/>
          <p:nvPr/>
        </p:nvSpPr>
        <p:spPr>
          <a:xfrm>
            <a:off x="548640" y="1783080"/>
            <a:ext cx="3454298" cy="3200400"/>
          </a:xfrm>
          <a:prstGeom prst="roundRect">
            <a:avLst>
              <a:gd name="adj" fmla="val 2571"/>
            </a:avLst>
          </a:prstGeom>
          <a:solidFill>
            <a:srgbClr val="F2F2F9"/>
          </a:solidFill>
          <a:ln/>
          <a:effectLst>
            <a:outerShdw sx="100000" sy="100000" kx="0" ky="0" algn="bl" rotWithShape="0" blurRad="114300" dist="38100" dir="5400000">
              <a:srgbClr val="9195AE">
                <a:alpha val="30000"/>
              </a:srgbClr>
            </a:outerShdw>
          </a:effectLst>
        </p:spPr>
      </p:sp>
      <p:sp>
        <p:nvSpPr>
          <p:cNvPr id="5" name="Text 3"/>
          <p:cNvSpPr txBox="1"/>
          <p:nvPr/>
        </p:nvSpPr>
        <p:spPr>
          <a:xfrm>
            <a:off x="768096" y="1965960"/>
            <a:ext cx="3015386" cy="219456"/>
          </a:xfrm>
          <a:prstGeom prst="rect">
            <a:avLst/>
          </a:prstGeom>
          <a:noFill/>
          <a:ln/>
        </p:spPr>
        <p:txBody>
          <a:bodyPr wrap="square" lIns="0" tIns="0" rIns="0" bIns="0" rtlCol="0" anchor="ctr"/>
          <a:lstStyle/>
          <a:p>
            <a:pPr indent="0" marL="0">
              <a:buNone/>
            </a:pPr>
            <a:r>
              <a:rPr lang="en-US" sz="950" b="1" spc="140" kern="0" dirty="0">
                <a:solidFill>
                  <a:srgbClr val="33357A"/>
                </a:solidFill>
                <a:latin typeface="Calibri" pitchFamily="34" charset="0"/>
                <a:ea typeface="Calibri" pitchFamily="34" charset="-122"/>
                <a:cs typeface="Calibri" pitchFamily="34" charset="-120"/>
              </a:rPr>
              <a:t>+8 SIGNS · 9 → 17</a:t>
            </a:r>
            <a:endParaRPr lang="en-US" sz="950" dirty="0"/>
          </a:p>
        </p:txBody>
      </p:sp>
      <p:sp>
        <p:nvSpPr>
          <p:cNvPr id="6" name="Text 4"/>
          <p:cNvSpPr txBox="1"/>
          <p:nvPr/>
        </p:nvSpPr>
        <p:spPr>
          <a:xfrm>
            <a:off x="768096" y="2240280"/>
            <a:ext cx="3015386" cy="457200"/>
          </a:xfrm>
          <a:prstGeom prst="rect">
            <a:avLst/>
          </a:prstGeom>
          <a:noFill/>
          <a:ln/>
        </p:spPr>
        <p:txBody>
          <a:bodyPr wrap="square" lIns="0" tIns="0" rIns="0" bIns="0" rtlCol="0" anchor="t"/>
          <a:lstStyle/>
          <a:p>
            <a:pPr indent="0" marL="0">
              <a:lnSpc>
                <a:spcPct val="98000"/>
              </a:lnSpc>
              <a:buNone/>
            </a:pPr>
            <a:r>
              <a:rPr lang="en-US" sz="1600" b="1" dirty="0">
                <a:solidFill>
                  <a:srgbClr val="1B1D29"/>
                </a:solidFill>
                <a:latin typeface="Calibri" pitchFamily="34" charset="0"/>
                <a:ea typeface="Calibri" pitchFamily="34" charset="-122"/>
                <a:cs typeface="Calibri" pitchFamily="34" charset="-120"/>
              </a:rPr>
              <a:t>New vocabulary</a:t>
            </a:r>
            <a:endParaRPr lang="en-US" sz="1600" dirty="0"/>
          </a:p>
        </p:txBody>
      </p:sp>
      <p:sp>
        <p:nvSpPr>
          <p:cNvPr id="7" name="Text 5"/>
          <p:cNvSpPr txBox="1"/>
          <p:nvPr/>
        </p:nvSpPr>
        <p:spPr>
          <a:xfrm>
            <a:off x="768096" y="2624328"/>
            <a:ext cx="3015386" cy="2212848"/>
          </a:xfrm>
          <a:prstGeom prst="rect">
            <a:avLst/>
          </a:prstGeom>
          <a:noFill/>
          <a:ln/>
        </p:spPr>
        <p:txBody>
          <a:bodyPr wrap="square" lIns="0" tIns="0" rIns="0" bIns="0" rtlCol="0" anchor="t"/>
          <a:lstStyle/>
          <a:p>
            <a:pPr indent="0" marL="0">
              <a:lnSpc>
                <a:spcPct val="103000"/>
              </a:lnSpc>
              <a:buNone/>
            </a:pPr>
            <a:r>
              <a:rPr lang="en-US" sz="1250" dirty="0">
                <a:solidFill>
                  <a:srgbClr val="5A5E76"/>
                </a:solidFill>
                <a:latin typeface="Calibri" pitchFamily="34" charset="0"/>
                <a:ea typeface="Calibri" pitchFamily="34" charset="-122"/>
                <a:cs typeface="Calibri" pitchFamily="34" charset="-120"/>
              </a:rPr>
              <a:t>Added the pronouns — I, you, he, she, it, we, you (plural), they — each captured from video and averaged the same way. No new code per sign; one library row.</a:t>
            </a:r>
            <a:endParaRPr lang="en-US" sz="1250" dirty="0"/>
          </a:p>
        </p:txBody>
      </p:sp>
      <p:sp>
        <p:nvSpPr>
          <p:cNvPr id="8" name="Shape 6"/>
          <p:cNvSpPr/>
          <p:nvPr/>
        </p:nvSpPr>
        <p:spPr>
          <a:xfrm>
            <a:off x="4368698" y="1783080"/>
            <a:ext cx="3454298" cy="3200400"/>
          </a:xfrm>
          <a:prstGeom prst="roundRect">
            <a:avLst>
              <a:gd name="adj" fmla="val 2571"/>
            </a:avLst>
          </a:prstGeom>
          <a:solidFill>
            <a:srgbClr val="F2F2F9"/>
          </a:solidFill>
          <a:ln/>
          <a:effectLst>
            <a:outerShdw sx="100000" sy="100000" kx="0" ky="0" algn="bl" rotWithShape="0" blurRad="114300" dist="38100" dir="5400000">
              <a:srgbClr val="9195AE">
                <a:alpha val="30000"/>
              </a:srgbClr>
            </a:outerShdw>
          </a:effectLst>
        </p:spPr>
      </p:sp>
      <p:sp>
        <p:nvSpPr>
          <p:cNvPr id="9" name="Text 7"/>
          <p:cNvSpPr txBox="1"/>
          <p:nvPr/>
        </p:nvSpPr>
        <p:spPr>
          <a:xfrm>
            <a:off x="4588154" y="1965960"/>
            <a:ext cx="3015386" cy="219456"/>
          </a:xfrm>
          <a:prstGeom prst="rect">
            <a:avLst/>
          </a:prstGeom>
          <a:noFill/>
          <a:ln/>
        </p:spPr>
        <p:txBody>
          <a:bodyPr wrap="square" lIns="0" tIns="0" rIns="0" bIns="0" rtlCol="0" anchor="ctr"/>
          <a:lstStyle/>
          <a:p>
            <a:pPr indent="0" marL="0">
              <a:buNone/>
            </a:pPr>
            <a:r>
              <a:rPr lang="en-US" sz="950" b="1" spc="140" kern="0" dirty="0">
                <a:solidFill>
                  <a:srgbClr val="B06712"/>
                </a:solidFill>
                <a:latin typeface="Calibri" pitchFamily="34" charset="0"/>
                <a:ea typeface="Calibri" pitchFamily="34" charset="-122"/>
                <a:cs typeface="Calibri" pitchFamily="34" charset="-120"/>
              </a:rPr>
              <a:t>LECTURE PAGE</a:t>
            </a:r>
            <a:endParaRPr lang="en-US" sz="950" dirty="0"/>
          </a:p>
        </p:txBody>
      </p:sp>
      <p:sp>
        <p:nvSpPr>
          <p:cNvPr id="10" name="Text 8"/>
          <p:cNvSpPr txBox="1"/>
          <p:nvPr/>
        </p:nvSpPr>
        <p:spPr>
          <a:xfrm>
            <a:off x="4588154" y="2240280"/>
            <a:ext cx="3015386" cy="457200"/>
          </a:xfrm>
          <a:prstGeom prst="rect">
            <a:avLst/>
          </a:prstGeom>
          <a:noFill/>
          <a:ln/>
        </p:spPr>
        <p:txBody>
          <a:bodyPr wrap="square" lIns="0" tIns="0" rIns="0" bIns="0" rtlCol="0" anchor="t"/>
          <a:lstStyle/>
          <a:p>
            <a:pPr indent="0" marL="0">
              <a:lnSpc>
                <a:spcPct val="98000"/>
              </a:lnSpc>
              <a:buNone/>
            </a:pPr>
            <a:r>
              <a:rPr lang="en-US" sz="1600" b="1" dirty="0">
                <a:solidFill>
                  <a:srgbClr val="1B1D29"/>
                </a:solidFill>
                <a:latin typeface="Calibri" pitchFamily="34" charset="0"/>
                <a:ea typeface="Calibri" pitchFamily="34" charset="-122"/>
                <a:cs typeface="Calibri" pitchFamily="34" charset="-120"/>
              </a:rPr>
              <a:t>Now actually usable</a:t>
            </a:r>
            <a:endParaRPr lang="en-US" sz="1600" dirty="0"/>
          </a:p>
        </p:txBody>
      </p:sp>
      <p:sp>
        <p:nvSpPr>
          <p:cNvPr id="11" name="Text 9"/>
          <p:cNvSpPr txBox="1"/>
          <p:nvPr/>
        </p:nvSpPr>
        <p:spPr>
          <a:xfrm>
            <a:off x="4588154" y="2624328"/>
            <a:ext cx="3015386" cy="2212848"/>
          </a:xfrm>
          <a:prstGeom prst="rect">
            <a:avLst/>
          </a:prstGeom>
          <a:noFill/>
          <a:ln/>
        </p:spPr>
        <p:txBody>
          <a:bodyPr wrap="square" lIns="0" tIns="0" rIns="0" bIns="0" rtlCol="0" anchor="t"/>
          <a:lstStyle/>
          <a:p>
            <a:pPr indent="0" marL="0">
              <a:lnSpc>
                <a:spcPct val="103000"/>
              </a:lnSpc>
              <a:buNone/>
            </a:pPr>
            <a:r>
              <a:rPr lang="en-US" sz="1250" dirty="0">
                <a:solidFill>
                  <a:srgbClr val="5A5E76"/>
                </a:solidFill>
                <a:latin typeface="Calibri" pitchFamily="34" charset="0"/>
                <a:ea typeface="Calibri" pitchFamily="34" charset="-122"/>
                <a:cs typeface="Calibri" pitchFamily="34" charset="-120"/>
              </a:rPr>
              <a:t>Orbit &amp; zoom the avatar; it lags slightly to stay in sync with the video (and stops if it can’t keep up); failed fetches now say what went wrong.</a:t>
            </a:r>
            <a:endParaRPr lang="en-US" sz="1250" dirty="0"/>
          </a:p>
        </p:txBody>
      </p:sp>
      <p:sp>
        <p:nvSpPr>
          <p:cNvPr id="12" name="Shape 10"/>
          <p:cNvSpPr/>
          <p:nvPr/>
        </p:nvSpPr>
        <p:spPr>
          <a:xfrm>
            <a:off x="8188757" y="1783080"/>
            <a:ext cx="3454298" cy="3200400"/>
          </a:xfrm>
          <a:prstGeom prst="roundRect">
            <a:avLst>
              <a:gd name="adj" fmla="val 2571"/>
            </a:avLst>
          </a:prstGeom>
          <a:solidFill>
            <a:srgbClr val="F2F2F9"/>
          </a:solidFill>
          <a:ln/>
          <a:effectLst>
            <a:outerShdw sx="100000" sy="100000" kx="0" ky="0" algn="bl" rotWithShape="0" blurRad="114300" dist="38100" dir="5400000">
              <a:srgbClr val="9195AE">
                <a:alpha val="30000"/>
              </a:srgbClr>
            </a:outerShdw>
          </a:effectLst>
        </p:spPr>
      </p:sp>
      <p:sp>
        <p:nvSpPr>
          <p:cNvPr id="13" name="Text 11"/>
          <p:cNvSpPr txBox="1"/>
          <p:nvPr/>
        </p:nvSpPr>
        <p:spPr>
          <a:xfrm>
            <a:off x="8408213" y="1965960"/>
            <a:ext cx="3015386" cy="219456"/>
          </a:xfrm>
          <a:prstGeom prst="rect">
            <a:avLst/>
          </a:prstGeom>
          <a:noFill/>
          <a:ln/>
        </p:spPr>
        <p:txBody>
          <a:bodyPr wrap="square" lIns="0" tIns="0" rIns="0" bIns="0" rtlCol="0" anchor="ctr"/>
          <a:lstStyle/>
          <a:p>
            <a:pPr indent="0" marL="0">
              <a:buNone/>
            </a:pPr>
            <a:r>
              <a:rPr lang="en-US" sz="950" b="1" spc="140" kern="0" dirty="0">
                <a:solidFill>
                  <a:srgbClr val="2F7D6B"/>
                </a:solidFill>
                <a:latin typeface="Calibri" pitchFamily="34" charset="0"/>
                <a:ea typeface="Calibri" pitchFamily="34" charset="-122"/>
                <a:cs typeface="Calibri" pitchFamily="34" charset="-120"/>
              </a:rPr>
              <a:t>PHONE DEMO</a:t>
            </a:r>
            <a:endParaRPr lang="en-US" sz="950" dirty="0"/>
          </a:p>
        </p:txBody>
      </p:sp>
      <p:sp>
        <p:nvSpPr>
          <p:cNvPr id="14" name="Text 12"/>
          <p:cNvSpPr txBox="1"/>
          <p:nvPr/>
        </p:nvSpPr>
        <p:spPr>
          <a:xfrm>
            <a:off x="8408213" y="2240280"/>
            <a:ext cx="3015386" cy="457200"/>
          </a:xfrm>
          <a:prstGeom prst="rect">
            <a:avLst/>
          </a:prstGeom>
          <a:noFill/>
          <a:ln/>
        </p:spPr>
        <p:txBody>
          <a:bodyPr wrap="square" lIns="0" tIns="0" rIns="0" bIns="0" rtlCol="0" anchor="t"/>
          <a:lstStyle/>
          <a:p>
            <a:pPr indent="0" marL="0">
              <a:lnSpc>
                <a:spcPct val="98000"/>
              </a:lnSpc>
              <a:buNone/>
            </a:pPr>
            <a:r>
              <a:rPr lang="en-US" sz="1600" b="1" dirty="0">
                <a:solidFill>
                  <a:srgbClr val="1B1D29"/>
                </a:solidFill>
                <a:latin typeface="Calibri" pitchFamily="34" charset="0"/>
                <a:ea typeface="Calibri" pitchFamily="34" charset="-122"/>
                <a:cs typeface="Calibri" pitchFamily="34" charset="-120"/>
              </a:rPr>
              <a:t>A handset, not a mockup</a:t>
            </a:r>
            <a:endParaRPr lang="en-US" sz="1600" dirty="0"/>
          </a:p>
        </p:txBody>
      </p:sp>
      <p:sp>
        <p:nvSpPr>
          <p:cNvPr id="15" name="Text 13"/>
          <p:cNvSpPr txBox="1"/>
          <p:nvPr/>
        </p:nvSpPr>
        <p:spPr>
          <a:xfrm>
            <a:off x="8408213" y="2624328"/>
            <a:ext cx="3015386" cy="2212848"/>
          </a:xfrm>
          <a:prstGeom prst="rect">
            <a:avLst/>
          </a:prstGeom>
          <a:noFill/>
          <a:ln/>
        </p:spPr>
        <p:txBody>
          <a:bodyPr wrap="square" lIns="0" tIns="0" rIns="0" bIns="0" rtlCol="0" anchor="t"/>
          <a:lstStyle/>
          <a:p>
            <a:pPr indent="0" marL="0">
              <a:lnSpc>
                <a:spcPct val="103000"/>
              </a:lnSpc>
              <a:buNone/>
            </a:pPr>
            <a:r>
              <a:rPr lang="en-US" sz="1250" dirty="0">
                <a:solidFill>
                  <a:srgbClr val="5A5E76"/>
                </a:solidFill>
                <a:latin typeface="Calibri" pitchFamily="34" charset="0"/>
                <a:ea typeface="Calibri" pitchFamily="34" charset="-122"/>
                <a:cs typeface="Calibri" pitchFamily="34" charset="-120"/>
              </a:rPr>
              <a:t>Wrapped the static build as an Android app and a projectable handset shell — a real 375px app with a tab bar inside the device.</a:t>
            </a:r>
            <a:endParaRPr lang="en-US" sz="1250" dirty="0"/>
          </a:p>
        </p:txBody>
      </p:sp>
      <p:sp>
        <p:nvSpPr>
          <p:cNvPr id="16" name="Text 14"/>
          <p:cNvSpPr txBox="1"/>
          <p:nvPr/>
        </p:nvSpPr>
        <p:spPr>
          <a:xfrm>
            <a:off x="548640" y="5257800"/>
            <a:ext cx="11094415" cy="457200"/>
          </a:xfrm>
          <a:prstGeom prst="rect">
            <a:avLst/>
          </a:prstGeom>
          <a:noFill/>
          <a:ln/>
        </p:spPr>
        <p:txBody>
          <a:bodyPr wrap="square" lIns="0" tIns="0" rIns="0" bIns="0" rtlCol="0" anchor="t"/>
          <a:lstStyle/>
          <a:p>
            <a:pPr indent="0" marL="0">
              <a:buNone/>
            </a:pPr>
            <a:r>
              <a:rPr lang="en-US" sz="1300" b="1" dirty="0">
                <a:solidFill>
                  <a:srgbClr val="1B1D29"/>
                </a:solidFill>
                <a:latin typeface="Calibri" pitchFamily="34" charset="0"/>
                <a:ea typeface="Calibri" pitchFamily="34" charset="-122"/>
                <a:cs typeface="Calibri" pitchFamily="34" charset="-120"/>
              </a:rPr>
              <a:t>All of it committed Wed–Fri.  </a:t>
            </a:r>
            <a:pPr indent="0" marL="0">
              <a:buNone/>
            </a:pPr>
            <a:r>
              <a:rPr lang="en-US" sz="1300" dirty="0">
                <a:solidFill>
                  <a:srgbClr val="5A5E76"/>
                </a:solidFill>
                <a:latin typeface="Calibri" pitchFamily="34" charset="0"/>
                <a:ea typeface="Calibri" pitchFamily="34" charset="-122"/>
                <a:cs typeface="Calibri" pitchFamily="34" charset="-120"/>
              </a:rPr>
              <a:t>Same avatar, same pipelines — the week was polish and reach, not a rewrite.</a:t>
            </a:r>
            <a:endParaRPr lang="en-US" sz="1300" dirty="0"/>
          </a:p>
        </p:txBody>
      </p:sp>
      <p:sp>
        <p:nvSpPr>
          <p:cNvPr id="17" name="Text 15"/>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9A9EB2"/>
                </a:solidFill>
                <a:latin typeface="Calibri" pitchFamily="34" charset="0"/>
                <a:ea typeface="Calibri" pitchFamily="34" charset="-122"/>
                <a:cs typeface="Calibri" pitchFamily="34" charset="-120"/>
              </a:rPr>
              <a:t>AvatarEngine · ISL — weekly update</a:t>
            </a:r>
            <a:endParaRPr lang="en-US" sz="900" dirty="0"/>
          </a:p>
        </p:txBody>
      </p:sp>
      <p:sp>
        <p:nvSpPr>
          <p:cNvPr id="18" name="Text 16"/>
          <p:cNvSpPr txBox="1"/>
          <p:nvPr/>
        </p:nvSpPr>
        <p:spPr>
          <a:xfrm>
            <a:off x="10820095" y="6473952"/>
            <a:ext cx="822960" cy="274320"/>
          </a:xfrm>
          <a:prstGeom prst="rect">
            <a:avLst/>
          </a:prstGeom>
          <a:noFill/>
          <a:ln/>
        </p:spPr>
        <p:txBody>
          <a:bodyPr wrap="square" lIns="0" tIns="0" rIns="0" bIns="0" rtlCol="0" anchor="ctr"/>
          <a:lstStyle/>
          <a:p>
            <a:pPr algn="r" indent="0" marL="0">
              <a:buNone/>
            </a:pPr>
            <a:r>
              <a:rPr lang="en-US" sz="900" dirty="0">
                <a:solidFill>
                  <a:srgbClr val="9A9EB2"/>
                </a:solidFill>
                <a:latin typeface="Calibri" pitchFamily="34" charset="0"/>
                <a:ea typeface="Calibri" pitchFamily="34" charset="-122"/>
                <a:cs typeface="Calibri" pitchFamily="34" charset="-120"/>
              </a:rPr>
              <a:t>5 /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02250"/>
        </a:solidFill>
      </p:bgPr>
    </p:bg>
    <p:spTree>
      <p:nvGrpSpPr>
        <p:cNvPr id="1" name=""/>
        <p:cNvGrpSpPr/>
        <p:nvPr/>
      </p:nvGrpSpPr>
      <p:grpSpPr>
        <a:xfrm>
          <a:off x="0" y="0"/>
          <a:ext cx="0" cy="0"/>
          <a:chOff x="0" y="0"/>
          <a:chExt cx="0" cy="0"/>
        </a:xfrm>
      </p:grpSpPr>
      <p:sp>
        <p:nvSpPr>
          <p:cNvPr id="2" name="Text 0"/>
          <p:cNvSpPr txBox="1"/>
          <p:nvPr/>
        </p:nvSpPr>
        <p:spPr>
          <a:xfrm>
            <a:off x="548640" y="420624"/>
            <a:ext cx="11094415" cy="274320"/>
          </a:xfrm>
          <a:prstGeom prst="rect">
            <a:avLst/>
          </a:prstGeom>
          <a:noFill/>
          <a:ln/>
        </p:spPr>
        <p:txBody>
          <a:bodyPr wrap="square" lIns="0" tIns="0" rIns="0" bIns="0" rtlCol="0" anchor="ctr"/>
          <a:lstStyle/>
          <a:p>
            <a:pPr indent="0" marL="0">
              <a:buNone/>
            </a:pPr>
            <a:r>
              <a:rPr lang="en-US" sz="1200" b="1" spc="200" kern="0" dirty="0">
                <a:solidFill>
                  <a:srgbClr val="E6A64A"/>
                </a:solidFill>
                <a:latin typeface="Calibri" pitchFamily="34" charset="0"/>
                <a:ea typeface="Calibri" pitchFamily="34" charset="-122"/>
                <a:cs typeface="Calibri" pitchFamily="34" charset="-120"/>
              </a:rPr>
              <a:t>WHERE IT STANDS — AND NEXT</a:t>
            </a:r>
            <a:endParaRPr lang="en-US" sz="1200" dirty="0"/>
          </a:p>
        </p:txBody>
      </p:sp>
      <p:sp>
        <p:nvSpPr>
          <p:cNvPr id="3" name="Text 1"/>
          <p:cNvSpPr txBox="1"/>
          <p:nvPr/>
        </p:nvSpPr>
        <p:spPr>
          <a:xfrm>
            <a:off x="548640" y="731520"/>
            <a:ext cx="11094415" cy="914400"/>
          </a:xfrm>
          <a:prstGeom prst="rect">
            <a:avLst/>
          </a:prstGeom>
          <a:noFill/>
          <a:ln/>
        </p:spPr>
        <p:txBody>
          <a:bodyPr wrap="square" lIns="0" tIns="0" rIns="0" bIns="0" rtlCol="0" anchor="ctr"/>
          <a:lstStyle/>
          <a:p>
            <a:pPr indent="0" marL="0">
              <a:lnSpc>
                <a:spcPct val="98000"/>
              </a:lnSpc>
              <a:buNone/>
            </a:pPr>
            <a:r>
              <a:rPr lang="en-US" sz="3100" b="1" dirty="0">
                <a:solidFill>
                  <a:srgbClr val="FFFFFF"/>
                </a:solidFill>
                <a:latin typeface="Calibri" pitchFamily="34" charset="0"/>
                <a:ea typeface="Calibri" pitchFamily="34" charset="-122"/>
                <a:cs typeface="Calibri" pitchFamily="34" charset="-120"/>
              </a:rPr>
              <a:t>A good week. Here’s the state, and what’s next.</a:t>
            </a:r>
            <a:endParaRPr lang="en-US" sz="3100" dirty="0"/>
          </a:p>
        </p:txBody>
      </p:sp>
      <p:sp>
        <p:nvSpPr>
          <p:cNvPr id="4" name="Text 2"/>
          <p:cNvSpPr txBox="1"/>
          <p:nvPr/>
        </p:nvSpPr>
        <p:spPr>
          <a:xfrm>
            <a:off x="548640" y="1874520"/>
            <a:ext cx="6492240" cy="2743200"/>
          </a:xfrm>
          <a:prstGeom prst="rect">
            <a:avLst/>
          </a:prstGeom>
          <a:noFill/>
          <a:ln/>
        </p:spPr>
        <p:txBody>
          <a:bodyPr wrap="square" lIns="0" tIns="0" rIns="0" bIns="0" rtlCol="0" anchor="t"/>
          <a:lstStyle/>
          <a:p>
            <a:pPr marL="203200" indent="-203200">
              <a:lnSpc>
                <a:spcPct val="103000"/>
              </a:lnSpc>
              <a:buSzPct val="100000"/>
              <a:buChar char="•"/>
            </a:pPr>
            <a:r>
              <a:rPr lang="en-US" sz="1500" b="1" dirty="0">
                <a:solidFill>
                  <a:srgbClr val="FFFFFF"/>
                </a:solidFill>
                <a:latin typeface="Calibri" pitchFamily="34" charset="0"/>
                <a:ea typeface="Calibri" pitchFamily="34" charset="-122"/>
                <a:cs typeface="Calibri" pitchFamily="34" charset="-120"/>
              </a:rPr>
              <a:t>Signing motion is clean  </a:t>
            </a:r>
            <a:pPr indent="0" marL="0">
              <a:lnSpc>
                <a:spcPct val="103000"/>
              </a:lnSpc>
              <a:spcAft>
                <a:spcPts val="1400"/>
              </a:spcAft>
              <a:buNone/>
            </a:pPr>
            <a:r>
              <a:rPr lang="en-US" sz="1500" dirty="0">
                <a:solidFill>
                  <a:srgbClr val="CBD3F2"/>
                </a:solidFill>
                <a:latin typeface="Calibri" pitchFamily="34" charset="0"/>
                <a:ea typeface="Calibri" pitchFamily="34" charset="-122"/>
                <a:cs typeface="Calibri" pitchFamily="34" charset="-120"/>
              </a:rPr>
              <a:t>— hands, palms and fingers behave; every sign beats its best single recording.</a:t>
            </a:r>
            <a:endParaRPr lang="en-US" sz="1500" dirty="0"/>
          </a:p>
          <a:p>
            <a:pPr marL="203200" indent="-203200">
              <a:lnSpc>
                <a:spcPct val="103000"/>
              </a:lnSpc>
              <a:buSzPct val="100000"/>
              <a:buChar char="•"/>
            </a:pPr>
            <a:r>
              <a:rPr lang="en-US" sz="1500" b="1" dirty="0">
                <a:solidFill>
                  <a:srgbClr val="FFFFFF"/>
                </a:solidFill>
                <a:latin typeface="Calibri" pitchFamily="34" charset="0"/>
                <a:ea typeface="Calibri" pitchFamily="34" charset="-122"/>
                <a:cs typeface="Calibri" pitchFamily="34" charset="-120"/>
              </a:rPr>
              <a:t>17 signs  </a:t>
            </a:r>
            <a:pPr indent="0" marL="0">
              <a:lnSpc>
                <a:spcPct val="103000"/>
              </a:lnSpc>
              <a:spcAft>
                <a:spcPts val="1400"/>
              </a:spcAft>
              <a:buNone/>
            </a:pPr>
            <a:r>
              <a:rPr lang="en-US" sz="1500" dirty="0">
                <a:solidFill>
                  <a:srgbClr val="CBD3F2"/>
                </a:solidFill>
                <a:latin typeface="Calibri" pitchFamily="34" charset="0"/>
                <a:ea typeface="Calibri" pitchFamily="34" charset="-122"/>
                <a:cs typeface="Calibri" pitchFamily="34" charset="-120"/>
              </a:rPr>
              <a:t>+ full A–Z fingerspelling, speech input, lecture-along, and an Android build.</a:t>
            </a:r>
            <a:endParaRPr lang="en-US" sz="1500" dirty="0"/>
          </a:p>
          <a:p>
            <a:pPr marL="203200" indent="-203200">
              <a:lnSpc>
                <a:spcPct val="103000"/>
              </a:lnSpc>
              <a:buSzPct val="100000"/>
              <a:buChar char="•"/>
            </a:pPr>
            <a:r>
              <a:rPr lang="en-US" sz="1500" b="1" dirty="0">
                <a:solidFill>
                  <a:srgbClr val="FFFFFF"/>
                </a:solidFill>
                <a:latin typeface="Calibri" pitchFamily="34" charset="0"/>
                <a:ea typeface="Calibri" pitchFamily="34" charset="-122"/>
                <a:cs typeface="Calibri" pitchFamily="34" charset="-120"/>
              </a:rPr>
              <a:t>It reads as a real product now  </a:t>
            </a:r>
            <a:pPr indent="0" marL="0">
              <a:lnSpc>
                <a:spcPct val="103000"/>
              </a:lnSpc>
              <a:buNone/>
            </a:pPr>
            <a:r>
              <a:rPr lang="en-US" sz="1500" dirty="0">
                <a:solidFill>
                  <a:srgbClr val="CBD3F2"/>
                </a:solidFill>
                <a:latin typeface="Calibri" pitchFamily="34" charset="0"/>
                <a:ea typeface="Calibri" pitchFamily="34" charset="-122"/>
                <a:cs typeface="Calibri" pitchFamily="34" charset="-120"/>
              </a:rPr>
              <a:t>— on a phone, not just a laptop tab.</a:t>
            </a:r>
            <a:endParaRPr lang="en-US" sz="1500" dirty="0"/>
          </a:p>
        </p:txBody>
      </p:sp>
      <p:sp>
        <p:nvSpPr>
          <p:cNvPr id="5" name="Shape 3"/>
          <p:cNvSpPr/>
          <p:nvPr/>
        </p:nvSpPr>
        <p:spPr>
          <a:xfrm>
            <a:off x="7360920" y="1874520"/>
            <a:ext cx="4282135" cy="2651760"/>
          </a:xfrm>
          <a:prstGeom prst="roundRect">
            <a:avLst>
              <a:gd name="adj" fmla="val 3103"/>
            </a:avLst>
          </a:prstGeom>
          <a:solidFill>
            <a:srgbClr val="2A2C63"/>
          </a:solidFill>
          <a:ln/>
          <a:effectLst>
            <a:outerShdw sx="100000" sy="100000" kx="0" ky="0" algn="bl" rotWithShape="0" blurRad="114300" dist="38100" dir="5400000">
              <a:srgbClr val="9195AE">
                <a:alpha val="30000"/>
              </a:srgbClr>
            </a:outerShdw>
          </a:effectLst>
        </p:spPr>
      </p:sp>
      <p:sp>
        <p:nvSpPr>
          <p:cNvPr id="6" name="Text 4"/>
          <p:cNvSpPr txBox="1"/>
          <p:nvPr/>
        </p:nvSpPr>
        <p:spPr>
          <a:xfrm>
            <a:off x="7589520" y="2103120"/>
            <a:ext cx="3824935" cy="274320"/>
          </a:xfrm>
          <a:prstGeom prst="rect">
            <a:avLst/>
          </a:prstGeom>
          <a:noFill/>
          <a:ln/>
        </p:spPr>
        <p:txBody>
          <a:bodyPr wrap="square" lIns="0" tIns="0" rIns="0" bIns="0" rtlCol="0" anchor="ctr"/>
          <a:lstStyle/>
          <a:p>
            <a:pPr indent="0" marL="0">
              <a:buNone/>
            </a:pPr>
            <a:r>
              <a:rPr lang="en-US" sz="1000" b="1" spc="160" kern="0" dirty="0">
                <a:solidFill>
                  <a:srgbClr val="E6A64A"/>
                </a:solidFill>
                <a:latin typeface="Calibri" pitchFamily="34" charset="0"/>
                <a:ea typeface="Calibri" pitchFamily="34" charset="-122"/>
                <a:cs typeface="Calibri" pitchFamily="34" charset="-120"/>
              </a:rPr>
              <a:t>NEXT</a:t>
            </a:r>
            <a:endParaRPr lang="en-US" sz="1000" dirty="0"/>
          </a:p>
        </p:txBody>
      </p:sp>
      <p:sp>
        <p:nvSpPr>
          <p:cNvPr id="7" name="Text 5"/>
          <p:cNvSpPr txBox="1"/>
          <p:nvPr/>
        </p:nvSpPr>
        <p:spPr>
          <a:xfrm>
            <a:off x="7589520" y="2468880"/>
            <a:ext cx="3824935" cy="1920240"/>
          </a:xfrm>
          <a:prstGeom prst="rect">
            <a:avLst/>
          </a:prstGeom>
          <a:noFill/>
          <a:ln/>
        </p:spPr>
        <p:txBody>
          <a:bodyPr wrap="square" lIns="0" tIns="0" rIns="0" bIns="0" rtlCol="0" anchor="t"/>
          <a:lstStyle/>
          <a:p>
            <a:pPr marL="203200" indent="-203200">
              <a:lnSpc>
                <a:spcPct val="103000"/>
              </a:lnSpc>
              <a:buSzPct val="100000"/>
              <a:buChar char="•"/>
            </a:pPr>
            <a:r>
              <a:rPr lang="en-US" sz="1300" b="1" dirty="0">
                <a:solidFill>
                  <a:srgbClr val="FFFFFF"/>
                </a:solidFill>
                <a:latin typeface="Calibri" pitchFamily="34" charset="0"/>
                <a:ea typeface="Calibri" pitchFamily="34" charset="-122"/>
                <a:cs typeface="Calibri" pitchFamily="34" charset="-120"/>
              </a:rPr>
              <a:t>More signs  </a:t>
            </a:r>
            <a:pPr indent="0" marL="0">
              <a:lnSpc>
                <a:spcPct val="103000"/>
              </a:lnSpc>
              <a:spcAft>
                <a:spcPts val="1000"/>
              </a:spcAft>
              <a:buNone/>
            </a:pPr>
            <a:r>
              <a:rPr lang="en-US" sz="1300" dirty="0">
                <a:solidFill>
                  <a:srgbClr val="CBD3F2"/>
                </a:solidFill>
                <a:latin typeface="Calibri" pitchFamily="34" charset="0"/>
                <a:ea typeface="Calibri" pitchFamily="34" charset="-122"/>
                <a:cs typeface="Calibri" pitchFamily="34" charset="-120"/>
              </a:rPr>
              <a:t>— 17 is still the ceiling on real sentences.</a:t>
            </a:r>
            <a:endParaRPr lang="en-US" sz="1300" dirty="0"/>
          </a:p>
          <a:p>
            <a:pPr marL="203200" indent="-203200">
              <a:lnSpc>
                <a:spcPct val="103000"/>
              </a:lnSpc>
              <a:buSzPct val="100000"/>
              <a:buChar char="•"/>
            </a:pPr>
            <a:r>
              <a:rPr lang="en-US" sz="1300" b="1" dirty="0">
                <a:solidFill>
                  <a:srgbClr val="FFFFFF"/>
                </a:solidFill>
                <a:latin typeface="Calibri" pitchFamily="34" charset="0"/>
                <a:ea typeface="Calibri" pitchFamily="34" charset="-122"/>
                <a:cs typeface="Calibri" pitchFamily="34" charset="-120"/>
              </a:rPr>
              <a:t>A better avatar  </a:t>
            </a:r>
            <a:pPr indent="0" marL="0">
              <a:lnSpc>
                <a:spcPct val="103000"/>
              </a:lnSpc>
              <a:spcAft>
                <a:spcPts val="1000"/>
              </a:spcAft>
              <a:buNone/>
            </a:pPr>
            <a:r>
              <a:rPr lang="en-US" sz="1300" dirty="0">
                <a:solidFill>
                  <a:srgbClr val="CBD3F2"/>
                </a:solidFill>
                <a:latin typeface="Calibri" pitchFamily="34" charset="0"/>
                <a:ea typeface="Calibri" pitchFamily="34" charset="-122"/>
                <a:cs typeface="Calibri" pitchFamily="34" charset="-120"/>
              </a:rPr>
              <a:t>— proportions that match the signers.</a:t>
            </a:r>
            <a:endParaRPr lang="en-US" sz="1300" dirty="0"/>
          </a:p>
          <a:p>
            <a:pPr marL="203200" indent="-203200">
              <a:lnSpc>
                <a:spcPct val="103000"/>
              </a:lnSpc>
              <a:buSzPct val="100000"/>
              <a:buChar char="•"/>
            </a:pPr>
            <a:r>
              <a:rPr lang="en-US" sz="1300" b="1" dirty="0">
                <a:solidFill>
                  <a:srgbClr val="FFFFFF"/>
                </a:solidFill>
                <a:latin typeface="Calibri" pitchFamily="34" charset="0"/>
                <a:ea typeface="Calibri" pitchFamily="34" charset="-122"/>
                <a:cs typeface="Calibri" pitchFamily="34" charset="-120"/>
              </a:rPr>
              <a:t>Harden the lecture flow  </a:t>
            </a:r>
            <a:pPr indent="0" marL="0">
              <a:lnSpc>
                <a:spcPct val="103000"/>
              </a:lnSpc>
              <a:buNone/>
            </a:pPr>
            <a:r>
              <a:rPr lang="en-US" sz="1300" dirty="0">
                <a:solidFill>
                  <a:srgbClr val="CBD3F2"/>
                </a:solidFill>
                <a:latin typeface="Calibri" pitchFamily="34" charset="0"/>
                <a:ea typeface="Calibri" pitchFamily="34" charset="-122"/>
                <a:cs typeface="Calibri" pitchFamily="34" charset="-120"/>
              </a:rPr>
              <a:t>end to end.</a:t>
            </a:r>
            <a:endParaRPr lang="en-US" sz="1300" dirty="0"/>
          </a:p>
        </p:txBody>
      </p:sp>
      <p:sp>
        <p:nvSpPr>
          <p:cNvPr id="8" name="Text 6"/>
          <p:cNvSpPr txBox="1"/>
          <p:nvPr/>
        </p:nvSpPr>
        <p:spPr>
          <a:xfrm>
            <a:off x="548640" y="4892040"/>
            <a:ext cx="731520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Thanks — happy to demo it live.</a:t>
            </a:r>
            <a:endParaRPr lang="en-US" sz="1800" dirty="0"/>
          </a:p>
        </p:txBody>
      </p:sp>
      <p:sp>
        <p:nvSpPr>
          <p:cNvPr id="9" name="Text 7"/>
          <p:cNvSpPr txBox="1"/>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6D74A0"/>
                </a:solidFill>
                <a:latin typeface="Calibri" pitchFamily="34" charset="0"/>
                <a:ea typeface="Calibri" pitchFamily="34" charset="-122"/>
                <a:cs typeface="Calibri" pitchFamily="34" charset="-120"/>
              </a:rPr>
              <a:t>AvatarEngine · ISL — weekly update</a:t>
            </a:r>
            <a:endParaRPr lang="en-US" sz="900" dirty="0"/>
          </a:p>
        </p:txBody>
      </p:sp>
      <p:sp>
        <p:nvSpPr>
          <p:cNvPr id="10" name="Text 8"/>
          <p:cNvSpPr txBox="1"/>
          <p:nvPr/>
        </p:nvSpPr>
        <p:spPr>
          <a:xfrm>
            <a:off x="10820095" y="6473952"/>
            <a:ext cx="822960" cy="274320"/>
          </a:xfrm>
          <a:prstGeom prst="rect">
            <a:avLst/>
          </a:prstGeom>
          <a:noFill/>
          <a:ln/>
        </p:spPr>
        <p:txBody>
          <a:bodyPr wrap="square" lIns="0" tIns="0" rIns="0" bIns="0" rtlCol="0" anchor="ctr"/>
          <a:lstStyle/>
          <a:p>
            <a:pPr algn="r" indent="0" marL="0">
              <a:buNone/>
            </a:pPr>
            <a:r>
              <a:rPr lang="en-US" sz="900" dirty="0">
                <a:solidFill>
                  <a:srgbClr val="6D74A0"/>
                </a:solidFill>
                <a:latin typeface="Calibri" pitchFamily="34" charset="0"/>
                <a:ea typeface="Calibri" pitchFamily="34" charset="-122"/>
                <a:cs typeface="Calibri" pitchFamily="34" charset="-120"/>
              </a:rPr>
              <a:t>6 / 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AvatarEngine-ISL</dc:creator>
  <cp:lastModifiedBy>AvatarEngine-ISL</cp:lastModifiedBy>
  <cp:revision>1</cp:revision>
  <dcterms:created xsi:type="dcterms:W3CDTF">2026-09-16T09:48:30Z</dcterms:created>
  <dcterms:modified xsi:type="dcterms:W3CDTF">2026-09-16T09:48:30Z</dcterms:modified>
</cp:coreProperties>
</file>